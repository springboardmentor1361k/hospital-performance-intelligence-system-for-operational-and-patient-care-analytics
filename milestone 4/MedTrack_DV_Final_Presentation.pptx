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3C49"/>
                </a:solidFill>
                <a:latin typeface="+mn-lt"/>
              </a:rPr>
              <a:t>Efficiency Score by Department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 Score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D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ICU</c:v>
                  </c:pt>
                  <c:pt idx="1">
                    <c:v>Surgery</c:v>
                  </c:pt>
                  <c:pt idx="2">
                    <c:v>Emergency</c:v>
                  </c:pt>
                  <c:pt idx="3">
                    <c:v>Int. Med.</c:v>
                  </c:pt>
                  <c:pt idx="4">
                    <c:v>Ortho</c:v>
                  </c:pt>
                  <c:pt idx="5">
                    <c:v>Pediatrics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50.47</c:v>
                </c:pt>
                <c:pt idx="1">
                  <c:v>59.4</c:v>
                </c:pt>
                <c:pt idx="2">
                  <c:v>59.85</c:v>
                </c:pt>
                <c:pt idx="3">
                  <c:v>59.92</c:v>
                </c:pt>
                <c:pt idx="4">
                  <c:v>60.05</c:v>
                </c:pt>
                <c:pt idx="5">
                  <c:v>60.13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D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D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public.tableau.com/views/final_dashboard_17899891511800/MedTrack_DVResourceUtilization?:language=en-US&amp;publish=yes&amp;:sid=&amp;:redirect=auth&amp;:display_count=n&amp;:origin=viz_share_link" TargetMode="External"/><Relationship Id="rId2" Type="http://schemas.openxmlformats.org/officeDocument/2006/relationships/hyperlink" Target="https://github.com/springboardmentor1361k/Hospital-Performance-Intelligence-System-for-Operational-and-Patient-Care-Analytics/tree/Shivam_Rawat_Milestone_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0E7C86">
              <a:alpha val="40000"/>
            </a:srgbClr>
          </a:solidFill>
          <a:ln w="12700">
            <a:solidFill>
              <a:srgbClr val="0E7C8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377440"/>
            <a:ext cx="3108960" cy="3108960"/>
          </a:xfrm>
          <a:prstGeom prst="ellipse">
            <a:avLst/>
          </a:prstGeom>
          <a:solidFill>
            <a:srgbClr val="F28F3B">
              <a:alpha val="30000"/>
            </a:srgbClr>
          </a:solidFill>
          <a:ln w="12700">
            <a:solidFill>
              <a:srgbClr val="F28F3B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MedTrack_DV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FE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Operations &amp; Patient Analytics Dashboard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hospital data into decisions with four interactive Tableau dashboards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Rawat  |  Final Project Presentation  |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846320" cy="1188720"/>
          </a:xfrm>
          <a:prstGeom prst="roundRect">
            <a:avLst>
              <a:gd name="adj" fmla="val 7692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needs one clear view of admissions, beds, patient movement, departments and resources, but the data sits across 19 separate tables.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4846320" cy="1188720"/>
          </a:xfrm>
          <a:prstGeom prst="roundRect">
            <a:avLst>
              <a:gd name="adj" fmla="val 7692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077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analytics solution: raw data to engineered KPIs to dashboards that answer key operational questions.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0" y="109728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1280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45,000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828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60920" y="109728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60920" y="1280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1828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0" y="246888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2020-25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2004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60920" y="246888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32004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Hospital HMIS Dataset (Kaggle), a relational hospital management system covering patients, billing, pharmacy and staff.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HMIS dataset, 19 relational tables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325880"/>
            <a:ext cx="411480" cy="411480"/>
          </a:xfrm>
          <a:prstGeom prst="ellipse">
            <a:avLst/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Jupyter Notebooks, 5-stage pipeline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32588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(raw and processed), Tableau .hyper extracts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063240"/>
            <a:ext cx="411480" cy="411480"/>
          </a:xfrm>
          <a:prstGeom prst="ellipse">
            <a:avLst/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Tableau: parameters, LOD calculations, context filters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28803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306324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 for data collection and KPI generation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28803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3063240"/>
            <a:ext cx="411480" cy="411480"/>
          </a:xfrm>
          <a:prstGeom prst="ellipse">
            <a:avLst/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 &amp; Versioning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documentation, GitHub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dashboards, 4 business questions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Overview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hospital performing?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patients moving?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Analytics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need attention?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are beds, staff and drugs used?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engineered KPIs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120640" y="1463040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14630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Admissions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95160" y="1463040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86600" y="14630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Rate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20640" y="2194560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21945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Length of Stay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95160" y="2194560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86600" y="21945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120640" y="2926080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12080" y="2926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Utilization Rate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95160" y="2926080"/>
            <a:ext cx="1783080" cy="594360"/>
          </a:xfrm>
          <a:prstGeom prst="roundRect">
            <a:avLst>
              <a:gd name="adj" fmla="val 1538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86600" y="2926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Efficiency Score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120640" y="374904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03520" y="3749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and Year selectors, navigation bar, Drug Shortage Watch with severity alerts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/ Data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09728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0972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HMIS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tables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27632" y="109728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2"/>
                </a:solidFill>
              </a:rPr>
              <a:t>›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109728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28800" y="10972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44952" y="109728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2"/>
                </a:solidFill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0972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62272" y="109728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2"/>
                </a:solidFill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0972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into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879592" y="109728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2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80760" y="109728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10972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96912" y="1097280"/>
            <a:ext cx="219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2"/>
                </a:solidFill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98080" y="1097280"/>
            <a:ext cx="1234440" cy="868680"/>
          </a:xfrm>
          <a:prstGeom prst="roundRect">
            <a:avLst>
              <a:gd name="adj" fmla="val 10526"/>
            </a:avLst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10972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dashboards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analytical tables, each built at the grain its dashboard needs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45,000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hospital_overview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6393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per admission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60320" y="27432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60320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153,269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patient_flow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36393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per flow event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27432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63440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24,244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department_analytics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36393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per department per day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66560" y="274320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66560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8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13,549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33375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resource_utilization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36393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+ date + resource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model: two linked groups (overview + flow, department + resource) using extracts for fast performance.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618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data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movement log in the source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280160"/>
            <a:ext cx="411480" cy="411480"/>
          </a:xfrm>
          <a:prstGeom prst="ellipse">
            <a:avLst/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2618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occupancy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daily history, only a current snapshot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280160"/>
            <a:ext cx="411480" cy="411480"/>
          </a:xfrm>
          <a:prstGeom prst="ellipse">
            <a:avLst/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2618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grains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Admission, event, daily and snapshot tables hard to combine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136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admissions lacked a full 30-day follow-up window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2971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3154680"/>
            <a:ext cx="411480" cy="411480"/>
          </a:xfrm>
          <a:prstGeom prst="ellipse">
            <a:avLst/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77640" y="3136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sync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out of sync across two Tableau data groups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2971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3154680"/>
            <a:ext cx="411480" cy="411480"/>
          </a:xfrm>
          <a:prstGeom prst="ellipse">
            <a:avLst/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136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names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names across drug IDs distorted shortages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Implemented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618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Admission, Discharge and Diagnostic Test events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28016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2618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census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total of admissions minus discharges per department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28016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2618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tables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grain per dashboard, with a full calendar spine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136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rate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Readmissions counted only with a full 30-day window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2971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315468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77640" y="3136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parameters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and Year selectors sync all dashboards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29718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315468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1363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Label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749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plus ID gives each drug an accurate count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4" name="Image 0" descr="Hospital Overview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4463"/>
            <a:ext cx="5212080" cy="29317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09728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at a glance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KPI tiles with trend, capacity and admission mix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52160" y="233172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 mix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60.3% elective vs 39.7% emergency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52160" y="356616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8932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drivers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3977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diseases and blood group mix guide planning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4" name="Image 0" descr="Patient Flow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7187"/>
            <a:ext cx="5212080" cy="268634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09728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rhythm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discharges and tests on one view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52160" y="233172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coverage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70.4% of admissions reach a diagnostic test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52160" y="356616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8932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profile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3977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stays last 1 to 3 days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Analytics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4" name="Image 0" descr="Department Analytics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7138"/>
            <a:ext cx="5212080" cy="26864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09728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scorecard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occupancy, LOS, readmissions, efficiency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52160" y="233172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ICU stands out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efficiency score at 50.5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52160" y="356616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8932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view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3977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leads at 22.95% of revenue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Utilization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pic>
        <p:nvPicPr>
          <p:cNvPr id="4" name="Image 0" descr="Resource Utilization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44372"/>
            <a:ext cx="5212080" cy="26719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09728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 capacity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508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vs average use for every department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52160" y="233172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8932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Staffing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89320" y="2743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by department and shift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52160" y="356616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8932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Shortage Watch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3977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Severity-coded stock alerts by drug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and 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45,000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admissions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05156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5.16 days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25.36%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05156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0972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2.52%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65760" y="2194560"/>
          <a:ext cx="44805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029200" y="2240280"/>
            <a:ext cx="3749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is the standout: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occupancy (28.15%) but lowest efficiency, with a 10-day average stay vs about 4.7 elsewhere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Pediatrics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efficiency (60.13); Orthopedics has the lowest readmissions (2.17%)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 and Pathology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now visible alongside admissions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of 250 drugs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below reorder level, making alerts actionable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 and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data at the right grain for each purpose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every number from two independent sources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parameter-driven Tableau dashboards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280160"/>
            <a:ext cx="457200" cy="457200"/>
          </a:xfrm>
          <a:prstGeom prst="ellipse">
            <a:avLst/>
          </a:prstGeom>
          <a:solidFill>
            <a:srgbClr val="F28F3B"/>
          </a:solidFill>
          <a:ln w="12700">
            <a:solidFill>
              <a:srgbClr val="F28F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3212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01168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feeds and a live connection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for readmission and bed demand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Multi-hospital benchmarking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for drug shortages and high occupancy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E7C86">
              <a:alpha val="40000"/>
            </a:srgbClr>
          </a:solidFill>
          <a:ln w="12700">
            <a:solidFill>
              <a:srgbClr val="0E7C86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FE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u="sng" dirty="0">
                <a:solidFill>
                  <a:srgbClr val="F28F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Tableau dashboard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u="sng" dirty="0">
                <a:solidFill>
                  <a:srgbClr val="F28F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MedTrack_DV Final Presentation</dc:title>
  <dc:subject>PptxGenJS Presentation</dc:subject>
  <dc:creator>PptxGenJS</dc:creator>
  <cp:lastModifiedBy>PptxGenJS</cp:lastModifiedBy>
  <cp:revision>1</cp:revision>
  <dcterms:created xsi:type="dcterms:W3CDTF">2026-10-11T04:31:18Z</dcterms:created>
  <dcterms:modified xsi:type="dcterms:W3CDTF">2026-10-11T04:31:18Z</dcterms:modified>
</cp:coreProperties>
</file>