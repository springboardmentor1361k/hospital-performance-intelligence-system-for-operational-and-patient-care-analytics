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charset="0"/>
      <p:regular r:id="rId13"/>
    </p:embeddedFont>
    <p:embeddedFont>
      <p:font typeface="Calibri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-65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pPr/>
              <a:t>06.10.2026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=""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10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10323" y="3808209"/>
            <a:ext cx="11257540" cy="5115201"/>
            <a:chOff x="0" y="0"/>
            <a:chExt cx="15010054" cy="68202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10003" cy="6820281"/>
            </a:xfrm>
            <a:custGeom>
              <a:avLst/>
              <a:gdLst/>
              <a:ahLst/>
              <a:cxnLst/>
              <a:rect l="l" t="t" r="r" b="b"/>
              <a:pathLst>
                <a:path w="15010003" h="6820281">
                  <a:moveTo>
                    <a:pt x="0" y="61087"/>
                  </a:moveTo>
                  <a:cubicBezTo>
                    <a:pt x="0" y="27305"/>
                    <a:pt x="27305" y="0"/>
                    <a:pt x="61087" y="0"/>
                  </a:cubicBezTo>
                  <a:lnTo>
                    <a:pt x="14948915" y="0"/>
                  </a:lnTo>
                  <a:cubicBezTo>
                    <a:pt x="14982698" y="0"/>
                    <a:pt x="15010003" y="27305"/>
                    <a:pt x="15010003" y="61087"/>
                  </a:cubicBezTo>
                  <a:lnTo>
                    <a:pt x="15010003" y="6759194"/>
                  </a:lnTo>
                  <a:cubicBezTo>
                    <a:pt x="15010003" y="6792975"/>
                    <a:pt x="14982698" y="6820281"/>
                    <a:pt x="14948915" y="6820281"/>
                  </a:cubicBezTo>
                  <a:lnTo>
                    <a:pt x="61087" y="6820281"/>
                  </a:lnTo>
                  <a:cubicBezTo>
                    <a:pt x="27305" y="6820281"/>
                    <a:pt x="0" y="6792975"/>
                    <a:pt x="0" y="6759194"/>
                  </a:cubicBez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572816" y="4270629"/>
            <a:ext cx="10847651" cy="53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801" spc="180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HOSPITAL OPERATIONS DASHBOARD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72816" y="4987242"/>
            <a:ext cx="9932565" cy="920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71"/>
              </a:lnSpc>
            </a:pPr>
            <a:r>
              <a:rPr lang="en-US" sz="6605" spc="-33" dirty="0" err="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MedTrack_DV</a:t>
            </a:r>
            <a:endParaRPr lang="en-US" sz="6605" spc="-33" dirty="0">
              <a:solidFill>
                <a:srgbClr val="25303A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72816" y="6193650"/>
            <a:ext cx="9932565" cy="1237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2852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A Data Visualization Project for Hospital Performance and Patient Flow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72816" y="7676150"/>
            <a:ext cx="9932565" cy="18917"/>
            <a:chOff x="0" y="0"/>
            <a:chExt cx="13243420" cy="252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243433" cy="25148"/>
            </a:xfrm>
            <a:custGeom>
              <a:avLst/>
              <a:gdLst/>
              <a:ahLst/>
              <a:cxnLst/>
              <a:rect l="l" t="t" r="r" b="b"/>
              <a:pathLst>
                <a:path w="13243433" h="25148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13230861" y="0"/>
                  </a:lnTo>
                  <a:cubicBezTo>
                    <a:pt x="13237846" y="0"/>
                    <a:pt x="13243433" y="5588"/>
                    <a:pt x="13243433" y="12573"/>
                  </a:cubicBezTo>
                  <a:cubicBezTo>
                    <a:pt x="13243433" y="19558"/>
                    <a:pt x="13237846" y="25146"/>
                    <a:pt x="13230861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57646F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572816" y="7845428"/>
            <a:ext cx="10847651" cy="491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 spc="39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Name: Vidya Mallikarjun Jatti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628307" y="9846183"/>
            <a:ext cx="1609020" cy="384353"/>
            <a:chOff x="0" y="0"/>
            <a:chExt cx="2145360" cy="512470"/>
          </a:xfrm>
        </p:grpSpPr>
        <p:sp>
          <p:nvSpPr>
            <p:cNvPr id="3" name="Freeform 3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145411" cy="512445"/>
            </a:xfrm>
            <a:custGeom>
              <a:avLst/>
              <a:gdLst/>
              <a:ahLst/>
              <a:cxnLst/>
              <a:rect l="l" t="t" r="r" b="b"/>
              <a:pathLst>
                <a:path w="2145411" h="512445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2" b="-4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15095" y="810339"/>
            <a:ext cx="10066010" cy="44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1501" spc="148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PROJECT OVERVIEW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5095" y="1364932"/>
            <a:ext cx="9455953" cy="528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4"/>
              </a:lnSpc>
            </a:pPr>
            <a:r>
              <a:rPr lang="en-US" sz="3677" spc="-18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About the Project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15095" y="2302535"/>
            <a:ext cx="9455801" cy="18917"/>
            <a:chOff x="0" y="0"/>
            <a:chExt cx="12607734" cy="252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07671" cy="25148"/>
            </a:xfrm>
            <a:custGeom>
              <a:avLst/>
              <a:gdLst/>
              <a:ahLst/>
              <a:cxnLst/>
              <a:rect l="l" t="t" r="r" b="b"/>
              <a:pathLst>
                <a:path w="12607671" h="25148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12595098" y="0"/>
                  </a:lnTo>
                  <a:cubicBezTo>
                    <a:pt x="12602083" y="0"/>
                    <a:pt x="12607671" y="5588"/>
                    <a:pt x="12607671" y="12573"/>
                  </a:cubicBezTo>
                  <a:cubicBezTo>
                    <a:pt x="12607671" y="19558"/>
                    <a:pt x="12602083" y="25146"/>
                    <a:pt x="1259509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25303A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15095" y="2647683"/>
            <a:ext cx="9455953" cy="76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3"/>
              </a:lnSpc>
            </a:pPr>
            <a:r>
              <a:rPr lang="en-US" sz="195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MedTrack_DV uses Python to prepare hospital data and Tableau to create interactive dashboards.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0323" y="3658524"/>
            <a:ext cx="4623121" cy="2923032"/>
            <a:chOff x="0" y="0"/>
            <a:chExt cx="6164161" cy="38973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164199" cy="3897376"/>
            </a:xfrm>
            <a:custGeom>
              <a:avLst/>
              <a:gdLst/>
              <a:ahLst/>
              <a:cxnLst/>
              <a:rect l="l" t="t" r="r" b="b"/>
              <a:pathLst>
                <a:path w="6164199" h="3897376">
                  <a:moveTo>
                    <a:pt x="0" y="0"/>
                  </a:moveTo>
                  <a:lnTo>
                    <a:pt x="6164199" y="0"/>
                  </a:lnTo>
                  <a:lnTo>
                    <a:pt x="6164199" y="3897376"/>
                  </a:lnTo>
                  <a:lnTo>
                    <a:pt x="0" y="3897376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239183" y="3987394"/>
            <a:ext cx="819769" cy="819788"/>
            <a:chOff x="0" y="0"/>
            <a:chExt cx="1093026" cy="10930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3089" cy="1093089"/>
            </a:xfrm>
            <a:custGeom>
              <a:avLst/>
              <a:gdLst/>
              <a:ahLst/>
              <a:cxnLst/>
              <a:rect l="l" t="t" r="r" b="b"/>
              <a:pathLst>
                <a:path w="1093089" h="1093089">
                  <a:moveTo>
                    <a:pt x="0" y="546481"/>
                  </a:moveTo>
                  <a:cubicBezTo>
                    <a:pt x="0" y="244729"/>
                    <a:pt x="244729" y="0"/>
                    <a:pt x="546481" y="0"/>
                  </a:cubicBezTo>
                  <a:cubicBezTo>
                    <a:pt x="848233" y="0"/>
                    <a:pt x="1093089" y="244729"/>
                    <a:pt x="1093089" y="546481"/>
                  </a:cubicBezTo>
                  <a:cubicBezTo>
                    <a:pt x="1093089" y="848233"/>
                    <a:pt x="848360" y="1093089"/>
                    <a:pt x="546481" y="1093089"/>
                  </a:cubicBezTo>
                  <a:cubicBezTo>
                    <a:pt x="244602" y="1093089"/>
                    <a:pt x="0" y="848360"/>
                    <a:pt x="0" y="546481"/>
                  </a:cubicBezTo>
                  <a:close/>
                </a:path>
              </a:pathLst>
            </a:custGeom>
            <a:blipFill>
              <a:blip r:embed="rId5" cstate="print">
                <a:alphaModFix amt="0"/>
              </a:blip>
              <a:stretch>
                <a:fillRect l="-78302" r="-78296" b="3"/>
              </a:stretch>
            </a:blipFill>
            <a:ln w="57193" cap="sq">
              <a:solidFill>
                <a:srgbClr val="C0C9C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420301" y="4168511"/>
            <a:ext cx="457543" cy="457562"/>
            <a:chOff x="0" y="0"/>
            <a:chExt cx="610057" cy="610083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610108" cy="610108"/>
            </a:xfrm>
            <a:custGeom>
              <a:avLst/>
              <a:gdLst/>
              <a:ahLst/>
              <a:cxnLst/>
              <a:rect l="l" t="t" r="r" b="b"/>
              <a:pathLst>
                <a:path w="610108" h="610108">
                  <a:moveTo>
                    <a:pt x="0" y="0"/>
                  </a:moveTo>
                  <a:lnTo>
                    <a:pt x="610108" y="0"/>
                  </a:lnTo>
                  <a:lnTo>
                    <a:pt x="610108" y="610108"/>
                  </a:lnTo>
                  <a:lnTo>
                    <a:pt x="0" y="610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5" b="4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267787" y="4950219"/>
            <a:ext cx="3908203" cy="45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Hospital performance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7787" y="5544350"/>
            <a:ext cx="3908203" cy="67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1726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Review total intake and clinical stay length.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52690" y="3658524"/>
            <a:ext cx="4623121" cy="2923032"/>
            <a:chOff x="0" y="0"/>
            <a:chExt cx="6164161" cy="389737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164199" cy="3897376"/>
            </a:xfrm>
            <a:custGeom>
              <a:avLst/>
              <a:gdLst/>
              <a:ahLst/>
              <a:cxnLst/>
              <a:rect l="l" t="t" r="r" b="b"/>
              <a:pathLst>
                <a:path w="6164199" h="3897376">
                  <a:moveTo>
                    <a:pt x="0" y="0"/>
                  </a:moveTo>
                  <a:lnTo>
                    <a:pt x="6164199" y="0"/>
                  </a:lnTo>
                  <a:lnTo>
                    <a:pt x="6164199" y="3897376"/>
                  </a:lnTo>
                  <a:lnTo>
                    <a:pt x="0" y="3897376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081551" y="3987394"/>
            <a:ext cx="819769" cy="819788"/>
            <a:chOff x="0" y="0"/>
            <a:chExt cx="1093026" cy="109305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93089" cy="1093089"/>
            </a:xfrm>
            <a:custGeom>
              <a:avLst/>
              <a:gdLst/>
              <a:ahLst/>
              <a:cxnLst/>
              <a:rect l="l" t="t" r="r" b="b"/>
              <a:pathLst>
                <a:path w="1093089" h="1093089">
                  <a:moveTo>
                    <a:pt x="0" y="546481"/>
                  </a:moveTo>
                  <a:cubicBezTo>
                    <a:pt x="0" y="244729"/>
                    <a:pt x="244729" y="0"/>
                    <a:pt x="546481" y="0"/>
                  </a:cubicBezTo>
                  <a:cubicBezTo>
                    <a:pt x="848233" y="0"/>
                    <a:pt x="1093089" y="244729"/>
                    <a:pt x="1093089" y="546481"/>
                  </a:cubicBezTo>
                  <a:cubicBezTo>
                    <a:pt x="1093089" y="848233"/>
                    <a:pt x="848360" y="1093089"/>
                    <a:pt x="546481" y="1093089"/>
                  </a:cubicBezTo>
                  <a:cubicBezTo>
                    <a:pt x="244602" y="1093089"/>
                    <a:pt x="0" y="848360"/>
                    <a:pt x="0" y="546481"/>
                  </a:cubicBezTo>
                  <a:close/>
                </a:path>
              </a:pathLst>
            </a:custGeom>
            <a:blipFill>
              <a:blip r:embed="rId5" cstate="print">
                <a:alphaModFix amt="0"/>
              </a:blip>
              <a:stretch>
                <a:fillRect l="-78302" r="-78296" b="3"/>
              </a:stretch>
            </a:blipFill>
            <a:ln w="57193" cap="sq">
              <a:solidFill>
                <a:srgbClr val="C0C9CF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262659" y="4168511"/>
            <a:ext cx="457543" cy="457562"/>
            <a:chOff x="0" y="0"/>
            <a:chExt cx="610057" cy="610083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610108" cy="610108"/>
            </a:xfrm>
            <a:custGeom>
              <a:avLst/>
              <a:gdLst/>
              <a:ahLst/>
              <a:cxnLst/>
              <a:rect l="l" t="t" r="r" b="b"/>
              <a:pathLst>
                <a:path w="610108" h="610108">
                  <a:moveTo>
                    <a:pt x="0" y="0"/>
                  </a:moveTo>
                  <a:lnTo>
                    <a:pt x="610108" y="0"/>
                  </a:lnTo>
                  <a:lnTo>
                    <a:pt x="610108" y="610108"/>
                  </a:lnTo>
                  <a:lnTo>
                    <a:pt x="0" y="610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r="5" b="4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6110145" y="4950219"/>
            <a:ext cx="3908203" cy="45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Patient movement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110145" y="5544350"/>
            <a:ext cx="3908203" cy="67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1726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Track admissions, ward transfers, and discharges.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10323" y="6800802"/>
            <a:ext cx="4623121" cy="2923032"/>
            <a:chOff x="0" y="0"/>
            <a:chExt cx="6164161" cy="389737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164199" cy="3897376"/>
            </a:xfrm>
            <a:custGeom>
              <a:avLst/>
              <a:gdLst/>
              <a:ahLst/>
              <a:cxnLst/>
              <a:rect l="l" t="t" r="r" b="b"/>
              <a:pathLst>
                <a:path w="6164199" h="3897376">
                  <a:moveTo>
                    <a:pt x="0" y="0"/>
                  </a:moveTo>
                  <a:lnTo>
                    <a:pt x="6164199" y="0"/>
                  </a:lnTo>
                  <a:lnTo>
                    <a:pt x="6164199" y="3897376"/>
                  </a:lnTo>
                  <a:lnTo>
                    <a:pt x="0" y="3897376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39183" y="7129672"/>
            <a:ext cx="819769" cy="819788"/>
            <a:chOff x="0" y="0"/>
            <a:chExt cx="1093026" cy="109305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93089" cy="1093089"/>
            </a:xfrm>
            <a:custGeom>
              <a:avLst/>
              <a:gdLst/>
              <a:ahLst/>
              <a:cxnLst/>
              <a:rect l="l" t="t" r="r" b="b"/>
              <a:pathLst>
                <a:path w="1093089" h="1093089">
                  <a:moveTo>
                    <a:pt x="0" y="546481"/>
                  </a:moveTo>
                  <a:cubicBezTo>
                    <a:pt x="0" y="244729"/>
                    <a:pt x="244729" y="0"/>
                    <a:pt x="546481" y="0"/>
                  </a:cubicBezTo>
                  <a:cubicBezTo>
                    <a:pt x="848233" y="0"/>
                    <a:pt x="1093089" y="244729"/>
                    <a:pt x="1093089" y="546481"/>
                  </a:cubicBezTo>
                  <a:cubicBezTo>
                    <a:pt x="1093089" y="848233"/>
                    <a:pt x="848360" y="1093089"/>
                    <a:pt x="546481" y="1093089"/>
                  </a:cubicBezTo>
                  <a:cubicBezTo>
                    <a:pt x="244602" y="1093089"/>
                    <a:pt x="0" y="848360"/>
                    <a:pt x="0" y="546481"/>
                  </a:cubicBezTo>
                  <a:close/>
                </a:path>
              </a:pathLst>
            </a:custGeom>
            <a:blipFill>
              <a:blip r:embed="rId5" cstate="print">
                <a:alphaModFix amt="0"/>
              </a:blip>
              <a:stretch>
                <a:fillRect l="-78302" r="-78296" b="3"/>
              </a:stretch>
            </a:blipFill>
            <a:ln w="57193" cap="sq">
              <a:solidFill>
                <a:srgbClr val="C0C9CF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420301" y="7310790"/>
            <a:ext cx="457543" cy="457562"/>
            <a:chOff x="0" y="0"/>
            <a:chExt cx="610057" cy="610083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610108" cy="610108"/>
            </a:xfrm>
            <a:custGeom>
              <a:avLst/>
              <a:gdLst/>
              <a:ahLst/>
              <a:cxnLst/>
              <a:rect l="l" t="t" r="r" b="b"/>
              <a:pathLst>
                <a:path w="610108" h="610108">
                  <a:moveTo>
                    <a:pt x="0" y="0"/>
                  </a:moveTo>
                  <a:lnTo>
                    <a:pt x="610108" y="0"/>
                  </a:lnTo>
                  <a:lnTo>
                    <a:pt x="610108" y="610108"/>
                  </a:lnTo>
                  <a:lnTo>
                    <a:pt x="0" y="610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r="5" b="4"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1267787" y="8092497"/>
            <a:ext cx="3908203" cy="45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Department comparison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67787" y="8686638"/>
            <a:ext cx="3908203" cy="67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1726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Compare unit workload, staffing, and efficiency.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752690" y="6800802"/>
            <a:ext cx="4623121" cy="2923032"/>
            <a:chOff x="0" y="0"/>
            <a:chExt cx="6164161" cy="389737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164199" cy="3897376"/>
            </a:xfrm>
            <a:custGeom>
              <a:avLst/>
              <a:gdLst/>
              <a:ahLst/>
              <a:cxnLst/>
              <a:rect l="l" t="t" r="r" b="b"/>
              <a:pathLst>
                <a:path w="6164199" h="3897376">
                  <a:moveTo>
                    <a:pt x="0" y="0"/>
                  </a:moveTo>
                  <a:lnTo>
                    <a:pt x="6164199" y="0"/>
                  </a:lnTo>
                  <a:lnTo>
                    <a:pt x="6164199" y="3897376"/>
                  </a:lnTo>
                  <a:lnTo>
                    <a:pt x="0" y="3897376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6081551" y="7129672"/>
            <a:ext cx="819769" cy="819788"/>
            <a:chOff x="0" y="0"/>
            <a:chExt cx="1093026" cy="109305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3089" cy="1093089"/>
            </a:xfrm>
            <a:custGeom>
              <a:avLst/>
              <a:gdLst/>
              <a:ahLst/>
              <a:cxnLst/>
              <a:rect l="l" t="t" r="r" b="b"/>
              <a:pathLst>
                <a:path w="1093089" h="1093089">
                  <a:moveTo>
                    <a:pt x="0" y="546481"/>
                  </a:moveTo>
                  <a:cubicBezTo>
                    <a:pt x="0" y="244729"/>
                    <a:pt x="244729" y="0"/>
                    <a:pt x="546481" y="0"/>
                  </a:cubicBezTo>
                  <a:cubicBezTo>
                    <a:pt x="848233" y="0"/>
                    <a:pt x="1093089" y="244729"/>
                    <a:pt x="1093089" y="546481"/>
                  </a:cubicBezTo>
                  <a:cubicBezTo>
                    <a:pt x="1093089" y="848233"/>
                    <a:pt x="848360" y="1093089"/>
                    <a:pt x="546481" y="1093089"/>
                  </a:cubicBezTo>
                  <a:cubicBezTo>
                    <a:pt x="244602" y="1093089"/>
                    <a:pt x="0" y="848360"/>
                    <a:pt x="0" y="546481"/>
                  </a:cubicBezTo>
                  <a:close/>
                </a:path>
              </a:pathLst>
            </a:custGeom>
            <a:blipFill>
              <a:blip r:embed="rId5" cstate="print">
                <a:alphaModFix amt="0"/>
              </a:blip>
              <a:stretch>
                <a:fillRect l="-78302" r="-78296" b="3"/>
              </a:stretch>
            </a:blipFill>
            <a:ln w="57193" cap="sq">
              <a:solidFill>
                <a:srgbClr val="C0C9CF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262659" y="7310790"/>
            <a:ext cx="457543" cy="457562"/>
            <a:chOff x="0" y="0"/>
            <a:chExt cx="610057" cy="610083"/>
          </a:xfrm>
        </p:grpSpPr>
        <p:sp>
          <p:nvSpPr>
            <p:cNvPr id="38" name="Freeform 38" descr="preencoded.png"/>
            <p:cNvSpPr/>
            <p:nvPr/>
          </p:nvSpPr>
          <p:spPr>
            <a:xfrm>
              <a:off x="0" y="0"/>
              <a:ext cx="610108" cy="610108"/>
            </a:xfrm>
            <a:custGeom>
              <a:avLst/>
              <a:gdLst/>
              <a:ahLst/>
              <a:cxnLst/>
              <a:rect l="l" t="t" r="r" b="b"/>
              <a:pathLst>
                <a:path w="610108" h="610108">
                  <a:moveTo>
                    <a:pt x="0" y="0"/>
                  </a:moveTo>
                  <a:lnTo>
                    <a:pt x="610108" y="0"/>
                  </a:lnTo>
                  <a:lnTo>
                    <a:pt x="610108" y="610108"/>
                  </a:lnTo>
                  <a:lnTo>
                    <a:pt x="0" y="610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5" b="4"/>
              </a:stretch>
            </a:blipFill>
          </p:spPr>
        </p:sp>
      </p:grpSp>
      <p:sp>
        <p:nvSpPr>
          <p:cNvPr id="39" name="TextBox 39"/>
          <p:cNvSpPr txBox="1"/>
          <p:nvPr/>
        </p:nvSpPr>
        <p:spPr>
          <a:xfrm>
            <a:off x="6110145" y="8092497"/>
            <a:ext cx="3908203" cy="45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Resource usage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110145" y="8686638"/>
            <a:ext cx="3908203" cy="67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sz="1726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Monitor available beds, devices, and staff overtime.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15095" y="9889379"/>
            <a:ext cx="10066010" cy="403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1576" spc="31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Technology Stack: Python (Pandas, NumPy) · Tableau Desktop · Jupyter Notebook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0981106" y="0"/>
            <a:ext cx="7320734" cy="10295039"/>
            <a:chOff x="0" y="0"/>
            <a:chExt cx="9760979" cy="13726719"/>
          </a:xfrm>
        </p:grpSpPr>
        <p:sp>
          <p:nvSpPr>
            <p:cNvPr id="43" name="Freeform 43" descr="preencoded.png"/>
            <p:cNvSpPr/>
            <p:nvPr/>
          </p:nvSpPr>
          <p:spPr>
            <a:xfrm>
              <a:off x="0" y="0"/>
              <a:ext cx="9760966" cy="13726668"/>
            </a:xfrm>
            <a:custGeom>
              <a:avLst/>
              <a:gdLst/>
              <a:ahLst/>
              <a:cxnLst/>
              <a:rect l="l" t="t" r="r" b="b"/>
              <a:pathLst>
                <a:path w="9760966" h="13726668">
                  <a:moveTo>
                    <a:pt x="0" y="0"/>
                  </a:moveTo>
                  <a:lnTo>
                    <a:pt x="9760966" y="0"/>
                  </a:lnTo>
                  <a:lnTo>
                    <a:pt x="9760966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r="-1"/>
              </a:stretch>
            </a:blipFill>
          </p:spPr>
        </p:sp>
      </p:grpSp>
      <p:grpSp>
        <p:nvGrpSpPr>
          <p:cNvPr id="44" name="Group 44"/>
          <p:cNvGrpSpPr/>
          <p:nvPr/>
        </p:nvGrpSpPr>
        <p:grpSpPr>
          <a:xfrm>
            <a:off x="915095" y="9703289"/>
            <a:ext cx="1202246" cy="268253"/>
            <a:chOff x="0" y="0"/>
            <a:chExt cx="1602994" cy="35767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603000" cy="357665"/>
            </a:xfrm>
            <a:custGeom>
              <a:avLst/>
              <a:gdLst/>
              <a:ahLst/>
              <a:cxnLst/>
              <a:rect l="l" t="t" r="r" b="b"/>
              <a:pathLst>
                <a:path w="1603000" h="357665">
                  <a:moveTo>
                    <a:pt x="0" y="0"/>
                  </a:moveTo>
                  <a:lnTo>
                    <a:pt x="1603000" y="0"/>
                  </a:lnTo>
                  <a:lnTo>
                    <a:pt x="1603000" y="357665"/>
                  </a:lnTo>
                  <a:lnTo>
                    <a:pt x="0" y="357665"/>
                  </a:lnTo>
                  <a:close/>
                </a:path>
              </a:pathLst>
            </a:custGeom>
            <a:blipFill>
              <a:blip r:embed="rId10" cstate="print">
                <a:alphaModFix amt="0"/>
              </a:blip>
              <a:stretch>
                <a:fillRect t="-37327" b="-37329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57150"/>
              <a:ext cx="1602994" cy="4148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1"/>
                </a:lnSpc>
              </a:pPr>
              <a:r>
                <a:rPr lang="en-US" sz="1351" spc="244">
                  <a:solidFill>
                    <a:srgbClr val="25303A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5095" y="791289"/>
            <a:ext cx="17386744" cy="53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801" spc="180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PROJECT FOUNDATION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5095" y="1498378"/>
            <a:ext cx="16471659" cy="630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4503" spc="-22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Problem and Aim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5095" y="2679811"/>
            <a:ext cx="16471659" cy="18917"/>
            <a:chOff x="0" y="0"/>
            <a:chExt cx="21962212" cy="252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111" cy="25148"/>
            </a:xfrm>
            <a:custGeom>
              <a:avLst/>
              <a:gdLst/>
              <a:ahLst/>
              <a:cxnLst/>
              <a:rect l="l" t="t" r="r" b="b"/>
              <a:pathLst>
                <a:path w="21962111" h="25148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21949538" y="0"/>
                  </a:lnTo>
                  <a:cubicBezTo>
                    <a:pt x="21956523" y="0"/>
                    <a:pt x="21962111" y="5588"/>
                    <a:pt x="21962111" y="12573"/>
                  </a:cubicBezTo>
                  <a:cubicBezTo>
                    <a:pt x="21962111" y="19558"/>
                    <a:pt x="21956523" y="25146"/>
                    <a:pt x="2194953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25303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10323" y="3660905"/>
            <a:ext cx="8016592" cy="4907270"/>
            <a:chOff x="0" y="0"/>
            <a:chExt cx="10688790" cy="65430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88828" cy="6543040"/>
            </a:xfrm>
            <a:custGeom>
              <a:avLst/>
              <a:gdLst/>
              <a:ahLst/>
              <a:cxnLst/>
              <a:rect l="l" t="t" r="r" b="b"/>
              <a:pathLst>
                <a:path w="10688828" h="6543040">
                  <a:moveTo>
                    <a:pt x="0" y="0"/>
                  </a:moveTo>
                  <a:lnTo>
                    <a:pt x="10688828" y="0"/>
                  </a:lnTo>
                  <a:lnTo>
                    <a:pt x="10688828" y="6543040"/>
                  </a:lnTo>
                  <a:lnTo>
                    <a:pt x="0" y="6543040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534687" y="4085196"/>
            <a:ext cx="7387466" cy="53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801" spc="180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THE CHALLENGE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34687" y="4811335"/>
            <a:ext cx="6767865" cy="67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2"/>
              </a:lnSpc>
            </a:pPr>
            <a:r>
              <a:rPr lang="en-US" sz="5103" spc="-5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Raw, complex records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534687" y="5957030"/>
            <a:ext cx="6767722" cy="18917"/>
            <a:chOff x="0" y="0"/>
            <a:chExt cx="9023629" cy="2522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23604" cy="25148"/>
            </a:xfrm>
            <a:custGeom>
              <a:avLst/>
              <a:gdLst/>
              <a:ahLst/>
              <a:cxnLst/>
              <a:rect l="l" t="t" r="r" b="b"/>
              <a:pathLst>
                <a:path w="9023604" h="25148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9011031" y="0"/>
                  </a:lnTo>
                  <a:cubicBezTo>
                    <a:pt x="9018016" y="0"/>
                    <a:pt x="9023604" y="5588"/>
                    <a:pt x="9023604" y="12573"/>
                  </a:cubicBezTo>
                  <a:cubicBezTo>
                    <a:pt x="9023604" y="19558"/>
                    <a:pt x="9018016" y="25146"/>
                    <a:pt x="9011031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25303A">
                <a:alpha val="3922"/>
              </a:srgbClr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534687" y="6202585"/>
            <a:ext cx="6767865" cy="1237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2852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Hospital data is large and difficult to understand in raw tables.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379696" y="3665677"/>
            <a:ext cx="8007058" cy="4897745"/>
            <a:chOff x="0" y="0"/>
            <a:chExt cx="10676077" cy="653032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76128" cy="6530340"/>
            </a:xfrm>
            <a:custGeom>
              <a:avLst/>
              <a:gdLst/>
              <a:ahLst/>
              <a:cxnLst/>
              <a:rect l="l" t="t" r="r" b="b"/>
              <a:pathLst>
                <a:path w="10676128" h="6530340">
                  <a:moveTo>
                    <a:pt x="0" y="0"/>
                  </a:moveTo>
                  <a:lnTo>
                    <a:pt x="10676128" y="0"/>
                  </a:lnTo>
                  <a:lnTo>
                    <a:pt x="10676128" y="6530340"/>
                  </a:lnTo>
                  <a:lnTo>
                    <a:pt x="0" y="65303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9379696" y="3665677"/>
            <a:ext cx="8007058" cy="28594"/>
            <a:chOff x="0" y="0"/>
            <a:chExt cx="10676077" cy="381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76128" cy="38100"/>
            </a:xfrm>
            <a:custGeom>
              <a:avLst/>
              <a:gdLst/>
              <a:ahLst/>
              <a:cxnLst/>
              <a:rect l="l" t="t" r="r" b="b"/>
              <a:pathLst>
                <a:path w="10676128" h="38100">
                  <a:moveTo>
                    <a:pt x="0" y="0"/>
                  </a:moveTo>
                  <a:lnTo>
                    <a:pt x="10676128" y="0"/>
                  </a:lnTo>
                  <a:lnTo>
                    <a:pt x="1067612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467C2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377220" y="3665677"/>
            <a:ext cx="9535" cy="4897745"/>
            <a:chOff x="0" y="0"/>
            <a:chExt cx="12713" cy="653032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700" cy="6530340"/>
            </a:xfrm>
            <a:custGeom>
              <a:avLst/>
              <a:gdLst/>
              <a:ahLst/>
              <a:cxnLst/>
              <a:rect l="l" t="t" r="r" b="b"/>
              <a:pathLst>
                <a:path w="12700" h="6530340">
                  <a:moveTo>
                    <a:pt x="0" y="0"/>
                  </a:moveTo>
                  <a:lnTo>
                    <a:pt x="12700" y="0"/>
                  </a:lnTo>
                  <a:lnTo>
                    <a:pt x="12700" y="6530340"/>
                  </a:lnTo>
                  <a:lnTo>
                    <a:pt x="0" y="6530340"/>
                  </a:lnTo>
                  <a:close/>
                </a:path>
              </a:pathLst>
            </a:custGeom>
            <a:solidFill>
              <a:srgbClr val="25303A">
                <a:alpha val="3922"/>
              </a:srgbClr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379696" y="8553879"/>
            <a:ext cx="8007058" cy="9535"/>
            <a:chOff x="0" y="0"/>
            <a:chExt cx="10676077" cy="1271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76128" cy="12700"/>
            </a:xfrm>
            <a:custGeom>
              <a:avLst/>
              <a:gdLst/>
              <a:ahLst/>
              <a:cxnLst/>
              <a:rect l="l" t="t" r="r" b="b"/>
              <a:pathLst>
                <a:path w="10676128" h="12700">
                  <a:moveTo>
                    <a:pt x="0" y="0"/>
                  </a:moveTo>
                  <a:lnTo>
                    <a:pt x="10676128" y="0"/>
                  </a:lnTo>
                  <a:lnTo>
                    <a:pt x="10676128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25303A">
                <a:alpha val="3922"/>
              </a:srgbClr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379696" y="3665677"/>
            <a:ext cx="9535" cy="4897745"/>
            <a:chOff x="0" y="0"/>
            <a:chExt cx="12713" cy="653032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700" cy="6530340"/>
            </a:xfrm>
            <a:custGeom>
              <a:avLst/>
              <a:gdLst/>
              <a:ahLst/>
              <a:cxnLst/>
              <a:rect l="l" t="t" r="r" b="b"/>
              <a:pathLst>
                <a:path w="12700" h="6530340">
                  <a:moveTo>
                    <a:pt x="0" y="0"/>
                  </a:moveTo>
                  <a:lnTo>
                    <a:pt x="12700" y="0"/>
                  </a:lnTo>
                  <a:lnTo>
                    <a:pt x="12700" y="6530340"/>
                  </a:lnTo>
                  <a:lnTo>
                    <a:pt x="0" y="6530340"/>
                  </a:lnTo>
                  <a:close/>
                </a:path>
              </a:pathLst>
            </a:custGeom>
            <a:solidFill>
              <a:srgbClr val="25303A">
                <a:alpha val="3922"/>
              </a:srgbClr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9999288" y="4104265"/>
            <a:ext cx="7387466" cy="53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801" spc="180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THE SOLUTION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99288" y="4830394"/>
            <a:ext cx="6767865" cy="67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2"/>
              </a:lnSpc>
            </a:pPr>
            <a:r>
              <a:rPr lang="en-US" sz="5103" spc="-5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Interactive clarity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999288" y="5976099"/>
            <a:ext cx="6767722" cy="18917"/>
            <a:chOff x="0" y="0"/>
            <a:chExt cx="9023629" cy="2522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023604" cy="25148"/>
            </a:xfrm>
            <a:custGeom>
              <a:avLst/>
              <a:gdLst/>
              <a:ahLst/>
              <a:cxnLst/>
              <a:rect l="l" t="t" r="r" b="b"/>
              <a:pathLst>
                <a:path w="9023604" h="25148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9011031" y="0"/>
                  </a:lnTo>
                  <a:cubicBezTo>
                    <a:pt x="9018016" y="0"/>
                    <a:pt x="9023604" y="5588"/>
                    <a:pt x="9023604" y="12573"/>
                  </a:cubicBezTo>
                  <a:cubicBezTo>
                    <a:pt x="9023604" y="19558"/>
                    <a:pt x="9018016" y="25146"/>
                    <a:pt x="9011031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25303A">
                <a:alpha val="3922"/>
              </a:srgbClr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9999288" y="6221644"/>
            <a:ext cx="6767865" cy="1798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5"/>
              </a:lnSpc>
            </a:pPr>
            <a:r>
              <a:rPr lang="en-US" sz="2852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Convert hospital data into simple, interactive dashboards that are easy to understand.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7038530" y="9674990"/>
            <a:ext cx="1263310" cy="324993"/>
            <a:chOff x="0" y="0"/>
            <a:chExt cx="1684414" cy="43332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84420" cy="433329"/>
            </a:xfrm>
            <a:custGeom>
              <a:avLst/>
              <a:gdLst/>
              <a:ahLst/>
              <a:cxnLst/>
              <a:rect l="l" t="t" r="r" b="b"/>
              <a:pathLst>
                <a:path w="1684420" h="433329">
                  <a:moveTo>
                    <a:pt x="0" y="0"/>
                  </a:moveTo>
                  <a:lnTo>
                    <a:pt x="1684420" y="0"/>
                  </a:lnTo>
                  <a:lnTo>
                    <a:pt x="1684420" y="433329"/>
                  </a:lnTo>
                  <a:lnTo>
                    <a:pt x="0" y="433329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t="-25741" b="-2574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76200"/>
              <a:ext cx="1684414" cy="5095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6"/>
                </a:lnSpc>
              </a:pPr>
              <a:r>
                <a:rPr lang="en-US" sz="1651" spc="297">
                  <a:solidFill>
                    <a:srgbClr val="25303A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5095" y="791289"/>
            <a:ext cx="17386744" cy="53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801" spc="180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DATA PIPELINE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5095" y="1498378"/>
            <a:ext cx="16471659" cy="630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4503" spc="-22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Milestone 1: Data Preparation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5095" y="2679811"/>
            <a:ext cx="16471659" cy="18917"/>
            <a:chOff x="0" y="0"/>
            <a:chExt cx="21962212" cy="252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111" cy="25148"/>
            </a:xfrm>
            <a:custGeom>
              <a:avLst/>
              <a:gdLst/>
              <a:ahLst/>
              <a:cxnLst/>
              <a:rect l="l" t="t" r="r" b="b"/>
              <a:pathLst>
                <a:path w="21962111" h="25148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21949538" y="0"/>
                  </a:lnTo>
                  <a:cubicBezTo>
                    <a:pt x="21956523" y="0"/>
                    <a:pt x="21962111" y="5588"/>
                    <a:pt x="21962111" y="12573"/>
                  </a:cubicBezTo>
                  <a:cubicBezTo>
                    <a:pt x="21962111" y="19558"/>
                    <a:pt x="21956523" y="25146"/>
                    <a:pt x="2194953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25303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15095" y="4713799"/>
            <a:ext cx="167707" cy="167707"/>
            <a:chOff x="0" y="0"/>
            <a:chExt cx="223609" cy="2236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3520" cy="223520"/>
            </a:xfrm>
            <a:custGeom>
              <a:avLst/>
              <a:gdLst/>
              <a:ahLst/>
              <a:cxnLst/>
              <a:rect l="l" t="t" r="r" b="b"/>
              <a:pathLst>
                <a:path w="223520" h="22352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cubicBezTo>
                    <a:pt x="173482" y="0"/>
                    <a:pt x="223520" y="50038"/>
                    <a:pt x="223520" y="111760"/>
                  </a:cubicBezTo>
                  <a:cubicBezTo>
                    <a:pt x="223520" y="173482"/>
                    <a:pt x="173482" y="223520"/>
                    <a:pt x="111760" y="223520"/>
                  </a:cubicBezTo>
                  <a:cubicBezTo>
                    <a:pt x="50038" y="223520"/>
                    <a:pt x="0" y="173609"/>
                    <a:pt x="0" y="111760"/>
                  </a:cubicBezTo>
                  <a:close/>
                </a:path>
              </a:pathLst>
            </a:custGeom>
            <a:solidFill>
              <a:srgbClr val="57646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387831" y="4466025"/>
            <a:ext cx="4903432" cy="5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Collected hospital datasets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520034" y="4713799"/>
            <a:ext cx="167707" cy="167707"/>
            <a:chOff x="0" y="0"/>
            <a:chExt cx="223609" cy="2236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520" cy="223520"/>
            </a:xfrm>
            <a:custGeom>
              <a:avLst/>
              <a:gdLst/>
              <a:ahLst/>
              <a:cxnLst/>
              <a:rect l="l" t="t" r="r" b="b"/>
              <a:pathLst>
                <a:path w="223520" h="22352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cubicBezTo>
                    <a:pt x="173482" y="0"/>
                    <a:pt x="223520" y="50038"/>
                    <a:pt x="223520" y="111760"/>
                  </a:cubicBezTo>
                  <a:cubicBezTo>
                    <a:pt x="223520" y="173482"/>
                    <a:pt x="173482" y="223520"/>
                    <a:pt x="111760" y="223520"/>
                  </a:cubicBezTo>
                  <a:cubicBezTo>
                    <a:pt x="50038" y="223520"/>
                    <a:pt x="0" y="173609"/>
                    <a:pt x="0" y="111760"/>
                  </a:cubicBezTo>
                  <a:close/>
                </a:path>
              </a:pathLst>
            </a:custGeom>
            <a:solidFill>
              <a:srgbClr val="57646F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6992769" y="4466025"/>
            <a:ext cx="4789046" cy="5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Loaded data using Python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010587" y="4713799"/>
            <a:ext cx="167707" cy="167707"/>
            <a:chOff x="0" y="0"/>
            <a:chExt cx="223609" cy="22360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3520" cy="223520"/>
            </a:xfrm>
            <a:custGeom>
              <a:avLst/>
              <a:gdLst/>
              <a:ahLst/>
              <a:cxnLst/>
              <a:rect l="l" t="t" r="r" b="b"/>
              <a:pathLst>
                <a:path w="223520" h="22352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cubicBezTo>
                    <a:pt x="173482" y="0"/>
                    <a:pt x="223520" y="50038"/>
                    <a:pt x="223520" y="111760"/>
                  </a:cubicBezTo>
                  <a:cubicBezTo>
                    <a:pt x="223520" y="173482"/>
                    <a:pt x="173482" y="223520"/>
                    <a:pt x="111760" y="223520"/>
                  </a:cubicBezTo>
                  <a:cubicBezTo>
                    <a:pt x="50038" y="223520"/>
                    <a:pt x="0" y="173609"/>
                    <a:pt x="0" y="111760"/>
                  </a:cubicBezTo>
                  <a:close/>
                </a:path>
              </a:pathLst>
            </a:custGeom>
            <a:solidFill>
              <a:srgbClr val="57646F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2483322" y="4466025"/>
            <a:ext cx="4903432" cy="1040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Checked missing values and duplicate records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15095" y="5888079"/>
            <a:ext cx="167707" cy="167707"/>
            <a:chOff x="0" y="0"/>
            <a:chExt cx="223609" cy="2236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3520" cy="223520"/>
            </a:xfrm>
            <a:custGeom>
              <a:avLst/>
              <a:gdLst/>
              <a:ahLst/>
              <a:cxnLst/>
              <a:rect l="l" t="t" r="r" b="b"/>
              <a:pathLst>
                <a:path w="223520" h="22352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cubicBezTo>
                    <a:pt x="173482" y="0"/>
                    <a:pt x="223520" y="50038"/>
                    <a:pt x="223520" y="111760"/>
                  </a:cubicBezTo>
                  <a:cubicBezTo>
                    <a:pt x="223520" y="173482"/>
                    <a:pt x="173482" y="223520"/>
                    <a:pt x="111760" y="223520"/>
                  </a:cubicBezTo>
                  <a:cubicBezTo>
                    <a:pt x="50038" y="223520"/>
                    <a:pt x="0" y="173609"/>
                    <a:pt x="0" y="111760"/>
                  </a:cubicBezTo>
                  <a:close/>
                </a:path>
              </a:pathLst>
            </a:custGeom>
            <a:solidFill>
              <a:srgbClr val="57646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387831" y="5640305"/>
            <a:ext cx="4903432" cy="5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Cleaned the data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520034" y="5888079"/>
            <a:ext cx="167707" cy="167707"/>
            <a:chOff x="0" y="0"/>
            <a:chExt cx="223609" cy="2236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3520" cy="223520"/>
            </a:xfrm>
            <a:custGeom>
              <a:avLst/>
              <a:gdLst/>
              <a:ahLst/>
              <a:cxnLst/>
              <a:rect l="l" t="t" r="r" b="b"/>
              <a:pathLst>
                <a:path w="223520" h="22352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cubicBezTo>
                    <a:pt x="173482" y="0"/>
                    <a:pt x="223520" y="50038"/>
                    <a:pt x="223520" y="111760"/>
                  </a:cubicBezTo>
                  <a:cubicBezTo>
                    <a:pt x="223520" y="173482"/>
                    <a:pt x="173482" y="223520"/>
                    <a:pt x="111760" y="223520"/>
                  </a:cubicBezTo>
                  <a:cubicBezTo>
                    <a:pt x="50038" y="223520"/>
                    <a:pt x="0" y="173609"/>
                    <a:pt x="0" y="111760"/>
                  </a:cubicBezTo>
                  <a:close/>
                </a:path>
              </a:pathLst>
            </a:custGeom>
            <a:solidFill>
              <a:srgbClr val="57646F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6992769" y="5640305"/>
            <a:ext cx="4789046" cy="5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Checked dates and IDs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010587" y="5888079"/>
            <a:ext cx="167707" cy="167707"/>
            <a:chOff x="0" y="0"/>
            <a:chExt cx="223609" cy="22360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3520" cy="223520"/>
            </a:xfrm>
            <a:custGeom>
              <a:avLst/>
              <a:gdLst/>
              <a:ahLst/>
              <a:cxnLst/>
              <a:rect l="l" t="t" r="r" b="b"/>
              <a:pathLst>
                <a:path w="223520" h="22352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cubicBezTo>
                    <a:pt x="173482" y="0"/>
                    <a:pt x="223520" y="50038"/>
                    <a:pt x="223520" y="111760"/>
                  </a:cubicBezTo>
                  <a:cubicBezTo>
                    <a:pt x="223520" y="173482"/>
                    <a:pt x="173482" y="223520"/>
                    <a:pt x="111760" y="223520"/>
                  </a:cubicBezTo>
                  <a:cubicBezTo>
                    <a:pt x="50038" y="223520"/>
                    <a:pt x="0" y="173609"/>
                    <a:pt x="0" y="111760"/>
                  </a:cubicBezTo>
                  <a:close/>
                </a:path>
              </a:pathLst>
            </a:custGeom>
            <a:solidFill>
              <a:srgbClr val="57646F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2483322" y="5640305"/>
            <a:ext cx="4903432" cy="5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Prepared data for Tableau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5095" y="8261356"/>
            <a:ext cx="16471659" cy="18917"/>
            <a:chOff x="0" y="0"/>
            <a:chExt cx="21962212" cy="2522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962111" cy="25148"/>
            </a:xfrm>
            <a:custGeom>
              <a:avLst/>
              <a:gdLst/>
              <a:ahLst/>
              <a:cxnLst/>
              <a:rect l="l" t="t" r="r" b="b"/>
              <a:pathLst>
                <a:path w="21962111" h="25148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21949538" y="0"/>
                  </a:lnTo>
                  <a:cubicBezTo>
                    <a:pt x="21956523" y="0"/>
                    <a:pt x="21962111" y="5588"/>
                    <a:pt x="21962111" y="12573"/>
                  </a:cubicBezTo>
                  <a:cubicBezTo>
                    <a:pt x="21962111" y="19558"/>
                    <a:pt x="21956523" y="25146"/>
                    <a:pt x="2194953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25303A">
                <a:alpha val="3922"/>
              </a:srgbClr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915095" y="8888187"/>
            <a:ext cx="17386744" cy="491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 spc="39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Tools: Python, Pandas, NumPy, Jupyter Notebook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7038530" y="9674990"/>
            <a:ext cx="1263310" cy="324993"/>
            <a:chOff x="0" y="0"/>
            <a:chExt cx="1684414" cy="43332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684420" cy="433329"/>
            </a:xfrm>
            <a:custGeom>
              <a:avLst/>
              <a:gdLst/>
              <a:ahLst/>
              <a:cxnLst/>
              <a:rect l="l" t="t" r="r" b="b"/>
              <a:pathLst>
                <a:path w="1684420" h="433329">
                  <a:moveTo>
                    <a:pt x="0" y="0"/>
                  </a:moveTo>
                  <a:lnTo>
                    <a:pt x="1684420" y="0"/>
                  </a:lnTo>
                  <a:lnTo>
                    <a:pt x="1684420" y="433329"/>
                  </a:lnTo>
                  <a:lnTo>
                    <a:pt x="0" y="433329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t="-25741" b="-25740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1684414" cy="5095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6"/>
                </a:lnSpc>
              </a:pPr>
              <a:r>
                <a:rPr lang="en-US" sz="1651" spc="297">
                  <a:solidFill>
                    <a:srgbClr val="25303A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5095" y="791289"/>
            <a:ext cx="17386744" cy="53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801" spc="180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METRIC DEFINITIONS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5095" y="1498378"/>
            <a:ext cx="16471659" cy="630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4503" spc="-22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Milestone 2: KPI Calculation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5095" y="2603554"/>
            <a:ext cx="16471659" cy="18917"/>
            <a:chOff x="0" y="0"/>
            <a:chExt cx="21962212" cy="252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111" cy="25148"/>
            </a:xfrm>
            <a:custGeom>
              <a:avLst/>
              <a:gdLst/>
              <a:ahLst/>
              <a:cxnLst/>
              <a:rect l="l" t="t" r="r" b="b"/>
              <a:pathLst>
                <a:path w="21962111" h="25148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21949538" y="0"/>
                  </a:lnTo>
                  <a:cubicBezTo>
                    <a:pt x="21956523" y="0"/>
                    <a:pt x="21962111" y="5588"/>
                    <a:pt x="21962111" y="12573"/>
                  </a:cubicBezTo>
                  <a:cubicBezTo>
                    <a:pt x="21962111" y="19558"/>
                    <a:pt x="21956523" y="25146"/>
                    <a:pt x="2194953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25303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2963475"/>
            <a:ext cx="11972449" cy="5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Important hospital values were calculated from the prepared data.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5095" y="3893706"/>
            <a:ext cx="8121444" cy="2568702"/>
            <a:chOff x="0" y="0"/>
            <a:chExt cx="10828592" cy="34249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28528" cy="3424936"/>
            </a:xfrm>
            <a:custGeom>
              <a:avLst/>
              <a:gdLst/>
              <a:ahLst/>
              <a:cxnLst/>
              <a:rect l="l" t="t" r="r" b="b"/>
              <a:pathLst>
                <a:path w="10828528" h="3424936">
                  <a:moveTo>
                    <a:pt x="0" y="0"/>
                  </a:moveTo>
                  <a:lnTo>
                    <a:pt x="10828528" y="0"/>
                  </a:lnTo>
                  <a:lnTo>
                    <a:pt x="10828528" y="3424936"/>
                  </a:lnTo>
                  <a:lnTo>
                    <a:pt x="0" y="34249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67610" y="3922405"/>
            <a:ext cx="7968929" cy="53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801" spc="180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PATIENT VOLUME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7610" y="4596203"/>
            <a:ext cx="7816415" cy="1140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5018" lvl="1" indent="-217509" algn="l">
              <a:lnSpc>
                <a:spcPts val="3718"/>
              </a:lnSpc>
              <a:buFont typeface="Arial"/>
              <a:buChar char="•"/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Total Admissions</a:t>
            </a:r>
          </a:p>
          <a:p>
            <a:pPr marL="435018" lvl="1" indent="-217509" algn="l">
              <a:lnSpc>
                <a:spcPts val="3718"/>
              </a:lnSpc>
              <a:buFont typeface="Arial"/>
              <a:buChar char="•"/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Total Discharges and Transfers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265310" y="3893706"/>
            <a:ext cx="8121444" cy="2568702"/>
            <a:chOff x="0" y="0"/>
            <a:chExt cx="10828592" cy="34249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28528" cy="3424936"/>
            </a:xfrm>
            <a:custGeom>
              <a:avLst/>
              <a:gdLst/>
              <a:ahLst/>
              <a:cxnLst/>
              <a:rect l="l" t="t" r="r" b="b"/>
              <a:pathLst>
                <a:path w="10828528" h="3424936">
                  <a:moveTo>
                    <a:pt x="0" y="0"/>
                  </a:moveTo>
                  <a:lnTo>
                    <a:pt x="10828528" y="0"/>
                  </a:lnTo>
                  <a:lnTo>
                    <a:pt x="10828528" y="3424936"/>
                  </a:lnTo>
                  <a:lnTo>
                    <a:pt x="0" y="34249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417825" y="3922405"/>
            <a:ext cx="7968929" cy="53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801" spc="180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CARE QUALITY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17825" y="4596203"/>
            <a:ext cx="7816415" cy="1713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5018" lvl="1" indent="-217509" algn="l">
              <a:lnSpc>
                <a:spcPts val="3718"/>
              </a:lnSpc>
              <a:buFont typeface="Arial"/>
              <a:buChar char="•"/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Average Length of Stay</a:t>
            </a:r>
          </a:p>
          <a:p>
            <a:pPr marL="435018" lvl="1" indent="-217509" algn="l">
              <a:lnSpc>
                <a:spcPts val="3718"/>
              </a:lnSpc>
              <a:buFont typeface="Arial"/>
              <a:buChar char="•"/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Mortality Rate</a:t>
            </a:r>
          </a:p>
          <a:p>
            <a:pPr marL="435018" lvl="1" indent="-217509" algn="l">
              <a:lnSpc>
                <a:spcPts val="3718"/>
              </a:lnSpc>
              <a:buFont typeface="Arial"/>
              <a:buChar char="•"/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Readmission Rate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15095" y="6691179"/>
            <a:ext cx="8121444" cy="2568702"/>
            <a:chOff x="0" y="0"/>
            <a:chExt cx="10828592" cy="342493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828528" cy="3424936"/>
            </a:xfrm>
            <a:custGeom>
              <a:avLst/>
              <a:gdLst/>
              <a:ahLst/>
              <a:cxnLst/>
              <a:rect l="l" t="t" r="r" b="b"/>
              <a:pathLst>
                <a:path w="10828528" h="3424936">
                  <a:moveTo>
                    <a:pt x="0" y="0"/>
                  </a:moveTo>
                  <a:lnTo>
                    <a:pt x="10828528" y="0"/>
                  </a:lnTo>
                  <a:lnTo>
                    <a:pt x="10828528" y="3424936"/>
                  </a:lnTo>
                  <a:lnTo>
                    <a:pt x="0" y="34249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067610" y="6719878"/>
            <a:ext cx="7968929" cy="53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801" spc="180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CLINICAL CAPACITY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7610" y="7393676"/>
            <a:ext cx="7816415" cy="1140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5018" lvl="1" indent="-217509" algn="l">
              <a:lnSpc>
                <a:spcPts val="3718"/>
              </a:lnSpc>
              <a:buFont typeface="Arial"/>
              <a:buChar char="•"/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Staff-to-Patient Ratio</a:t>
            </a:r>
          </a:p>
          <a:p>
            <a:pPr marL="435018" lvl="1" indent="-217509" algn="l">
              <a:lnSpc>
                <a:spcPts val="3718"/>
              </a:lnSpc>
              <a:buFont typeface="Arial"/>
              <a:buChar char="•"/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Bed Utilization Rate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265310" y="6691179"/>
            <a:ext cx="8121444" cy="2568702"/>
            <a:chOff x="0" y="0"/>
            <a:chExt cx="10828592" cy="342493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828528" cy="3424936"/>
            </a:xfrm>
            <a:custGeom>
              <a:avLst/>
              <a:gdLst/>
              <a:ahLst/>
              <a:cxnLst/>
              <a:rect l="l" t="t" r="r" b="b"/>
              <a:pathLst>
                <a:path w="10828528" h="3424936">
                  <a:moveTo>
                    <a:pt x="0" y="0"/>
                  </a:moveTo>
                  <a:lnTo>
                    <a:pt x="10828528" y="0"/>
                  </a:lnTo>
                  <a:lnTo>
                    <a:pt x="10828528" y="3424936"/>
                  </a:lnTo>
                  <a:lnTo>
                    <a:pt x="0" y="34249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9417825" y="6719878"/>
            <a:ext cx="7968929" cy="53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801" spc="180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OPERATIONAL LOAD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7825" y="7393676"/>
            <a:ext cx="7816415" cy="1713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5018" lvl="1" indent="-217509" algn="l">
              <a:lnSpc>
                <a:spcPts val="3718"/>
              </a:lnSpc>
              <a:buFont typeface="Arial"/>
              <a:buChar char="•"/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Efficiency Score</a:t>
            </a:r>
          </a:p>
          <a:p>
            <a:pPr marL="435018" lvl="1" indent="-217509" algn="l">
              <a:lnSpc>
                <a:spcPts val="3718"/>
              </a:lnSpc>
              <a:buFont typeface="Arial"/>
              <a:buChar char="•"/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Equipment Downtime</a:t>
            </a:r>
          </a:p>
          <a:p>
            <a:pPr marL="435018" lvl="1" indent="-217509" algn="l">
              <a:lnSpc>
                <a:spcPts val="3718"/>
              </a:lnSpc>
              <a:buFont typeface="Arial"/>
              <a:buChar char="•"/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Overtime Hours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7038530" y="9674990"/>
            <a:ext cx="1263310" cy="324993"/>
            <a:chOff x="0" y="0"/>
            <a:chExt cx="1684414" cy="43332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84420" cy="433329"/>
            </a:xfrm>
            <a:custGeom>
              <a:avLst/>
              <a:gdLst/>
              <a:ahLst/>
              <a:cxnLst/>
              <a:rect l="l" t="t" r="r" b="b"/>
              <a:pathLst>
                <a:path w="1684420" h="433329">
                  <a:moveTo>
                    <a:pt x="0" y="0"/>
                  </a:moveTo>
                  <a:lnTo>
                    <a:pt x="1684420" y="0"/>
                  </a:lnTo>
                  <a:lnTo>
                    <a:pt x="1684420" y="433329"/>
                  </a:lnTo>
                  <a:lnTo>
                    <a:pt x="0" y="433329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t="-25741" b="-2574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1684414" cy="5095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6"/>
                </a:lnSpc>
              </a:pPr>
              <a:r>
                <a:rPr lang="en-US" sz="1651" spc="297">
                  <a:solidFill>
                    <a:srgbClr val="25303A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5095" y="791289"/>
            <a:ext cx="17386744" cy="53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801" spc="180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ARCHITECTURE &amp; 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5095" y="1498378"/>
            <a:ext cx="16471659" cy="630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4503" spc="-22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Milestone 3: Four Dashboards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5095" y="2679811"/>
            <a:ext cx="16471659" cy="18917"/>
            <a:chOff x="0" y="0"/>
            <a:chExt cx="21962212" cy="252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111" cy="25148"/>
            </a:xfrm>
            <a:custGeom>
              <a:avLst/>
              <a:gdLst/>
              <a:ahLst/>
              <a:cxnLst/>
              <a:rect l="l" t="t" r="r" b="b"/>
              <a:pathLst>
                <a:path w="21962111" h="25148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21949538" y="0"/>
                  </a:lnTo>
                  <a:cubicBezTo>
                    <a:pt x="21956523" y="0"/>
                    <a:pt x="21962111" y="5588"/>
                    <a:pt x="21962111" y="12573"/>
                  </a:cubicBezTo>
                  <a:cubicBezTo>
                    <a:pt x="21962111" y="19558"/>
                    <a:pt x="21956523" y="25146"/>
                    <a:pt x="2194953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25303A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3331559"/>
            <a:ext cx="1113482" cy="26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401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8511" y="3115989"/>
            <a:ext cx="7389247" cy="682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sz="3302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Hospital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8511" y="3993871"/>
            <a:ext cx="7389247" cy="5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Key hospital activity and KPIs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94082" y="3331559"/>
            <a:ext cx="1113482" cy="26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401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97497" y="3115989"/>
            <a:ext cx="7389247" cy="682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sz="3302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Patient 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97497" y="3993871"/>
            <a:ext cx="7389247" cy="5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Admissions, transfers and discharges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5095" y="5368528"/>
            <a:ext cx="1113482" cy="26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401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8511" y="5152958"/>
            <a:ext cx="7389247" cy="682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sz="3302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Department Analytics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8511" y="6030839"/>
            <a:ext cx="7389247" cy="5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Department activity and efficiency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94082" y="5368528"/>
            <a:ext cx="1113482" cy="266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sz="2401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97497" y="5152958"/>
            <a:ext cx="7389247" cy="682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sz="3302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Resource Utilization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97497" y="6030839"/>
            <a:ext cx="7389247" cy="5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Beds, equipment and staff usage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15095" y="8261356"/>
            <a:ext cx="16471659" cy="18917"/>
            <a:chOff x="0" y="0"/>
            <a:chExt cx="21962212" cy="2522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962111" cy="25148"/>
            </a:xfrm>
            <a:custGeom>
              <a:avLst/>
              <a:gdLst/>
              <a:ahLst/>
              <a:cxnLst/>
              <a:rect l="l" t="t" r="r" b="b"/>
              <a:pathLst>
                <a:path w="21962111" h="25148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21949538" y="0"/>
                  </a:lnTo>
                  <a:cubicBezTo>
                    <a:pt x="21956523" y="0"/>
                    <a:pt x="21962111" y="5588"/>
                    <a:pt x="21962111" y="12573"/>
                  </a:cubicBezTo>
                  <a:cubicBezTo>
                    <a:pt x="21962111" y="19558"/>
                    <a:pt x="21956523" y="25146"/>
                    <a:pt x="2194953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25303A">
                <a:alpha val="3922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915095" y="8888187"/>
            <a:ext cx="17386744" cy="491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 spc="39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Flow: Hospital Overview → Patient Flow → Department Analytics → Resource Utilization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7038530" y="9674990"/>
            <a:ext cx="1263310" cy="324993"/>
            <a:chOff x="0" y="0"/>
            <a:chExt cx="1684414" cy="43332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84420" cy="433329"/>
            </a:xfrm>
            <a:custGeom>
              <a:avLst/>
              <a:gdLst/>
              <a:ahLst/>
              <a:cxnLst/>
              <a:rect l="l" t="t" r="r" b="b"/>
              <a:pathLst>
                <a:path w="1684420" h="433329">
                  <a:moveTo>
                    <a:pt x="0" y="0"/>
                  </a:moveTo>
                  <a:lnTo>
                    <a:pt x="1684420" y="0"/>
                  </a:lnTo>
                  <a:lnTo>
                    <a:pt x="1684420" y="433329"/>
                  </a:lnTo>
                  <a:lnTo>
                    <a:pt x="0" y="433329"/>
                  </a:lnTo>
                  <a:close/>
                </a:path>
              </a:pathLst>
            </a:custGeom>
            <a:blipFill>
              <a:blip r:embed="rId3" cstate="print">
                <a:alphaModFix amt="0"/>
              </a:blip>
              <a:stretch>
                <a:fillRect t="-25741" b="-2574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1684414" cy="5095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6"/>
                </a:lnSpc>
              </a:pPr>
              <a:r>
                <a:rPr lang="en-US" sz="1651" spc="297">
                  <a:solidFill>
                    <a:srgbClr val="25303A"/>
                  </a:solidFill>
                  <a:latin typeface="Arimo"/>
                  <a:ea typeface="Arimo"/>
                  <a:cs typeface="Arimo"/>
                  <a:sym typeface="Arimo"/>
                </a:rPr>
                <a:t>06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5095" y="800814"/>
            <a:ext cx="17386744" cy="486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2"/>
              </a:lnSpc>
            </a:pPr>
            <a:r>
              <a:rPr lang="en-US" sz="1651" spc="162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TABLEAU INTERFACE 1 &amp; 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5095" y="1429417"/>
            <a:ext cx="16471659" cy="56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3"/>
              </a:lnSpc>
            </a:pPr>
            <a:r>
              <a:rPr lang="en-US" sz="4053" spc="-2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Hospital Overview and Patient Flow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5095" y="2468756"/>
            <a:ext cx="16471659" cy="18917"/>
            <a:chOff x="0" y="0"/>
            <a:chExt cx="21962212" cy="252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111" cy="25148"/>
            </a:xfrm>
            <a:custGeom>
              <a:avLst/>
              <a:gdLst/>
              <a:ahLst/>
              <a:cxnLst/>
              <a:rect l="l" t="t" r="r" b="b"/>
              <a:pathLst>
                <a:path w="21962111" h="25148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21949538" y="0"/>
                  </a:lnTo>
                  <a:cubicBezTo>
                    <a:pt x="21956523" y="0"/>
                    <a:pt x="21962111" y="5588"/>
                    <a:pt x="21962111" y="12573"/>
                  </a:cubicBezTo>
                  <a:cubicBezTo>
                    <a:pt x="21962111" y="19558"/>
                    <a:pt x="21956523" y="25146"/>
                    <a:pt x="2194953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25303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10323" y="2921698"/>
            <a:ext cx="8016592" cy="7379456"/>
            <a:chOff x="0" y="0"/>
            <a:chExt cx="10688790" cy="98392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88828" cy="9839325"/>
            </a:xfrm>
            <a:custGeom>
              <a:avLst/>
              <a:gdLst/>
              <a:ahLst/>
              <a:cxnLst/>
              <a:rect l="l" t="t" r="r" b="b"/>
              <a:pathLst>
                <a:path w="10688828" h="9839325">
                  <a:moveTo>
                    <a:pt x="0" y="0"/>
                  </a:moveTo>
                  <a:lnTo>
                    <a:pt x="10688828" y="0"/>
                  </a:lnTo>
                  <a:lnTo>
                    <a:pt x="10688828" y="9839325"/>
                  </a:lnTo>
                  <a:lnTo>
                    <a:pt x="0" y="9839325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267787" y="3222012"/>
            <a:ext cx="7301675" cy="491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7"/>
              </a:lnSpc>
            </a:pPr>
            <a:r>
              <a:rPr lang="en-US" sz="2476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Hospital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7787" y="3769700"/>
            <a:ext cx="7301675" cy="89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176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Shows overall activity, admissions, discharges, length of stay and key KPIs.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63015" y="4845758"/>
            <a:ext cx="7311200" cy="5102685"/>
            <a:chOff x="0" y="0"/>
            <a:chExt cx="9748266" cy="68035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748266" cy="6803644"/>
            </a:xfrm>
            <a:custGeom>
              <a:avLst/>
              <a:gdLst/>
              <a:ahLst/>
              <a:cxnLst/>
              <a:rect l="l" t="t" r="r" b="b"/>
              <a:pathLst>
                <a:path w="9748266" h="6803644">
                  <a:moveTo>
                    <a:pt x="0" y="0"/>
                  </a:moveTo>
                  <a:lnTo>
                    <a:pt x="9748266" y="0"/>
                  </a:lnTo>
                  <a:lnTo>
                    <a:pt x="9748266" y="6803644"/>
                  </a:lnTo>
                  <a:lnTo>
                    <a:pt x="0" y="68036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546" r="-39546"/>
              </a:stretch>
            </a:blip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272550" y="4855293"/>
            <a:ext cx="7292140" cy="5083626"/>
            <a:chOff x="0" y="0"/>
            <a:chExt cx="9722853" cy="67781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722866" cy="6778117"/>
            </a:xfrm>
            <a:custGeom>
              <a:avLst/>
              <a:gdLst/>
              <a:ahLst/>
              <a:cxnLst/>
              <a:rect l="l" t="t" r="r" b="b"/>
              <a:pathLst>
                <a:path w="9722866" h="6778117">
                  <a:moveTo>
                    <a:pt x="0" y="0"/>
                  </a:moveTo>
                  <a:lnTo>
                    <a:pt x="9722866" y="0"/>
                  </a:lnTo>
                  <a:lnTo>
                    <a:pt x="9722866" y="6778117"/>
                  </a:lnTo>
                  <a:lnTo>
                    <a:pt x="0" y="67781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45" r="-39445"/>
              </a:stretch>
            </a:blip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374924" y="2921698"/>
            <a:ext cx="8016592" cy="7379456"/>
            <a:chOff x="0" y="0"/>
            <a:chExt cx="10688790" cy="98392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88828" cy="9839325"/>
            </a:xfrm>
            <a:custGeom>
              <a:avLst/>
              <a:gdLst/>
              <a:ahLst/>
              <a:cxnLst/>
              <a:rect l="l" t="t" r="r" b="b"/>
              <a:pathLst>
                <a:path w="10688828" h="9839325">
                  <a:moveTo>
                    <a:pt x="0" y="0"/>
                  </a:moveTo>
                  <a:lnTo>
                    <a:pt x="10688828" y="0"/>
                  </a:lnTo>
                  <a:lnTo>
                    <a:pt x="10688828" y="9839325"/>
                  </a:lnTo>
                  <a:lnTo>
                    <a:pt x="0" y="9839325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9732388" y="3222012"/>
            <a:ext cx="7301675" cy="491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7"/>
              </a:lnSpc>
            </a:pPr>
            <a:r>
              <a:rPr lang="en-US" sz="2476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Patient Flow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32388" y="3769700"/>
            <a:ext cx="7301675" cy="89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176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Shows patient movement, transfers, admissions, discharges and department stay.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727616" y="4845758"/>
            <a:ext cx="7311200" cy="5102685"/>
            <a:chOff x="0" y="0"/>
            <a:chExt cx="9748266" cy="68035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748266" cy="6803644"/>
            </a:xfrm>
            <a:custGeom>
              <a:avLst/>
              <a:gdLst/>
              <a:ahLst/>
              <a:cxnLst/>
              <a:rect l="l" t="t" r="r" b="b"/>
              <a:pathLst>
                <a:path w="9748266" h="6803644">
                  <a:moveTo>
                    <a:pt x="0" y="0"/>
                  </a:moveTo>
                  <a:lnTo>
                    <a:pt x="9748266" y="0"/>
                  </a:lnTo>
                  <a:lnTo>
                    <a:pt x="9748266" y="6803644"/>
                  </a:lnTo>
                  <a:lnTo>
                    <a:pt x="0" y="68036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546" r="-39546"/>
              </a:stretch>
            </a:blip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9737150" y="4855293"/>
            <a:ext cx="7292140" cy="5083626"/>
            <a:chOff x="0" y="0"/>
            <a:chExt cx="9722853" cy="677816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722866" cy="6778117"/>
            </a:xfrm>
            <a:custGeom>
              <a:avLst/>
              <a:gdLst/>
              <a:ahLst/>
              <a:cxnLst/>
              <a:rect l="l" t="t" r="r" b="b"/>
              <a:pathLst>
                <a:path w="9722866" h="6778117">
                  <a:moveTo>
                    <a:pt x="0" y="0"/>
                  </a:moveTo>
                  <a:lnTo>
                    <a:pt x="9722866" y="0"/>
                  </a:lnTo>
                  <a:lnTo>
                    <a:pt x="9722866" y="6778117"/>
                  </a:lnTo>
                  <a:lnTo>
                    <a:pt x="0" y="67781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445" r="-39445"/>
              </a:stretch>
            </a:blip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7072181" y="9690478"/>
            <a:ext cx="1229658" cy="293865"/>
            <a:chOff x="0" y="0"/>
            <a:chExt cx="1639545" cy="3918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39541" cy="391824"/>
            </a:xfrm>
            <a:custGeom>
              <a:avLst/>
              <a:gdLst/>
              <a:ahLst/>
              <a:cxnLst/>
              <a:rect l="l" t="t" r="r" b="b"/>
              <a:pathLst>
                <a:path w="1639541" h="391824">
                  <a:moveTo>
                    <a:pt x="0" y="0"/>
                  </a:moveTo>
                  <a:lnTo>
                    <a:pt x="1639541" y="0"/>
                  </a:lnTo>
                  <a:lnTo>
                    <a:pt x="1639541" y="391824"/>
                  </a:lnTo>
                  <a:lnTo>
                    <a:pt x="0" y="391824"/>
                  </a:lnTo>
                  <a:close/>
                </a:path>
              </a:pathLst>
            </a:custGeom>
            <a:blipFill>
              <a:blip r:embed="rId4" cstate="print">
                <a:alphaModFix amt="0"/>
              </a:blip>
              <a:stretch>
                <a:fillRect t="-31533" b="-31532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1639545" cy="4584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23"/>
                </a:lnSpc>
              </a:pPr>
              <a:r>
                <a:rPr lang="en-US" sz="1501" spc="268">
                  <a:solidFill>
                    <a:srgbClr val="25303A"/>
                  </a:solidFill>
                  <a:latin typeface="Arimo"/>
                  <a:ea typeface="Arimo"/>
                  <a:cs typeface="Arimo"/>
                  <a:sym typeface="Arimo"/>
                </a:rPr>
                <a:t>07</a:t>
              </a:r>
            </a:p>
          </p:txBody>
        </p:sp>
      </p:grpSp>
      <p:pic>
        <p:nvPicPr>
          <p:cNvPr id="8194" name="Picture 2" descr="D:\MedTrack_DV\dashboards\Hospital Overview Dashboard1.twb.jpe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28696" y="5000624"/>
            <a:ext cx="7000924" cy="4786346"/>
          </a:xfrm>
          <a:prstGeom prst="rect">
            <a:avLst/>
          </a:prstGeom>
          <a:noFill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858380" y="5000624"/>
            <a:ext cx="7072362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5095" y="791289"/>
            <a:ext cx="17386744" cy="53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801" spc="180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TABLEAU INTERFACE 3 &amp; 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5095" y="1498378"/>
            <a:ext cx="16471659" cy="630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4503" spc="-22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Department and Resource Dashboards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5095" y="2603554"/>
            <a:ext cx="16471659" cy="18917"/>
            <a:chOff x="0" y="0"/>
            <a:chExt cx="21962212" cy="252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111" cy="25148"/>
            </a:xfrm>
            <a:custGeom>
              <a:avLst/>
              <a:gdLst/>
              <a:ahLst/>
              <a:cxnLst/>
              <a:rect l="l" t="t" r="r" b="b"/>
              <a:pathLst>
                <a:path w="21962111" h="25148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21949538" y="0"/>
                  </a:lnTo>
                  <a:cubicBezTo>
                    <a:pt x="21956523" y="0"/>
                    <a:pt x="21962111" y="5588"/>
                    <a:pt x="21962111" y="12573"/>
                  </a:cubicBezTo>
                  <a:cubicBezTo>
                    <a:pt x="21962111" y="19558"/>
                    <a:pt x="21956523" y="25146"/>
                    <a:pt x="2194953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25303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10323" y="3053953"/>
            <a:ext cx="8016592" cy="7187165"/>
            <a:chOff x="0" y="0"/>
            <a:chExt cx="10688790" cy="95828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88828" cy="9582912"/>
            </a:xfrm>
            <a:custGeom>
              <a:avLst/>
              <a:gdLst/>
              <a:ahLst/>
              <a:cxnLst/>
              <a:rect l="l" t="t" r="r" b="b"/>
              <a:pathLst>
                <a:path w="10688828" h="9582912">
                  <a:moveTo>
                    <a:pt x="0" y="0"/>
                  </a:moveTo>
                  <a:lnTo>
                    <a:pt x="10688828" y="0"/>
                  </a:lnTo>
                  <a:lnTo>
                    <a:pt x="10688828" y="9582912"/>
                  </a:lnTo>
                  <a:lnTo>
                    <a:pt x="0" y="9582912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191530" y="3268494"/>
            <a:ext cx="7454189" cy="547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Dashboard 3: Department Analytics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1530" y="3901364"/>
            <a:ext cx="7454189" cy="903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3"/>
              </a:lnSpc>
            </a:pPr>
            <a:r>
              <a:rPr lang="en-US" sz="21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Compares department admissions, discharges, average length of stay, staffing levels, and efficiency scores.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86758" y="5033582"/>
            <a:ext cx="7463723" cy="4930654"/>
            <a:chOff x="0" y="0"/>
            <a:chExt cx="9951631" cy="65742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951593" cy="6574155"/>
            </a:xfrm>
            <a:custGeom>
              <a:avLst/>
              <a:gdLst/>
              <a:ahLst/>
              <a:cxnLst/>
              <a:rect l="l" t="t" r="r" b="b"/>
              <a:pathLst>
                <a:path w="9951593" h="6574155">
                  <a:moveTo>
                    <a:pt x="0" y="0"/>
                  </a:moveTo>
                  <a:lnTo>
                    <a:pt x="9951593" y="0"/>
                  </a:lnTo>
                  <a:lnTo>
                    <a:pt x="9951593" y="6574155"/>
                  </a:lnTo>
                  <a:lnTo>
                    <a:pt x="0" y="65741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759" r="-34759"/>
              </a:stretch>
            </a:blip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96292" y="5043116"/>
            <a:ext cx="7444654" cy="4911595"/>
            <a:chOff x="0" y="0"/>
            <a:chExt cx="9926206" cy="654879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926193" cy="6548755"/>
            </a:xfrm>
            <a:custGeom>
              <a:avLst/>
              <a:gdLst/>
              <a:ahLst/>
              <a:cxnLst/>
              <a:rect l="l" t="t" r="r" b="b"/>
              <a:pathLst>
                <a:path w="9926193" h="6548755">
                  <a:moveTo>
                    <a:pt x="0" y="0"/>
                  </a:moveTo>
                  <a:lnTo>
                    <a:pt x="9926193" y="0"/>
                  </a:lnTo>
                  <a:lnTo>
                    <a:pt x="9926193" y="6548755"/>
                  </a:lnTo>
                  <a:lnTo>
                    <a:pt x="0" y="65487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648" r="-34648"/>
              </a:stretch>
            </a:blip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9374924" y="3053953"/>
            <a:ext cx="8016592" cy="7187165"/>
            <a:chOff x="0" y="0"/>
            <a:chExt cx="10688790" cy="958288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88828" cy="9582912"/>
            </a:xfrm>
            <a:custGeom>
              <a:avLst/>
              <a:gdLst/>
              <a:ahLst/>
              <a:cxnLst/>
              <a:rect l="l" t="t" r="r" b="b"/>
              <a:pathLst>
                <a:path w="10688828" h="9582912">
                  <a:moveTo>
                    <a:pt x="0" y="0"/>
                  </a:moveTo>
                  <a:lnTo>
                    <a:pt x="10688828" y="0"/>
                  </a:lnTo>
                  <a:lnTo>
                    <a:pt x="10688828" y="9582912"/>
                  </a:lnTo>
                  <a:lnTo>
                    <a:pt x="0" y="9582912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9656131" y="3268494"/>
            <a:ext cx="7454189" cy="547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Dashboard 4: Resource Utilization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56131" y="3901364"/>
            <a:ext cx="7454189" cy="903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3"/>
              </a:lnSpc>
            </a:pPr>
            <a:r>
              <a:rPr lang="en-US" sz="21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Monitors bed occupancy rates, medical equipment maintenance, downtime logs, and nursing overtime shifts.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651359" y="5033582"/>
            <a:ext cx="7463723" cy="4931102"/>
            <a:chOff x="0" y="0"/>
            <a:chExt cx="9951631" cy="657480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951593" cy="6574790"/>
            </a:xfrm>
            <a:custGeom>
              <a:avLst/>
              <a:gdLst/>
              <a:ahLst/>
              <a:cxnLst/>
              <a:rect l="l" t="t" r="r" b="b"/>
              <a:pathLst>
                <a:path w="9951593" h="6574790">
                  <a:moveTo>
                    <a:pt x="0" y="0"/>
                  </a:moveTo>
                  <a:lnTo>
                    <a:pt x="9951593" y="0"/>
                  </a:lnTo>
                  <a:lnTo>
                    <a:pt x="9951593" y="6574790"/>
                  </a:lnTo>
                  <a:lnTo>
                    <a:pt x="0" y="65747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767" r="-34767"/>
              </a:stretch>
            </a:blip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9660893" y="5043116"/>
            <a:ext cx="7444654" cy="4912042"/>
            <a:chOff x="0" y="0"/>
            <a:chExt cx="9926206" cy="654939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926193" cy="6549390"/>
            </a:xfrm>
            <a:custGeom>
              <a:avLst/>
              <a:gdLst/>
              <a:ahLst/>
              <a:cxnLst/>
              <a:rect l="l" t="t" r="r" b="b"/>
              <a:pathLst>
                <a:path w="9926193" h="6549390">
                  <a:moveTo>
                    <a:pt x="0" y="0"/>
                  </a:moveTo>
                  <a:lnTo>
                    <a:pt x="9926193" y="0"/>
                  </a:lnTo>
                  <a:lnTo>
                    <a:pt x="9926193" y="6549390"/>
                  </a:lnTo>
                  <a:lnTo>
                    <a:pt x="0" y="65493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655" r="-34655"/>
              </a:stretch>
            </a:blip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7038530" y="9674990"/>
            <a:ext cx="1263310" cy="324993"/>
            <a:chOff x="0" y="0"/>
            <a:chExt cx="1684414" cy="43332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84420" cy="433329"/>
            </a:xfrm>
            <a:custGeom>
              <a:avLst/>
              <a:gdLst/>
              <a:ahLst/>
              <a:cxnLst/>
              <a:rect l="l" t="t" r="r" b="b"/>
              <a:pathLst>
                <a:path w="1684420" h="433329">
                  <a:moveTo>
                    <a:pt x="0" y="0"/>
                  </a:moveTo>
                  <a:lnTo>
                    <a:pt x="1684420" y="0"/>
                  </a:lnTo>
                  <a:lnTo>
                    <a:pt x="1684420" y="433329"/>
                  </a:lnTo>
                  <a:lnTo>
                    <a:pt x="0" y="433329"/>
                  </a:lnTo>
                  <a:close/>
                </a:path>
              </a:pathLst>
            </a:custGeom>
            <a:blipFill>
              <a:blip r:embed="rId4" cstate="print">
                <a:alphaModFix amt="0"/>
              </a:blip>
              <a:stretch>
                <a:fillRect t="-25741" b="-25740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76200"/>
              <a:ext cx="1684414" cy="5095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6"/>
                </a:lnSpc>
              </a:pPr>
              <a:r>
                <a:rPr lang="en-US" sz="1651" spc="297">
                  <a:solidFill>
                    <a:srgbClr val="25303A"/>
                  </a:solidFill>
                  <a:latin typeface="Arimo"/>
                  <a:ea typeface="Arimo"/>
                  <a:cs typeface="Arimo"/>
                  <a:sym typeface="Arimo"/>
                </a:rPr>
                <a:t>08</a:t>
              </a:r>
            </a:p>
          </p:txBody>
        </p:sp>
      </p:grp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357258" y="5214938"/>
            <a:ext cx="7143800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786942" y="5214938"/>
            <a:ext cx="7143800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5095" y="1543612"/>
            <a:ext cx="17386744" cy="53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801" spc="180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QUALITY ASSURANCE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5095" y="2250691"/>
            <a:ext cx="16471659" cy="630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4503" spc="-22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Milestone 4: Testing and Final Work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5095" y="3355867"/>
            <a:ext cx="16471659" cy="18917"/>
            <a:chOff x="0" y="0"/>
            <a:chExt cx="21962212" cy="252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111" cy="25148"/>
            </a:xfrm>
            <a:custGeom>
              <a:avLst/>
              <a:gdLst/>
              <a:ahLst/>
              <a:cxnLst/>
              <a:rect l="l" t="t" r="r" b="b"/>
              <a:pathLst>
                <a:path w="21962111" h="25148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21949538" y="0"/>
                  </a:lnTo>
                  <a:cubicBezTo>
                    <a:pt x="21956523" y="0"/>
                    <a:pt x="21962111" y="5588"/>
                    <a:pt x="21962111" y="12573"/>
                  </a:cubicBezTo>
                  <a:cubicBezTo>
                    <a:pt x="21962111" y="19558"/>
                    <a:pt x="21956523" y="25146"/>
                    <a:pt x="2194953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25303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10323" y="3806276"/>
            <a:ext cx="16481193" cy="4825946"/>
            <a:chOff x="0" y="0"/>
            <a:chExt cx="21974924" cy="64345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74938" cy="6434582"/>
            </a:xfrm>
            <a:custGeom>
              <a:avLst/>
              <a:gdLst/>
              <a:ahLst/>
              <a:cxnLst/>
              <a:rect l="l" t="t" r="r" b="b"/>
              <a:pathLst>
                <a:path w="21974938" h="6434582">
                  <a:moveTo>
                    <a:pt x="0" y="0"/>
                  </a:moveTo>
                  <a:lnTo>
                    <a:pt x="21974938" y="0"/>
                  </a:lnTo>
                  <a:lnTo>
                    <a:pt x="21974938" y="6434582"/>
                  </a:lnTo>
                  <a:lnTo>
                    <a:pt x="0" y="6434582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420301" y="4173331"/>
            <a:ext cx="15461247" cy="547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3"/>
              </a:lnSpc>
            </a:pPr>
            <a:r>
              <a:rPr lang="en-US" sz="2702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Testing and Documentation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415529" y="5006321"/>
            <a:ext cx="15470772" cy="806386"/>
            <a:chOff x="0" y="0"/>
            <a:chExt cx="20627696" cy="10751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627721" cy="1075182"/>
            </a:xfrm>
            <a:custGeom>
              <a:avLst/>
              <a:gdLst/>
              <a:ahLst/>
              <a:cxnLst/>
              <a:rect l="l" t="t" r="r" b="b"/>
              <a:pathLst>
                <a:path w="20627721" h="1075182">
                  <a:moveTo>
                    <a:pt x="0" y="0"/>
                  </a:moveTo>
                  <a:lnTo>
                    <a:pt x="20627721" y="0"/>
                  </a:lnTo>
                  <a:lnTo>
                    <a:pt x="20627721" y="1075182"/>
                  </a:lnTo>
                  <a:lnTo>
                    <a:pt x="0" y="1075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3826" b="-323826"/>
              </a:stretch>
            </a:blip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429826" y="5260715"/>
            <a:ext cx="533800" cy="533819"/>
            <a:chOff x="0" y="0"/>
            <a:chExt cx="711733" cy="711759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711708" cy="711708"/>
            </a:xfrm>
            <a:custGeom>
              <a:avLst/>
              <a:gdLst/>
              <a:ahLst/>
              <a:cxnLst/>
              <a:rect l="l" t="t" r="r" b="b"/>
              <a:pathLst>
                <a:path w="711708" h="711708">
                  <a:moveTo>
                    <a:pt x="0" y="0"/>
                  </a:moveTo>
                  <a:lnTo>
                    <a:pt x="711708" y="0"/>
                  </a:lnTo>
                  <a:lnTo>
                    <a:pt x="711708" y="711708"/>
                  </a:lnTo>
                  <a:lnTo>
                    <a:pt x="0" y="711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5" b="-7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2268664" y="5077892"/>
            <a:ext cx="14612874" cy="5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Checked KPI calculations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415529" y="5803173"/>
            <a:ext cx="15470772" cy="806386"/>
            <a:chOff x="0" y="0"/>
            <a:chExt cx="20627696" cy="107518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627721" cy="1075182"/>
            </a:xfrm>
            <a:custGeom>
              <a:avLst/>
              <a:gdLst/>
              <a:ahLst/>
              <a:cxnLst/>
              <a:rect l="l" t="t" r="r" b="b"/>
              <a:pathLst>
                <a:path w="20627721" h="1075182">
                  <a:moveTo>
                    <a:pt x="0" y="0"/>
                  </a:moveTo>
                  <a:lnTo>
                    <a:pt x="20627721" y="0"/>
                  </a:lnTo>
                  <a:lnTo>
                    <a:pt x="20627721" y="1075182"/>
                  </a:lnTo>
                  <a:lnTo>
                    <a:pt x="0" y="1075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3826" b="-323826"/>
              </a:stretch>
            </a:blip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429826" y="6057576"/>
            <a:ext cx="533800" cy="533819"/>
            <a:chOff x="0" y="0"/>
            <a:chExt cx="711733" cy="711759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711708" cy="711708"/>
            </a:xfrm>
            <a:custGeom>
              <a:avLst/>
              <a:gdLst/>
              <a:ahLst/>
              <a:cxnLst/>
              <a:rect l="l" t="t" r="r" b="b"/>
              <a:pathLst>
                <a:path w="711708" h="711708">
                  <a:moveTo>
                    <a:pt x="0" y="0"/>
                  </a:moveTo>
                  <a:lnTo>
                    <a:pt x="711708" y="0"/>
                  </a:lnTo>
                  <a:lnTo>
                    <a:pt x="711708" y="711708"/>
                  </a:lnTo>
                  <a:lnTo>
                    <a:pt x="0" y="711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r="-5" b="-7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2268664" y="5874744"/>
            <a:ext cx="14612874" cy="5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Tested filters, buttons and navigation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415529" y="6600025"/>
            <a:ext cx="15470772" cy="806386"/>
            <a:chOff x="0" y="0"/>
            <a:chExt cx="20627696" cy="107518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627721" cy="1075182"/>
            </a:xfrm>
            <a:custGeom>
              <a:avLst/>
              <a:gdLst/>
              <a:ahLst/>
              <a:cxnLst/>
              <a:rect l="l" t="t" r="r" b="b"/>
              <a:pathLst>
                <a:path w="20627721" h="1075182">
                  <a:moveTo>
                    <a:pt x="0" y="0"/>
                  </a:moveTo>
                  <a:lnTo>
                    <a:pt x="20627721" y="0"/>
                  </a:lnTo>
                  <a:lnTo>
                    <a:pt x="20627721" y="1075182"/>
                  </a:lnTo>
                  <a:lnTo>
                    <a:pt x="0" y="1075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3826" b="-323826"/>
              </a:stretch>
            </a:blip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429826" y="6854428"/>
            <a:ext cx="533800" cy="533819"/>
            <a:chOff x="0" y="0"/>
            <a:chExt cx="711733" cy="711759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711708" cy="711708"/>
            </a:xfrm>
            <a:custGeom>
              <a:avLst/>
              <a:gdLst/>
              <a:ahLst/>
              <a:cxnLst/>
              <a:rect l="l" t="t" r="r" b="b"/>
              <a:pathLst>
                <a:path w="711708" h="711708">
                  <a:moveTo>
                    <a:pt x="0" y="0"/>
                  </a:moveTo>
                  <a:lnTo>
                    <a:pt x="711708" y="0"/>
                  </a:lnTo>
                  <a:lnTo>
                    <a:pt x="711708" y="711708"/>
                  </a:lnTo>
                  <a:lnTo>
                    <a:pt x="0" y="711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-5" b="-7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2268664" y="6671596"/>
            <a:ext cx="14612874" cy="5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Checked dashboard interactions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15529" y="7396886"/>
            <a:ext cx="15470772" cy="806386"/>
            <a:chOff x="0" y="0"/>
            <a:chExt cx="20627696" cy="107518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627721" cy="1075182"/>
            </a:xfrm>
            <a:custGeom>
              <a:avLst/>
              <a:gdLst/>
              <a:ahLst/>
              <a:cxnLst/>
              <a:rect l="l" t="t" r="r" b="b"/>
              <a:pathLst>
                <a:path w="20627721" h="1075182">
                  <a:moveTo>
                    <a:pt x="0" y="0"/>
                  </a:moveTo>
                  <a:lnTo>
                    <a:pt x="20627721" y="0"/>
                  </a:lnTo>
                  <a:lnTo>
                    <a:pt x="20627721" y="1075182"/>
                  </a:lnTo>
                  <a:lnTo>
                    <a:pt x="0" y="10751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3826" b="-323826"/>
              </a:stretch>
            </a:blip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429826" y="7651280"/>
            <a:ext cx="533800" cy="533819"/>
            <a:chOff x="0" y="0"/>
            <a:chExt cx="711733" cy="711759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711708" cy="711708"/>
            </a:xfrm>
            <a:custGeom>
              <a:avLst/>
              <a:gdLst/>
              <a:ahLst/>
              <a:cxnLst/>
              <a:rect l="l" t="t" r="r" b="b"/>
              <a:pathLst>
                <a:path w="711708" h="711708">
                  <a:moveTo>
                    <a:pt x="0" y="0"/>
                  </a:moveTo>
                  <a:lnTo>
                    <a:pt x="711708" y="0"/>
                  </a:lnTo>
                  <a:lnTo>
                    <a:pt x="711708" y="711708"/>
                  </a:lnTo>
                  <a:lnTo>
                    <a:pt x="0" y="711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r="-5" b="-7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2268664" y="7468448"/>
            <a:ext cx="14612874" cy="5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Prepared QA checklist and testing report; prepared project documentation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7038530" y="9674990"/>
            <a:ext cx="1263310" cy="324993"/>
            <a:chOff x="0" y="0"/>
            <a:chExt cx="1684414" cy="43332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84420" cy="433329"/>
            </a:xfrm>
            <a:custGeom>
              <a:avLst/>
              <a:gdLst/>
              <a:ahLst/>
              <a:cxnLst/>
              <a:rect l="l" t="t" r="r" b="b"/>
              <a:pathLst>
                <a:path w="1684420" h="433329">
                  <a:moveTo>
                    <a:pt x="0" y="0"/>
                  </a:moveTo>
                  <a:lnTo>
                    <a:pt x="1684420" y="0"/>
                  </a:lnTo>
                  <a:lnTo>
                    <a:pt x="1684420" y="433329"/>
                  </a:lnTo>
                  <a:lnTo>
                    <a:pt x="0" y="433329"/>
                  </a:lnTo>
                  <a:close/>
                </a:path>
              </a:pathLst>
            </a:custGeom>
            <a:blipFill>
              <a:blip r:embed="rId8" cstate="print">
                <a:alphaModFix amt="0"/>
              </a:blip>
              <a:stretch>
                <a:fillRect t="-25741" b="-25740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76200"/>
              <a:ext cx="1684414" cy="5095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6"/>
                </a:lnSpc>
              </a:pPr>
              <a:r>
                <a:rPr lang="en-US" sz="1651" spc="297">
                  <a:solidFill>
                    <a:srgbClr val="25303A"/>
                  </a:solidFill>
                  <a:latin typeface="Arimo"/>
                  <a:ea typeface="Arimo"/>
                  <a:cs typeface="Arimo"/>
                  <a:sym typeface="Arimo"/>
                </a:rPr>
                <a:t>09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10323" y="1520428"/>
            <a:ext cx="11066897" cy="8066684"/>
            <a:chOff x="0" y="0"/>
            <a:chExt cx="14755863" cy="1075557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755876" cy="10755630"/>
            </a:xfrm>
            <a:custGeom>
              <a:avLst/>
              <a:gdLst/>
              <a:ahLst/>
              <a:cxnLst/>
              <a:rect l="l" t="t" r="r" b="b"/>
              <a:pathLst>
                <a:path w="14755876" h="10755630">
                  <a:moveTo>
                    <a:pt x="0" y="61087"/>
                  </a:moveTo>
                  <a:cubicBezTo>
                    <a:pt x="0" y="27305"/>
                    <a:pt x="27305" y="0"/>
                    <a:pt x="61087" y="0"/>
                  </a:cubicBezTo>
                  <a:lnTo>
                    <a:pt x="14694788" y="0"/>
                  </a:lnTo>
                  <a:cubicBezTo>
                    <a:pt x="14728571" y="0"/>
                    <a:pt x="14755876" y="27305"/>
                    <a:pt x="14755876" y="61087"/>
                  </a:cubicBezTo>
                  <a:lnTo>
                    <a:pt x="14755876" y="10694543"/>
                  </a:lnTo>
                  <a:cubicBezTo>
                    <a:pt x="14755876" y="10728325"/>
                    <a:pt x="14728571" y="10755630"/>
                    <a:pt x="14694788" y="10755630"/>
                  </a:cubicBezTo>
                  <a:lnTo>
                    <a:pt x="61087" y="10755630"/>
                  </a:lnTo>
                  <a:cubicBezTo>
                    <a:pt x="27305" y="10755630"/>
                    <a:pt x="0" y="10728325"/>
                    <a:pt x="0" y="10694543"/>
                  </a:cubicBez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25303A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382173" y="1896942"/>
            <a:ext cx="10123208" cy="792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6"/>
              </a:lnSpc>
            </a:pPr>
            <a:r>
              <a:rPr lang="en-US" sz="5704" spc="-28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Conclusion and Future 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2173" y="2994308"/>
            <a:ext cx="10123208" cy="1040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8"/>
              </a:lnSpc>
            </a:pPr>
            <a:r>
              <a:rPr lang="en-US" sz="24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MedTrack_DV converts hospital data into simple, interactive dashboards for understanding hospital operations.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82173" y="4375842"/>
            <a:ext cx="10123208" cy="18917"/>
            <a:chOff x="0" y="0"/>
            <a:chExt cx="13497611" cy="252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497561" cy="25148"/>
            </a:xfrm>
            <a:custGeom>
              <a:avLst/>
              <a:gdLst/>
              <a:ahLst/>
              <a:cxnLst/>
              <a:rect l="l" t="t" r="r" b="b"/>
              <a:pathLst>
                <a:path w="13497561" h="25148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13484988" y="0"/>
                  </a:lnTo>
                  <a:cubicBezTo>
                    <a:pt x="13491973" y="0"/>
                    <a:pt x="13497561" y="5588"/>
                    <a:pt x="13497561" y="12573"/>
                  </a:cubicBezTo>
                  <a:cubicBezTo>
                    <a:pt x="13497561" y="19558"/>
                    <a:pt x="13491973" y="25146"/>
                    <a:pt x="1348498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25303A">
                <a:alpha val="3922"/>
              </a:srgbClr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382173" y="5164645"/>
            <a:ext cx="10123208" cy="630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5"/>
              </a:lnSpc>
            </a:pPr>
            <a:r>
              <a:rPr lang="en-US" sz="4503" spc="-22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Future Work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82173" y="6193117"/>
            <a:ext cx="533800" cy="533819"/>
            <a:chOff x="0" y="0"/>
            <a:chExt cx="711733" cy="711759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711708" cy="711708"/>
            </a:xfrm>
            <a:custGeom>
              <a:avLst/>
              <a:gdLst/>
              <a:ahLst/>
              <a:cxnLst/>
              <a:rect l="l" t="t" r="r" b="b"/>
              <a:pathLst>
                <a:path w="711708" h="711708">
                  <a:moveTo>
                    <a:pt x="0" y="0"/>
                  </a:moveTo>
                  <a:lnTo>
                    <a:pt x="711708" y="0"/>
                  </a:lnTo>
                  <a:lnTo>
                    <a:pt x="711708" y="711708"/>
                  </a:lnTo>
                  <a:lnTo>
                    <a:pt x="0" y="711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5" b="-7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2221001" y="6176934"/>
            <a:ext cx="9284370" cy="489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3"/>
              </a:lnSpc>
            </a:pPr>
            <a:r>
              <a:rPr lang="en-US" sz="21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Real-time hospital data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82173" y="6721116"/>
            <a:ext cx="533800" cy="533819"/>
            <a:chOff x="0" y="0"/>
            <a:chExt cx="711733" cy="711759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711708" cy="711708"/>
            </a:xfrm>
            <a:custGeom>
              <a:avLst/>
              <a:gdLst/>
              <a:ahLst/>
              <a:cxnLst/>
              <a:rect l="l" t="t" r="r" b="b"/>
              <a:pathLst>
                <a:path w="711708" h="711708">
                  <a:moveTo>
                    <a:pt x="0" y="0"/>
                  </a:moveTo>
                  <a:lnTo>
                    <a:pt x="711708" y="0"/>
                  </a:lnTo>
                  <a:lnTo>
                    <a:pt x="711708" y="711708"/>
                  </a:lnTo>
                  <a:lnTo>
                    <a:pt x="0" y="711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r="-5" b="-7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2221001" y="6704943"/>
            <a:ext cx="9284370" cy="489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3"/>
              </a:lnSpc>
            </a:pPr>
            <a:r>
              <a:rPr lang="en-US" sz="21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Bed usage prediction; Resource prediction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382173" y="7249125"/>
            <a:ext cx="533800" cy="533819"/>
            <a:chOff x="0" y="0"/>
            <a:chExt cx="711733" cy="711759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711708" cy="711708"/>
            </a:xfrm>
            <a:custGeom>
              <a:avLst/>
              <a:gdLst/>
              <a:ahLst/>
              <a:cxnLst/>
              <a:rect l="l" t="t" r="r" b="b"/>
              <a:pathLst>
                <a:path w="711708" h="711708">
                  <a:moveTo>
                    <a:pt x="0" y="0"/>
                  </a:moveTo>
                  <a:lnTo>
                    <a:pt x="711708" y="0"/>
                  </a:lnTo>
                  <a:lnTo>
                    <a:pt x="711708" y="711708"/>
                  </a:lnTo>
                  <a:lnTo>
                    <a:pt x="0" y="711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-5" b="-7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2221001" y="7232952"/>
            <a:ext cx="9284370" cy="489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3"/>
              </a:lnSpc>
            </a:pPr>
            <a:r>
              <a:rPr lang="en-US" sz="21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Patient demand prediction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382173" y="7777134"/>
            <a:ext cx="533800" cy="533819"/>
            <a:chOff x="0" y="0"/>
            <a:chExt cx="711733" cy="711759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711708" cy="711708"/>
            </a:xfrm>
            <a:custGeom>
              <a:avLst/>
              <a:gdLst/>
              <a:ahLst/>
              <a:cxnLst/>
              <a:rect l="l" t="t" r="r" b="b"/>
              <a:pathLst>
                <a:path w="711708" h="711708">
                  <a:moveTo>
                    <a:pt x="0" y="0"/>
                  </a:moveTo>
                  <a:lnTo>
                    <a:pt x="711708" y="0"/>
                  </a:lnTo>
                  <a:lnTo>
                    <a:pt x="711708" y="711708"/>
                  </a:lnTo>
                  <a:lnTo>
                    <a:pt x="0" y="711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r="-5" b="-7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2221001" y="7760960"/>
            <a:ext cx="9284370" cy="489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3"/>
              </a:lnSpc>
            </a:pPr>
            <a:r>
              <a:rPr lang="en-US" sz="2101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Automated alerts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82173" y="8553431"/>
            <a:ext cx="10123208" cy="18917"/>
            <a:chOff x="0" y="0"/>
            <a:chExt cx="13497611" cy="2522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497561" cy="25148"/>
            </a:xfrm>
            <a:custGeom>
              <a:avLst/>
              <a:gdLst/>
              <a:ahLst/>
              <a:cxnLst/>
              <a:rect l="l" t="t" r="r" b="b"/>
              <a:pathLst>
                <a:path w="13497561" h="25148">
                  <a:moveTo>
                    <a:pt x="0" y="12573"/>
                  </a:moveTo>
                  <a:cubicBezTo>
                    <a:pt x="0" y="5588"/>
                    <a:pt x="5588" y="0"/>
                    <a:pt x="12573" y="0"/>
                  </a:cubicBezTo>
                  <a:lnTo>
                    <a:pt x="13484988" y="0"/>
                  </a:lnTo>
                  <a:cubicBezTo>
                    <a:pt x="13491973" y="0"/>
                    <a:pt x="13497561" y="5588"/>
                    <a:pt x="13497561" y="12573"/>
                  </a:cubicBezTo>
                  <a:cubicBezTo>
                    <a:pt x="13497561" y="19558"/>
                    <a:pt x="13491973" y="25146"/>
                    <a:pt x="13484988" y="25146"/>
                  </a:cubicBezTo>
                  <a:lnTo>
                    <a:pt x="12573" y="25146"/>
                  </a:lnTo>
                  <a:cubicBezTo>
                    <a:pt x="5588" y="25273"/>
                    <a:pt x="0" y="19558"/>
                    <a:pt x="0" y="12573"/>
                  </a:cubicBezTo>
                  <a:close/>
                </a:path>
              </a:pathLst>
            </a:custGeom>
            <a:solidFill>
              <a:srgbClr val="57646F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382173" y="8837009"/>
            <a:ext cx="1779546" cy="392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3002" spc="-30">
                <a:solidFill>
                  <a:srgbClr val="25303A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19715" y="8730310"/>
            <a:ext cx="1285656" cy="491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 spc="39">
                <a:solidFill>
                  <a:srgbClr val="57646F"/>
                </a:solidFill>
                <a:latin typeface="Arimo"/>
                <a:ea typeface="Arimo"/>
                <a:cs typeface="Arimo"/>
                <a:sym typeface="Arimo"/>
              </a:rPr>
              <a:t>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458</Words>
  <Application>Microsoft Office PowerPoint</Application>
  <PresentationFormat>Custom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Arimo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MedTrackDV_PPT.pptx</dc:title>
  <cp:lastModifiedBy>HP</cp:lastModifiedBy>
  <cp:revision>5</cp:revision>
  <dcterms:created xsi:type="dcterms:W3CDTF">2006-08-16T00:00:00Z</dcterms:created>
  <dcterms:modified xsi:type="dcterms:W3CDTF">2026-10-06T13:09:17Z</dcterms:modified>
  <dc:identifier>DAHXElYIF7o</dc:identifier>
</cp:coreProperties>
</file>