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611880" cy="6858000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685800"/>
            <a:ext cx="1234440" cy="1234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508760"/>
            <a:ext cx="749808" cy="749808"/>
          </a:xfrm>
          <a:prstGeom prst="ellipse">
            <a:avLst/>
          </a:prstGeom>
          <a:solidFill>
            <a:srgbClr val="57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2423160"/>
            <a:ext cx="960120" cy="960120"/>
          </a:xfrm>
          <a:prstGeom prst="ellipse">
            <a:avLst/>
          </a:prstGeom>
          <a:solidFill>
            <a:srgbClr val="33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0" y="3337560"/>
            <a:ext cx="1325880" cy="132588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0" y="4617720"/>
            <a:ext cx="658368" cy="658368"/>
          </a:xfrm>
          <a:prstGeom prst="ellipse">
            <a:avLst/>
          </a:prstGeom>
          <a:solidFill>
            <a:srgbClr val="57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5166360"/>
            <a:ext cx="914400" cy="914400"/>
          </a:xfrm>
          <a:prstGeom prst="ellipse">
            <a:avLst/>
          </a:prstGeom>
          <a:solidFill>
            <a:srgbClr val="33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7223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57C4CD"/>
                </a:solidFill>
                <a:latin typeface="Aptos"/>
              </a:rPr>
              <a:t>FINAL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7498079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MedTrack</a:t>
            </a:r>
          </a:p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Healthcare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800"/>
            <a:ext cx="722376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D7E6F0"/>
                </a:solidFill>
                <a:latin typeface="Aptos"/>
              </a:rPr>
              <a:t>From data preparation to KPI validation and interactive dashboards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160520"/>
            <a:ext cx="1572768" cy="384048"/>
          </a:xfrm>
          <a:prstGeom prst="roundRect">
            <a:avLst/>
          </a:prstGeom>
          <a:solidFill>
            <a:srgbClr val="1A3D5F"/>
          </a:solidFill>
          <a:ln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42816"/>
            <a:ext cx="1499616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MILESTONE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4160520"/>
            <a:ext cx="1572768" cy="384048"/>
          </a:xfrm>
          <a:prstGeom prst="roundRect">
            <a:avLst/>
          </a:prstGeom>
          <a:solidFill>
            <a:srgbClr val="1A3D5F"/>
          </a:solidFill>
          <a:ln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3744" y="4242816"/>
            <a:ext cx="1499616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MILESTONE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4160520"/>
            <a:ext cx="1572768" cy="384048"/>
          </a:xfrm>
          <a:prstGeom prst="roundRect">
            <a:avLst/>
          </a:prstGeom>
          <a:solidFill>
            <a:srgbClr val="1A3D5F"/>
          </a:solidFill>
          <a:ln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242816"/>
            <a:ext cx="1499616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MILESTONE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160520"/>
            <a:ext cx="1572768" cy="384048"/>
          </a:xfrm>
          <a:prstGeom prst="roundRect">
            <a:avLst/>
          </a:prstGeom>
          <a:solidFill>
            <a:srgbClr val="1A3D5F"/>
          </a:solidFill>
          <a:ln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4242816"/>
            <a:ext cx="1499616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MILESTONE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257800"/>
            <a:ext cx="71323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Presented by: Devansh Kapasiya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650992"/>
            <a:ext cx="71323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D7E6F0"/>
                </a:solidFill>
                <a:latin typeface="Aptos"/>
              </a:rPr>
              <a:t>Project focus: Hospital operations, patient flow and resource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73952"/>
            <a:ext cx="6858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B9CDDC"/>
                </a:solidFill>
                <a:latin typeface="Aptos"/>
              </a:rPr>
              <a:t>MedTrack Healthcare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A connected analytics view of hospital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874519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63624"/>
            <a:ext cx="317296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3154680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Turn hospital datasets into clean, connected tables, standard KPIs and interactive Tableau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874519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17296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Data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84248"/>
            <a:ext cx="3154680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Hospital admissions, patient details, departments, wards, beds, billing and resource-utilization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874519"/>
          </a:xfrm>
          <a:prstGeom prst="rect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17296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Business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84248"/>
            <a:ext cx="3154680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Help users monitor patient volume, department activity, bed capacity and resource-demand patterns.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67328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02747"/>
                </a:solidFill>
                <a:latin typeface="Aptos"/>
              </a:rPr>
              <a:t>Four connected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24528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224528"/>
            <a:ext cx="73152" cy="14173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370832"/>
            <a:ext cx="225856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01  Hospital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791456"/>
            <a:ext cx="224028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High-level hospital KPIs and trends.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4224528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4224528"/>
            <a:ext cx="73152" cy="1417320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8" y="4370832"/>
            <a:ext cx="225856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02  Patient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4791456"/>
            <a:ext cx="224028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Admissions, discharges and patient patterns.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224528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224528"/>
            <a:ext cx="73152" cy="1417320"/>
          </a:xfrm>
          <a:prstGeom prst="rect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370832"/>
            <a:ext cx="225856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03  Department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791456"/>
            <a:ext cx="224028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Department-level operational comparison.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4224528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4224528"/>
            <a:ext cx="73152" cy="141732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0888" y="4370832"/>
            <a:ext cx="198424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04  Resource Utilization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4791456"/>
            <a:ext cx="196596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Beds, capacity, staff and drug shortages.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Project Journey — Four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My assigned responsibilities across the project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1490472"/>
            <a:ext cx="530352" cy="530352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27632"/>
            <a:ext cx="512064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17320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02747"/>
                </a:solidFill>
                <a:latin typeface="Aptos"/>
              </a:rPr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435608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009CA6"/>
                </a:solidFill>
                <a:latin typeface="Aptos"/>
              </a:rPr>
              <a:t>Milestone 1 — Member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417320"/>
            <a:ext cx="47548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73746"/>
                </a:solidFill>
                <a:latin typeface="Aptos"/>
              </a:rPr>
              <a:t>Prepared four final analytical tables and validated key relationships.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2633472"/>
            <a:ext cx="530352" cy="530352"/>
          </a:xfrm>
          <a:prstGeom prst="ellipse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70632"/>
            <a:ext cx="512064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60320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02747"/>
                </a:solidFill>
                <a:latin typeface="Aptos"/>
              </a:rPr>
              <a:t>KPI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78608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F5B96"/>
                </a:solidFill>
                <a:latin typeface="Aptos"/>
              </a:rPr>
              <a:t>Milestone 2 — Member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60320"/>
            <a:ext cx="47548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73746"/>
                </a:solidFill>
                <a:latin typeface="Aptos"/>
              </a:rPr>
              <a:t>Calculated and validated Total Admissions and Occupancy Rate.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3776472"/>
            <a:ext cx="530352" cy="530352"/>
          </a:xfrm>
          <a:prstGeom prst="ellipse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913632"/>
            <a:ext cx="512064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03320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02747"/>
                </a:solidFill>
                <a:latin typeface="Aptos"/>
              </a:rPr>
              <a:t>Dashboard interactions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721607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8973E"/>
                </a:solidFill>
                <a:latin typeface="Aptos"/>
              </a:rPr>
              <a:t>Milestone 3 — Member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03320"/>
            <a:ext cx="47548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73746"/>
                </a:solidFill>
                <a:latin typeface="Aptos"/>
              </a:rPr>
              <a:t>Checked shared filters, navigation and cross-dashboard interactions.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" y="4919472"/>
            <a:ext cx="530352" cy="530352"/>
          </a:xfrm>
          <a:prstGeom prst="ellipse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056632"/>
            <a:ext cx="512064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46320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02747"/>
                </a:solidFill>
                <a:latin typeface="Aptos"/>
              </a:rPr>
              <a:t>Dashboard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864607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D855E"/>
                </a:solidFill>
                <a:latin typeface="Aptos"/>
              </a:rPr>
              <a:t>Milestone 4 — Member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846320"/>
            <a:ext cx="47548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73746"/>
                </a:solidFill>
                <a:latin typeface="Aptos"/>
              </a:rPr>
              <a:t>Tested Resource Utilization KPIs, filters, actions and chart consistency.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MILESTONE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Milestone 1 — Final Analytical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My role: Member 7 | Table preparation and relationship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02747"/>
                </a:solidFill>
                <a:latin typeface="Aptos"/>
              </a:rPr>
              <a:t>What I worked on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947672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9194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73746"/>
                </a:solidFill>
                <a:latin typeface="Aptos"/>
              </a:rPr>
              <a:t>Prepared the Hospital Overview table.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432303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9194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73746"/>
                </a:solidFill>
                <a:latin typeface="Aptos"/>
              </a:rPr>
              <a:t>Prepared the Patient Flow table.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916936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49194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73746"/>
                </a:solidFill>
                <a:latin typeface="Aptos"/>
              </a:rPr>
              <a:t>Prepared the Department Analytics table.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401568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00984"/>
            <a:ext cx="49194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73746"/>
                </a:solidFill>
                <a:latin typeface="Aptos"/>
              </a:rPr>
              <a:t>Prepared the Resource Utilization table.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886200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85616"/>
            <a:ext cx="49194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73746"/>
                </a:solidFill>
                <a:latin typeface="Aptos"/>
              </a:rPr>
              <a:t>Checked row counts, unique IDs and key relationships before dashboard development.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572768"/>
            <a:ext cx="16002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1682495"/>
            <a:ext cx="138074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5D7080"/>
                </a:solidFill>
                <a:latin typeface="Aptos"/>
              </a:rPr>
              <a:t>ADMISSIONS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911095"/>
            <a:ext cx="138074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 i="0">
                <a:solidFill>
                  <a:srgbClr val="009CA6"/>
                </a:solidFill>
                <a:latin typeface="Aptos"/>
              </a:rPr>
              <a:t>45,000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40864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 i="0">
                <a:solidFill>
                  <a:srgbClr val="5D7080"/>
                </a:solidFill>
                <a:latin typeface="Aptos"/>
              </a:rPr>
              <a:t>Admission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1572768"/>
            <a:ext cx="16002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82495"/>
            <a:ext cx="138074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5D7080"/>
                </a:solidFill>
                <a:latin typeface="Aptos"/>
              </a:rPr>
              <a:t>FINAL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1911095"/>
            <a:ext cx="138074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 i="0">
                <a:solidFill>
                  <a:srgbClr val="009CA6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2340864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 i="0">
                <a:solidFill>
                  <a:srgbClr val="5D7080"/>
                </a:solidFill>
                <a:latin typeface="Aptos"/>
              </a:rPr>
              <a:t>Prepared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4936" y="1572768"/>
            <a:ext cx="16002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4663" y="1682495"/>
            <a:ext cx="138074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5D7080"/>
                </a:solidFill>
                <a:latin typeface="Aptos"/>
              </a:rPr>
              <a:t>DUPLICATE 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4663" y="1911095"/>
            <a:ext cx="138074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 i="0">
                <a:solidFill>
                  <a:srgbClr val="009CA6"/>
                </a:solidFill>
                <a:latin typeface="Apto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340864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 i="0">
                <a:solidFill>
                  <a:srgbClr val="5D7080"/>
                </a:solidFill>
                <a:latin typeface="Aptos"/>
              </a:rPr>
              <a:t>Admission IDs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97180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971800"/>
            <a:ext cx="73152" cy="114300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118104"/>
            <a:ext cx="486460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Relationship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538728"/>
            <a:ext cx="4846320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Admission links to patient, department, ward and bed were checked; billing links to admission and ward links to department were also validated.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34340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343400"/>
            <a:ext cx="73152" cy="1143000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489704"/>
            <a:ext cx="486460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910328"/>
            <a:ext cx="4846320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Four analysis-ready tables were exported for use in the Tableau dashboards.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715000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9CA6"/>
                </a:solidFill>
                <a:latin typeface="Aptos"/>
              </a:rPr>
              <a:t>Key contribution: creating a reliable bridge between cleaned source data and dashboard analysis.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MILESTONE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Milestone 2 — KPI Calculation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My role: Member 2 | Two assigned 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44752"/>
            <a:ext cx="73152" cy="1874519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591056"/>
            <a:ext cx="500176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02747"/>
                </a:solidFill>
                <a:latin typeface="Aptos"/>
              </a:rPr>
              <a:t>KPI 1 — Total Admissions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4983479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73746"/>
                </a:solidFill>
                <a:latin typeface="Aptos"/>
              </a:rPr>
              <a:t>Definition: total number of distinct admission records.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73746"/>
                </a:solidFill>
                <a:latin typeface="Aptos"/>
              </a:rPr>
              <a:t>Formula: COUNTD(admission_id)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73746"/>
                </a:solidFill>
                <a:latin typeface="Aptos"/>
              </a:rPr>
              <a:t>Validated result: 45,000 admissions.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44752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444752"/>
            <a:ext cx="73152" cy="1874519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500176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02747"/>
                </a:solidFill>
                <a:latin typeface="Aptos"/>
              </a:rPr>
              <a:t>KPI 2 — Occupancy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983479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73746"/>
                </a:solidFill>
                <a:latin typeface="Aptos"/>
              </a:rPr>
              <a:t>Method used: average daily occupied beds ÷ total hospital beds × 100.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73746"/>
                </a:solidFill>
                <a:latin typeface="Aptos"/>
              </a:rPr>
              <a:t>Calculation: 199.13 ÷ 415 × 100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73746"/>
                </a:solidFill>
                <a:latin typeface="Aptos"/>
              </a:rPr>
              <a:t>Result: 47.98% average occupancy over the study period.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67328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02747"/>
                </a:solidFill>
                <a:latin typeface="Aptos"/>
              </a:rPr>
              <a:t>Validation approach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4325112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24528"/>
            <a:ext cx="1022299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73746"/>
                </a:solidFill>
                <a:latin typeface="Aptos"/>
              </a:rPr>
              <a:t>Compared the number of admission rows with distinct admission IDs.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809744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1022299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73746"/>
                </a:solidFill>
                <a:latin typeface="Aptos"/>
              </a:rPr>
              <a:t>Checked that the Hospital Overview table retained all 45,000 unique admissions.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5294376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93792"/>
            <a:ext cx="1022299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73746"/>
                </a:solidFill>
                <a:latin typeface="Aptos"/>
              </a:rPr>
              <a:t>Used the available occupied-bed and total-bed fields to derive the occupancy estimate and recorded the methodology.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6070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9CA6"/>
                </a:solidFill>
                <a:latin typeface="Aptos"/>
              </a:rPr>
              <a:t>Deliverables: KPI calculations, validation checks, Jupyter/Pandas work and Excel outputs.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MILESTONE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Milestone 3 — Dashboard Interactions &amp;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My role: Member 6 | Cross-dashboard usability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07899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1. Common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4800600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Check Hospital, Department, Year and Month filters where supported by the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417320"/>
            <a:ext cx="73152" cy="1078992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1563624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2.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984248"/>
            <a:ext cx="4800600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Verify that dashboard navigation links open the correct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73152" cy="1078992"/>
          </a:xfrm>
          <a:prstGeom prst="rect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80944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3. Dashboard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01568"/>
            <a:ext cx="4800600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Check filter actions, highlight actions and Go to Sheet/navigation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83464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834640"/>
            <a:ext cx="73152" cy="1078992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2980944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4. Cross-dashboard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3401568"/>
            <a:ext cx="4800600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Confirm that applicable selections update the relevant views consistently.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2519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40" y="4251960"/>
            <a:ext cx="73152" cy="107899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4398264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5. Interaction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21608" y="4818888"/>
            <a:ext cx="4800600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Identify missing fields or mismatched filter dimensions before final integration.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9CA6"/>
                </a:solidFill>
                <a:latin typeface="Aptos"/>
              </a:rPr>
              <a:t>Goal: make the four dashboards easier to navigate and more consistent for users.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DASHBOARD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Dashboard 1 — Hospital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A high-level view of hospital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716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02747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106984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73746"/>
                </a:solidFill>
                <a:latin typeface="Aptos"/>
              </a:rPr>
              <a:t>This dashboard summarizes overall hospital activity so users can quickly understand patient volume, capacity and major operational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697480"/>
            <a:ext cx="3456432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697480"/>
            <a:ext cx="73152" cy="1060704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Admissions &amp; Discharges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3090672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Compare patient entries and exits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697480"/>
            <a:ext cx="3456432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697480"/>
            <a:ext cx="73152" cy="1060704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84378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Occupancy &amp; Bed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264408"/>
            <a:ext cx="3090672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Understand how bed capacity is being used.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697480"/>
            <a:ext cx="3456432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2697480"/>
            <a:ext cx="73152" cy="1060704"/>
          </a:xfrm>
          <a:prstGeom prst="rect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84378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Average Length of Stay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264408"/>
            <a:ext cx="3090672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Review typical patient stay duration.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50791"/>
            <a:ext cx="3456432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50791"/>
            <a:ext cx="73152" cy="1060704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97096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Readmissions &amp; Disease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3090672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Explore repeat admissions and disease patterns.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050791"/>
            <a:ext cx="3456432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050791"/>
            <a:ext cx="73152" cy="1060704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4197096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Admissions by Department/Type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4617720"/>
            <a:ext cx="3090672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Compare patient demand across departments and admission categories.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50992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9CA6"/>
                </a:solidFill>
                <a:latin typeface="Aptos"/>
              </a:rPr>
              <a:t>How to explain it: “It gives management one place to review the hospital’s overall performance and major trends.”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DASHBOARD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Dashboard 2 — Patient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Understanding patient activity and diagnostic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444752"/>
            <a:ext cx="73152" cy="123444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495604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Admissions, Discharges &amp; Patient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937759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Shows patient activity and how volume changes across time or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44752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444752"/>
            <a:ext cx="73152" cy="1234440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495604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Peak Load by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937759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Helps identify days with higher patient activity and workload.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260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926080"/>
            <a:ext cx="73152" cy="1234440"/>
          </a:xfrm>
          <a:prstGeom prst="rect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95604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Length of Stay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93008"/>
            <a:ext cx="4937759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Shows how patient stays are spread across duration ranges.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9260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2926080"/>
            <a:ext cx="73152" cy="123444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72384"/>
            <a:ext cx="495604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Diagnostic Coverage &amp;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93008"/>
            <a:ext cx="4937759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Summarizes diagnostic records and test outcomes by category.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02747"/>
                </a:solidFill>
                <a:latin typeface="Aptos"/>
              </a:rPr>
              <a:t>Interaction examples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221224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20640"/>
            <a:ext cx="1031443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Use day and department filters to focus the view.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705856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605272"/>
            <a:ext cx="1031443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Select multiple departments when comparing patient activity.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DASHBOARD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Dashboard 3 — Department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Comparing department-level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34564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444752"/>
            <a:ext cx="73152" cy="137160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Department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90672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Consolidates important department-level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44752"/>
            <a:ext cx="34564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44752"/>
            <a:ext cx="73152" cy="1371600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91056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Efficiency &amp; 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090672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Compares calculated efficiency and occupancy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444752"/>
            <a:ext cx="34564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444752"/>
            <a:ext cx="73152" cy="1371600"/>
          </a:xfrm>
          <a:prstGeom prst="rect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91056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Length of Stay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090672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Shows differences in patient stay duration by department.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127248"/>
            <a:ext cx="34564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127248"/>
            <a:ext cx="73152" cy="137160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73552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Revenue by 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94176"/>
            <a:ext cx="3090672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Provides a financial view of department activity.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127248"/>
            <a:ext cx="34564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127248"/>
            <a:ext cx="73152" cy="137160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273552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Diagnostic Test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94176"/>
            <a:ext cx="3090672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Highlights diagnostic workload across departments.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3127248"/>
            <a:ext cx="34564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1" y="3127248"/>
            <a:ext cx="73152" cy="1371600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273552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02747"/>
                </a:solidFill>
                <a:latin typeface="Aptos"/>
              </a:rPr>
              <a:t>Department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94176"/>
            <a:ext cx="3090672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73746"/>
                </a:solidFill>
                <a:latin typeface="Aptos"/>
              </a:rPr>
              <a:t>May include admissions, discharges, beds and readmission measures.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6070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9CA6"/>
                </a:solidFill>
                <a:latin typeface="Aptos"/>
              </a:rPr>
              <a:t>Why it matters: department-level comparison helps teams identify differences in demand, capacity and operational patterns. Interpret composite efficiency scores using their documented formula.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DASHBOARD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Dashboard 4 — Resource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Monitoring capacity, staffing and supply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658368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73152" cy="676656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9616"/>
            <a:ext cx="623620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Bed Utilization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60807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73746"/>
                </a:solidFill>
                <a:latin typeface="Aptos"/>
              </a:rPr>
              <a:t>Tracks changes in bed usage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85416"/>
            <a:ext cx="658368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85416"/>
            <a:ext cx="73152" cy="676656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623620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Capacity vs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33472"/>
            <a:ext cx="60807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73746"/>
                </a:solidFill>
                <a:latin typeface="Aptos"/>
              </a:rPr>
              <a:t>Compares available capacity with demand/usage.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658368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73152" cy="676656"/>
          </a:xfrm>
          <a:prstGeom prst="rect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63824"/>
            <a:ext cx="623620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Staff Allocation by Department &amp;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65576"/>
            <a:ext cx="60807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73746"/>
                </a:solidFill>
                <a:latin typeface="Aptos"/>
              </a:rPr>
              <a:t>Shows staff distribution across departments and shifts.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9624"/>
            <a:ext cx="658368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9624"/>
            <a:ext cx="73152" cy="676656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995928"/>
            <a:ext cx="623620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Shortage Rate by Drug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97680"/>
            <a:ext cx="60807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73746"/>
                </a:solidFill>
                <a:latin typeface="Aptos"/>
              </a:rPr>
              <a:t>Compares shortage indicators across drug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81728"/>
            <a:ext cx="658368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81728"/>
            <a:ext cx="73152" cy="676656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28032"/>
            <a:ext cx="623620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Drug Shortage Watch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129784"/>
            <a:ext cx="60807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73746"/>
                </a:solidFill>
                <a:latin typeface="Aptos"/>
              </a:rPr>
              <a:t>Provides a closer view of drug shortage and stock-related details.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1417320"/>
            <a:ext cx="3703320" cy="3749039"/>
          </a:xfrm>
          <a:prstGeom prst="roundRect">
            <a:avLst/>
          </a:prstGeom>
          <a:solidFill>
            <a:srgbClr val="EBF5F9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1673352"/>
            <a:ext cx="32004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02747"/>
                </a:solidFill>
                <a:latin typeface="Aptos"/>
              </a:rPr>
              <a:t>What I tested</a:t>
            </a:r>
          </a:p>
        </p:txBody>
      </p:sp>
      <p:sp>
        <p:nvSpPr>
          <p:cNvPr id="28" name="Oval 27"/>
          <p:cNvSpPr/>
          <p:nvPr/>
        </p:nvSpPr>
        <p:spPr>
          <a:xfrm>
            <a:off x="8028431" y="2249424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48840"/>
            <a:ext cx="28620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Resource-related KPI display</a:t>
            </a:r>
          </a:p>
        </p:txBody>
      </p:sp>
      <p:sp>
        <p:nvSpPr>
          <p:cNvPr id="30" name="Oval 29"/>
          <p:cNvSpPr/>
          <p:nvPr/>
        </p:nvSpPr>
        <p:spPr>
          <a:xfrm>
            <a:off x="8028431" y="2734056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633472"/>
            <a:ext cx="28620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Department and Year selectors</a:t>
            </a:r>
          </a:p>
        </p:txBody>
      </p:sp>
      <p:sp>
        <p:nvSpPr>
          <p:cNvPr id="32" name="Oval 31"/>
          <p:cNvSpPr/>
          <p:nvPr/>
        </p:nvSpPr>
        <p:spPr>
          <a:xfrm>
            <a:off x="8028431" y="3218688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118104"/>
            <a:ext cx="28620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Chart response to filter selections</a:t>
            </a:r>
          </a:p>
        </p:txBody>
      </p:sp>
      <p:sp>
        <p:nvSpPr>
          <p:cNvPr id="34" name="Oval 33"/>
          <p:cNvSpPr/>
          <p:nvPr/>
        </p:nvSpPr>
        <p:spPr>
          <a:xfrm>
            <a:off x="8028431" y="3703320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602736"/>
            <a:ext cx="28620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Dashboard navigation/actions</a:t>
            </a:r>
          </a:p>
        </p:txBody>
      </p:sp>
      <p:sp>
        <p:nvSpPr>
          <p:cNvPr id="36" name="Oval 35"/>
          <p:cNvSpPr/>
          <p:nvPr/>
        </p:nvSpPr>
        <p:spPr>
          <a:xfrm>
            <a:off x="8028431" y="4187952"/>
            <a:ext cx="91440" cy="9144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087368"/>
            <a:ext cx="28620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Consistency across the visible charts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9CA6"/>
                </a:solidFill>
                <a:latin typeface="Aptos"/>
              </a:rPr>
              <a:t>My Milestone 4 focus: test the Resource Utilization dashboard and record results.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MILESTONE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Milestone 4 — Resource Utilization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My role: Member 4 | Functional and consistency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194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27048"/>
            <a:ext cx="197510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5D7080"/>
                </a:solidFill>
                <a:latin typeface="Aptos"/>
              </a:rPr>
              <a:t>TEST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197510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 i="0">
                <a:solidFill>
                  <a:srgbClr val="009CA6"/>
                </a:solidFill>
                <a:latin typeface="Aptos"/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85416"/>
            <a:ext cx="2011679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 i="0">
                <a:solidFill>
                  <a:srgbClr val="5D7080"/>
                </a:solidFill>
                <a:latin typeface="Aptos"/>
              </a:rPr>
              <a:t>As recorded in testing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194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527048"/>
            <a:ext cx="197510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5D7080"/>
                </a:solidFill>
                <a:latin typeface="Aptos"/>
              </a:rPr>
              <a:t>TEST AREAS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755648"/>
            <a:ext cx="197510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 i="0">
                <a:solidFill>
                  <a:srgbClr val="009CA6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85416"/>
            <a:ext cx="2011679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 i="0">
                <a:solidFill>
                  <a:srgbClr val="5D7080"/>
                </a:solidFill>
                <a:latin typeface="Aptos"/>
              </a:rPr>
              <a:t>KPIs • filters • actions • 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417320"/>
            <a:ext cx="2194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1527048"/>
            <a:ext cx="197510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5D7080"/>
                </a:solidFill>
                <a:latin typeface="Aptos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1755648"/>
            <a:ext cx="197510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 i="0">
                <a:solidFill>
                  <a:srgbClr val="009CA6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185416"/>
            <a:ext cx="2011679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 i="0">
                <a:solidFill>
                  <a:srgbClr val="5D7080"/>
                </a:solidFill>
                <a:latin typeface="Aptos"/>
              </a:rPr>
              <a:t>Resource Utilization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17320"/>
            <a:ext cx="2194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527048"/>
            <a:ext cx="1975104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5D7080"/>
                </a:solidFill>
                <a:latin typeface="Aptos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1755648"/>
            <a:ext cx="197510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 i="0">
                <a:solidFill>
                  <a:srgbClr val="009CA6"/>
                </a:solidFill>
                <a:latin typeface="Aptos"/>
              </a:rP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185416"/>
            <a:ext cx="2011679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 i="0">
                <a:solidFill>
                  <a:srgbClr val="5D7080"/>
                </a:solidFill>
                <a:latin typeface="Aptos"/>
              </a:rPr>
              <a:t>All checks marked 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88036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02747"/>
                </a:solidFill>
                <a:latin typeface="Aptos"/>
              </a:rPr>
              <a:t>Testing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0156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KPI 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401568"/>
            <a:ext cx="6583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Confirm resource-related KPI values display as expected.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3383280"/>
            <a:ext cx="822960" cy="292608"/>
          </a:xfrm>
          <a:prstGeom prst="round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3442716"/>
            <a:ext cx="768096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877056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77056"/>
            <a:ext cx="6583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Change Department and Year selections and observe relevant visuals.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78440" y="3858768"/>
            <a:ext cx="822960" cy="292608"/>
          </a:xfrm>
          <a:prstGeom prst="round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05872" y="3918204"/>
            <a:ext cx="768096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52544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Navigation/actions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352544"/>
            <a:ext cx="6583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Click available dashboard navigation and interactive controls.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4334256"/>
            <a:ext cx="822960" cy="292608"/>
          </a:xfrm>
          <a:prstGeom prst="round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4393692"/>
            <a:ext cx="768096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828032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Chart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28032"/>
            <a:ext cx="6583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Review bed trend, capacity vs demand, staff allocation and drug shortage visuals.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78440" y="4809744"/>
            <a:ext cx="822960" cy="292608"/>
          </a:xfrm>
          <a:prstGeom prst="round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5872" y="4869180"/>
            <a:ext cx="768096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0352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02747"/>
                </a:solidFill>
                <a:latin typeface="Aptos"/>
              </a:rPr>
              <a:t>Final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303520"/>
            <a:ext cx="6583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73746"/>
                </a:solidFill>
                <a:latin typeface="Aptos"/>
              </a:rPr>
              <a:t>Check for blank, broken or inconsistent dashboard elements.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78440" y="5285232"/>
            <a:ext cx="822960" cy="292608"/>
          </a:xfrm>
          <a:prstGeom prst="round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05872" y="5344668"/>
            <a:ext cx="768096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989320"/>
            <a:ext cx="10515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855E"/>
                </a:solidFill>
                <a:latin typeface="Aptos"/>
              </a:rPr>
              <a:t>Reported outcome: all listed test checks passed.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560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57C4CD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Final Outcome &amp; My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6F0"/>
                </a:solidFill>
                <a:latin typeface="Aptos"/>
              </a:rPr>
              <a:t>From prepared data to an interactive, tested analytics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44752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73152" cy="132588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91056"/>
            <a:ext cx="491032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Data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489204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Four final tables prepared in Milestone 1 and checked for key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44752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444752"/>
            <a:ext cx="73152" cy="1325880"/>
          </a:xfrm>
          <a:prstGeom prst="rect">
            <a:avLst/>
          </a:prstGeom>
          <a:solidFill>
            <a:srgbClr val="1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491032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KPI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89204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Total Admissions and Occupancy Rate calculated and validated in Milestone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35808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35808"/>
            <a:ext cx="73152" cy="1325880"/>
          </a:xfrm>
          <a:prstGeom prst="rect">
            <a:avLst/>
          </a:prstGeom>
          <a:solidFill>
            <a:srgbClr val="E8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82112"/>
            <a:ext cx="491032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Dashboard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02736"/>
            <a:ext cx="489204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Common filters, navigation and dashboard actions reviewed in Milestone 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035808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035808"/>
            <a:ext cx="73152" cy="1325880"/>
          </a:xfrm>
          <a:prstGeom prst="rect">
            <a:avLst/>
          </a:prstGeom>
          <a:solidFill>
            <a:srgbClr val="2D8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82112"/>
            <a:ext cx="491032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02747"/>
                </a:solidFill>
                <a:latin typeface="Aptos"/>
              </a:rPr>
              <a:t>Resource Dashboard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02736"/>
            <a:ext cx="489204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73746"/>
                </a:solidFill>
                <a:latin typeface="Aptos"/>
              </a:rPr>
              <a:t>KPIs, selectors, actions and chart consistency checked in Milestone 4; report marked PASS.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10424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02747"/>
                </a:solidFill>
                <a:latin typeface="Aptos"/>
              </a:rP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321808"/>
            <a:ext cx="103784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73746"/>
                </a:solidFill>
                <a:latin typeface="Aptos"/>
              </a:rPr>
              <a:t>The project brings together structured hospital data, defined KPIs and four dashboards to support analysis of hospital performance, patient flow, departments and resource utilization.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MedTrack Healthcare Analytics  |  Project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547104"/>
            <a:ext cx="594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D70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60320"/>
            <a:ext cx="92354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57C4CD"/>
                </a:solidFill>
                <a:latin typeface="Aptos"/>
              </a:rPr>
              <a:t>MedTrack Healthcare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29000"/>
            <a:ext cx="8503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Presented by Devansh Kapasiya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38928"/>
            <a:ext cx="8503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D7E6F0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