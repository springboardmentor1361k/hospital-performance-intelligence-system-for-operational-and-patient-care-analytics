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17483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Today we present MedTrack, a complete performance intelligence system designed to tackle hospital overcrowding, resource saturation, and patient throughput bottlenecks. Objective: unify fragmented clinical, bed capacity, and human capital data into real-time executive intelligence. Scale: 1,000 admissions, 4 services, 52 weeks, 6,552 staff shifts.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Operating above 85% bed occupancy leaves zero surge buffer. When clinical demand spikes during external events like flu season, emergency units face immediate gridlock. Scheduling rosters, patient movement logs, and bed censuses were isolated, preventing proactive capacity forecasting.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building visuals, we solved a fundamental data engineering trap: grain mismatch. In Milestone 1, we engineered dedicated analytical tables in Python to guarantee 100% aggregation integrity in Tableau. Source files: patients, services_weekly, staff_schedule, plus the 208-row hospital_insights_summary.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black circular navigation buttons in the top headers. They allow hospital administrators to transition seamlessly between macro-level volume, patient experience, and frontline staff strain.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1 gives leadership an immediate operational pulse. Even though satisfaction remains stable at about 79%, occupancy is high, and weekend admissions represent an operational spike. Emergency 263, Surgery 254, General Medicine 242, ICU 241.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2 shifts focus to clinical operations. Surgery and ICU demand the highest clinical hours per patient. Admissions and discharges balance 1:1 in every department. The event breakdown shows how external shocks like flu outbreaks concentrate pressure on emergency and intensive care.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most critical operational finding. Every single department is operating above the 85% safety line. Emergency is running at full capacity, and nursing staff are under sustained stress year-round. Beds and staff utilization move in tandem across the 52-week trend.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ICU and Surgery beds are occupied longer than benchmarked, Emergency cannot transfer patients, creating ambulance diversions and hallway boarding.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addressing the weekend intake surge and reducing ALOS by just 0.5 to 0.9 days in Surgery and ICU, hospital bed occupancy should drop back toward the 85% safety line without requiring new construction.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pipeline is fully validated and documented across both Milestone 1 and Milestone 2. We welcome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F4A"/>
        </a:solidFill>
        <a:effectLst/>
      </p:bgPr>
    </p:bg>
    <p:spTree>
      <p:nvGrpSpPr>
        <p:cNvPr id="1" name=""/>
        <p:cNvGrpSpPr/>
        <p:nvPr/>
      </p:nvGrpSpPr>
      <p:grpSpPr>
        <a:xfrm>
          <a:off x="0" y="0"/>
          <a:ext cx="0" cy="0"/>
          <a:chOff x="0" y="0"/>
          <a:chExt cx="0" cy="0"/>
        </a:xfrm>
      </p:grpSpPr>
      <p:sp>
        <p:nvSpPr>
          <p:cNvPr id="2" name="Text 0"/>
          <p:cNvSpPr txBox="1"/>
          <p:nvPr/>
        </p:nvSpPr>
        <p:spPr>
          <a:xfrm>
            <a:off x="731520" y="731520"/>
            <a:ext cx="7315200" cy="365760"/>
          </a:xfrm>
          <a:prstGeom prst="rect">
            <a:avLst/>
          </a:prstGeom>
          <a:noFill/>
          <a:ln/>
        </p:spPr>
        <p:txBody>
          <a:bodyPr wrap="square" lIns="0" tIns="0" rIns="0" bIns="0" rtlCol="0" anchor="ctr"/>
          <a:lstStyle/>
          <a:p>
            <a:pPr marL="0" indent="0">
              <a:buNone/>
            </a:pPr>
            <a:r>
              <a:rPr lang="en-US" sz="1400" b="1" kern="0" spc="300" dirty="0">
                <a:solidFill>
                  <a:srgbClr val="7FD6D2"/>
                </a:solidFill>
                <a:latin typeface="Calibri" pitchFamily="34" charset="0"/>
                <a:ea typeface="Calibri" pitchFamily="34" charset="-122"/>
                <a:cs typeface="Calibri" pitchFamily="34" charset="-120"/>
              </a:rPr>
              <a:t>MEDTRACK_DV  |  EXECUTIVE BRIEF</a:t>
            </a:r>
            <a:endParaRPr lang="en-US" sz="1400" dirty="0"/>
          </a:p>
        </p:txBody>
      </p:sp>
      <p:sp>
        <p:nvSpPr>
          <p:cNvPr id="3" name="Text 1"/>
          <p:cNvSpPr txBox="1"/>
          <p:nvPr/>
        </p:nvSpPr>
        <p:spPr>
          <a:xfrm>
            <a:off x="731520" y="1280160"/>
            <a:ext cx="10515600" cy="1463040"/>
          </a:xfrm>
          <a:prstGeom prst="rect">
            <a:avLst/>
          </a:prstGeom>
          <a:noFill/>
          <a:ln/>
        </p:spPr>
        <p:txBody>
          <a:bodyPr wrap="square" lIns="0" tIns="0" rIns="0" bIns="0" rtlCol="0" anchor="t"/>
          <a:lstStyle/>
          <a:p>
            <a:pPr marL="0" indent="0">
              <a:buNone/>
            </a:pPr>
            <a:r>
              <a:rPr lang="en-US" sz="4800" b="1" dirty="0">
                <a:solidFill>
                  <a:srgbClr val="FFFFFF"/>
                </a:solidFill>
                <a:latin typeface="Cambria" pitchFamily="34" charset="0"/>
                <a:ea typeface="Cambria" pitchFamily="34" charset="-122"/>
                <a:cs typeface="Cambria" pitchFamily="34" charset="-120"/>
              </a:rPr>
              <a:t>Hospital Performance Intelligence System</a:t>
            </a:r>
            <a:endParaRPr lang="en-US" sz="4800" dirty="0"/>
          </a:p>
        </p:txBody>
      </p:sp>
      <p:sp>
        <p:nvSpPr>
          <p:cNvPr id="4" name="Text 2"/>
          <p:cNvSpPr txBox="1"/>
          <p:nvPr/>
        </p:nvSpPr>
        <p:spPr>
          <a:xfrm>
            <a:off x="731520" y="2834640"/>
            <a:ext cx="10515600" cy="457200"/>
          </a:xfrm>
          <a:prstGeom prst="rect">
            <a:avLst/>
          </a:prstGeom>
          <a:noFill/>
          <a:ln/>
        </p:spPr>
        <p:txBody>
          <a:bodyPr wrap="square" lIns="0" tIns="0" rIns="0" bIns="0" rtlCol="0" anchor="ctr"/>
          <a:lstStyle/>
          <a:p>
            <a:pPr marL="0" indent="0">
              <a:buNone/>
            </a:pPr>
            <a:r>
              <a:rPr lang="en-US" sz="2200" dirty="0">
                <a:solidFill>
                  <a:srgbClr val="CADCE8"/>
                </a:solidFill>
                <a:latin typeface="Calibri" pitchFamily="34" charset="0"/>
                <a:ea typeface="Calibri" pitchFamily="34" charset="-122"/>
                <a:cs typeface="Calibri" pitchFamily="34" charset="-120"/>
              </a:rPr>
              <a:t>Enterprise Operational &amp; Clinical Care Analytics</a:t>
            </a:r>
            <a:endParaRPr lang="en-US" sz="2200" dirty="0"/>
          </a:p>
        </p:txBody>
      </p:sp>
      <p:sp>
        <p:nvSpPr>
          <p:cNvPr id="5" name="Stat Inpatient admissions"/>
          <p:cNvSpPr/>
          <p:nvPr/>
        </p:nvSpPr>
        <p:spPr>
          <a:xfrm>
            <a:off x="731520" y="3931920"/>
            <a:ext cx="2468880" cy="1371600"/>
          </a:xfrm>
          <a:prstGeom prst="roundRect">
            <a:avLst>
              <a:gd name="adj" fmla="val 6667"/>
            </a:avLst>
          </a:prstGeom>
          <a:solidFill>
            <a:srgbClr val="12425F"/>
          </a:solidFill>
          <a:ln/>
          <a:effectLst>
            <a:outerShdw blurRad="76200" dist="25400" dir="5400000" algn="bl" rotWithShape="0">
              <a:srgbClr val="000000">
                <a:alpha val="12000"/>
              </a:srgbClr>
            </a:outerShdw>
          </a:effectLst>
        </p:spPr>
      </p:sp>
      <p:sp>
        <p:nvSpPr>
          <p:cNvPr id="6" name="Text 4"/>
          <p:cNvSpPr txBox="1"/>
          <p:nvPr/>
        </p:nvSpPr>
        <p:spPr>
          <a:xfrm>
            <a:off x="731520" y="4069080"/>
            <a:ext cx="2468880" cy="685800"/>
          </a:xfrm>
          <a:prstGeom prst="rect">
            <a:avLst/>
          </a:prstGeom>
          <a:noFill/>
          <a:ln/>
        </p:spPr>
        <p:txBody>
          <a:bodyPr wrap="square" lIns="0" tIns="0" rIns="0" bIns="0" rtlCol="0" anchor="ctr"/>
          <a:lstStyle/>
          <a:p>
            <a:pPr marL="0" indent="0" algn="ctr">
              <a:buNone/>
            </a:pPr>
            <a:r>
              <a:rPr lang="en-US" sz="3200" b="1" dirty="0">
                <a:solidFill>
                  <a:srgbClr val="7FD6D2"/>
                </a:solidFill>
                <a:latin typeface="Cambria" pitchFamily="34" charset="0"/>
                <a:ea typeface="Cambria" pitchFamily="34" charset="-122"/>
                <a:cs typeface="Cambria" pitchFamily="34" charset="-120"/>
              </a:rPr>
              <a:t>1,000</a:t>
            </a:r>
            <a:endParaRPr lang="en-US" sz="3200" dirty="0"/>
          </a:p>
        </p:txBody>
      </p:sp>
      <p:sp>
        <p:nvSpPr>
          <p:cNvPr id="7" name="Text 5"/>
          <p:cNvSpPr txBox="1"/>
          <p:nvPr/>
        </p:nvSpPr>
        <p:spPr>
          <a:xfrm>
            <a:off x="822960" y="4686300"/>
            <a:ext cx="2286000" cy="548640"/>
          </a:xfrm>
          <a:prstGeom prst="rect">
            <a:avLst/>
          </a:prstGeom>
          <a:noFill/>
          <a:ln/>
        </p:spPr>
        <p:txBody>
          <a:bodyPr wrap="square" lIns="0" tIns="0" rIns="0" bIns="0" rtlCol="0" anchor="t"/>
          <a:lstStyle/>
          <a:p>
            <a:pPr marL="0" indent="0" algn="ctr">
              <a:buNone/>
            </a:pPr>
            <a:r>
              <a:rPr lang="en-US" sz="1300" dirty="0">
                <a:solidFill>
                  <a:srgbClr val="CADCE8"/>
                </a:solidFill>
                <a:latin typeface="Calibri" pitchFamily="34" charset="0"/>
                <a:ea typeface="Calibri" pitchFamily="34" charset="-122"/>
                <a:cs typeface="Calibri" pitchFamily="34" charset="-120"/>
              </a:rPr>
              <a:t>Inpatient admissions</a:t>
            </a:r>
            <a:endParaRPr lang="en-US" sz="1300" dirty="0"/>
          </a:p>
        </p:txBody>
      </p:sp>
      <p:sp>
        <p:nvSpPr>
          <p:cNvPr id="8" name="Stat Core clinical services"/>
          <p:cNvSpPr/>
          <p:nvPr/>
        </p:nvSpPr>
        <p:spPr>
          <a:xfrm>
            <a:off x="3474720" y="3931920"/>
            <a:ext cx="2468880" cy="1371600"/>
          </a:xfrm>
          <a:prstGeom prst="roundRect">
            <a:avLst>
              <a:gd name="adj" fmla="val 6667"/>
            </a:avLst>
          </a:prstGeom>
          <a:solidFill>
            <a:srgbClr val="12425F"/>
          </a:solidFill>
          <a:ln/>
          <a:effectLst>
            <a:outerShdw blurRad="76200" dist="25400" dir="5400000" algn="bl" rotWithShape="0">
              <a:srgbClr val="000000">
                <a:alpha val="12000"/>
              </a:srgbClr>
            </a:outerShdw>
          </a:effectLst>
        </p:spPr>
      </p:sp>
      <p:sp>
        <p:nvSpPr>
          <p:cNvPr id="9" name="Text 7"/>
          <p:cNvSpPr txBox="1"/>
          <p:nvPr/>
        </p:nvSpPr>
        <p:spPr>
          <a:xfrm>
            <a:off x="3474720" y="4069080"/>
            <a:ext cx="2468880" cy="685800"/>
          </a:xfrm>
          <a:prstGeom prst="rect">
            <a:avLst/>
          </a:prstGeom>
          <a:noFill/>
          <a:ln/>
        </p:spPr>
        <p:txBody>
          <a:bodyPr wrap="square" lIns="0" tIns="0" rIns="0" bIns="0" rtlCol="0" anchor="ctr"/>
          <a:lstStyle/>
          <a:p>
            <a:pPr marL="0" indent="0" algn="ctr">
              <a:buNone/>
            </a:pPr>
            <a:r>
              <a:rPr lang="en-US" sz="3200" b="1" dirty="0">
                <a:solidFill>
                  <a:srgbClr val="7FD6D2"/>
                </a:solidFill>
                <a:latin typeface="Cambria" pitchFamily="34" charset="0"/>
                <a:ea typeface="Cambria" pitchFamily="34" charset="-122"/>
                <a:cs typeface="Cambria" pitchFamily="34" charset="-120"/>
              </a:rPr>
              <a:t>4</a:t>
            </a:r>
            <a:endParaRPr lang="en-US" sz="3200" dirty="0"/>
          </a:p>
        </p:txBody>
      </p:sp>
      <p:sp>
        <p:nvSpPr>
          <p:cNvPr id="10" name="Text 8"/>
          <p:cNvSpPr txBox="1"/>
          <p:nvPr/>
        </p:nvSpPr>
        <p:spPr>
          <a:xfrm>
            <a:off x="3566160" y="4686300"/>
            <a:ext cx="2286000" cy="548640"/>
          </a:xfrm>
          <a:prstGeom prst="rect">
            <a:avLst/>
          </a:prstGeom>
          <a:noFill/>
          <a:ln/>
        </p:spPr>
        <p:txBody>
          <a:bodyPr wrap="square" lIns="0" tIns="0" rIns="0" bIns="0" rtlCol="0" anchor="t"/>
          <a:lstStyle/>
          <a:p>
            <a:pPr marL="0" indent="0" algn="ctr">
              <a:buNone/>
            </a:pPr>
            <a:r>
              <a:rPr lang="en-US" sz="1300" dirty="0">
                <a:solidFill>
                  <a:srgbClr val="CADCE8"/>
                </a:solidFill>
                <a:latin typeface="Calibri" pitchFamily="34" charset="0"/>
                <a:ea typeface="Calibri" pitchFamily="34" charset="-122"/>
                <a:cs typeface="Calibri" pitchFamily="34" charset="-120"/>
              </a:rPr>
              <a:t>Core clinical services</a:t>
            </a:r>
            <a:endParaRPr lang="en-US" sz="1300" dirty="0"/>
          </a:p>
        </p:txBody>
      </p:sp>
      <p:sp>
        <p:nvSpPr>
          <p:cNvPr id="11" name="Stat Operational weeks"/>
          <p:cNvSpPr/>
          <p:nvPr/>
        </p:nvSpPr>
        <p:spPr>
          <a:xfrm>
            <a:off x="6217920" y="3931920"/>
            <a:ext cx="2468880" cy="1371600"/>
          </a:xfrm>
          <a:prstGeom prst="roundRect">
            <a:avLst>
              <a:gd name="adj" fmla="val 6667"/>
            </a:avLst>
          </a:prstGeom>
          <a:solidFill>
            <a:srgbClr val="12425F"/>
          </a:solidFill>
          <a:ln/>
          <a:effectLst>
            <a:outerShdw blurRad="76200" dist="25400" dir="5400000" algn="bl" rotWithShape="0">
              <a:srgbClr val="000000">
                <a:alpha val="12000"/>
              </a:srgbClr>
            </a:outerShdw>
          </a:effectLst>
        </p:spPr>
      </p:sp>
      <p:sp>
        <p:nvSpPr>
          <p:cNvPr id="12" name="Text 10"/>
          <p:cNvSpPr txBox="1"/>
          <p:nvPr/>
        </p:nvSpPr>
        <p:spPr>
          <a:xfrm>
            <a:off x="6217920" y="4069080"/>
            <a:ext cx="2468880" cy="685800"/>
          </a:xfrm>
          <a:prstGeom prst="rect">
            <a:avLst/>
          </a:prstGeom>
          <a:noFill/>
          <a:ln/>
        </p:spPr>
        <p:txBody>
          <a:bodyPr wrap="square" lIns="0" tIns="0" rIns="0" bIns="0" rtlCol="0" anchor="ctr"/>
          <a:lstStyle/>
          <a:p>
            <a:pPr marL="0" indent="0" algn="ctr">
              <a:buNone/>
            </a:pPr>
            <a:r>
              <a:rPr lang="en-US" sz="3200" b="1" dirty="0">
                <a:solidFill>
                  <a:srgbClr val="7FD6D2"/>
                </a:solidFill>
                <a:latin typeface="Cambria" pitchFamily="34" charset="0"/>
                <a:ea typeface="Cambria" pitchFamily="34" charset="-122"/>
                <a:cs typeface="Cambria" pitchFamily="34" charset="-120"/>
              </a:rPr>
              <a:t>52</a:t>
            </a:r>
            <a:endParaRPr lang="en-US" sz="3200" dirty="0"/>
          </a:p>
        </p:txBody>
      </p:sp>
      <p:sp>
        <p:nvSpPr>
          <p:cNvPr id="13" name="Text 11"/>
          <p:cNvSpPr txBox="1"/>
          <p:nvPr/>
        </p:nvSpPr>
        <p:spPr>
          <a:xfrm>
            <a:off x="6309360" y="4686300"/>
            <a:ext cx="2286000" cy="548640"/>
          </a:xfrm>
          <a:prstGeom prst="rect">
            <a:avLst/>
          </a:prstGeom>
          <a:noFill/>
          <a:ln/>
        </p:spPr>
        <p:txBody>
          <a:bodyPr wrap="square" lIns="0" tIns="0" rIns="0" bIns="0" rtlCol="0" anchor="t"/>
          <a:lstStyle/>
          <a:p>
            <a:pPr marL="0" indent="0" algn="ctr">
              <a:buNone/>
            </a:pPr>
            <a:r>
              <a:rPr lang="en-US" sz="1300" dirty="0">
                <a:solidFill>
                  <a:srgbClr val="CADCE8"/>
                </a:solidFill>
                <a:latin typeface="Calibri" pitchFamily="34" charset="0"/>
                <a:ea typeface="Calibri" pitchFamily="34" charset="-122"/>
                <a:cs typeface="Calibri" pitchFamily="34" charset="-120"/>
              </a:rPr>
              <a:t>Operational weeks</a:t>
            </a:r>
            <a:endParaRPr lang="en-US" sz="1300" dirty="0"/>
          </a:p>
        </p:txBody>
      </p:sp>
      <p:sp>
        <p:nvSpPr>
          <p:cNvPr id="14" name="Stat Staff shifts"/>
          <p:cNvSpPr/>
          <p:nvPr/>
        </p:nvSpPr>
        <p:spPr>
          <a:xfrm>
            <a:off x="8961120" y="3931920"/>
            <a:ext cx="2468880" cy="1371600"/>
          </a:xfrm>
          <a:prstGeom prst="roundRect">
            <a:avLst>
              <a:gd name="adj" fmla="val 6667"/>
            </a:avLst>
          </a:prstGeom>
          <a:solidFill>
            <a:srgbClr val="12425F"/>
          </a:solidFill>
          <a:ln/>
          <a:effectLst>
            <a:outerShdw blurRad="76200" dist="25400" dir="5400000" algn="bl" rotWithShape="0">
              <a:srgbClr val="000000">
                <a:alpha val="12000"/>
              </a:srgbClr>
            </a:outerShdw>
          </a:effectLst>
        </p:spPr>
      </p:sp>
      <p:sp>
        <p:nvSpPr>
          <p:cNvPr id="15" name="Text 13"/>
          <p:cNvSpPr txBox="1"/>
          <p:nvPr/>
        </p:nvSpPr>
        <p:spPr>
          <a:xfrm>
            <a:off x="8961120" y="4069080"/>
            <a:ext cx="2468880" cy="685800"/>
          </a:xfrm>
          <a:prstGeom prst="rect">
            <a:avLst/>
          </a:prstGeom>
          <a:noFill/>
          <a:ln/>
        </p:spPr>
        <p:txBody>
          <a:bodyPr wrap="square" lIns="0" tIns="0" rIns="0" bIns="0" rtlCol="0" anchor="ctr"/>
          <a:lstStyle/>
          <a:p>
            <a:pPr marL="0" indent="0" algn="ctr">
              <a:buNone/>
            </a:pPr>
            <a:r>
              <a:rPr lang="en-US" sz="3200" b="1" dirty="0">
                <a:solidFill>
                  <a:srgbClr val="7FD6D2"/>
                </a:solidFill>
                <a:latin typeface="Cambria" pitchFamily="34" charset="0"/>
                <a:ea typeface="Cambria" pitchFamily="34" charset="-122"/>
                <a:cs typeface="Cambria" pitchFamily="34" charset="-120"/>
              </a:rPr>
              <a:t>6,552</a:t>
            </a:r>
            <a:endParaRPr lang="en-US" sz="3200" dirty="0"/>
          </a:p>
        </p:txBody>
      </p:sp>
      <p:sp>
        <p:nvSpPr>
          <p:cNvPr id="16" name="Text 14"/>
          <p:cNvSpPr txBox="1"/>
          <p:nvPr/>
        </p:nvSpPr>
        <p:spPr>
          <a:xfrm>
            <a:off x="9052560" y="4686300"/>
            <a:ext cx="2286000" cy="548640"/>
          </a:xfrm>
          <a:prstGeom prst="rect">
            <a:avLst/>
          </a:prstGeom>
          <a:noFill/>
          <a:ln/>
        </p:spPr>
        <p:txBody>
          <a:bodyPr wrap="square" lIns="0" tIns="0" rIns="0" bIns="0" rtlCol="0" anchor="t"/>
          <a:lstStyle/>
          <a:p>
            <a:pPr marL="0" indent="0" algn="ctr">
              <a:buNone/>
            </a:pPr>
            <a:r>
              <a:rPr lang="en-US" sz="1300" dirty="0">
                <a:solidFill>
                  <a:srgbClr val="CADCE8"/>
                </a:solidFill>
                <a:latin typeface="Calibri" pitchFamily="34" charset="0"/>
                <a:ea typeface="Calibri" pitchFamily="34" charset="-122"/>
                <a:cs typeface="Calibri" pitchFamily="34" charset="-120"/>
              </a:rPr>
              <a:t>Staff shifts</a:t>
            </a:r>
            <a:endParaRPr lang="en-US" sz="1300" dirty="0"/>
          </a:p>
        </p:txBody>
      </p:sp>
      <p:sp>
        <p:nvSpPr>
          <p:cNvPr id="17" name="Text 15"/>
          <p:cNvSpPr txBox="1"/>
          <p:nvPr/>
        </p:nvSpPr>
        <p:spPr>
          <a:xfrm>
            <a:off x="731520" y="5760720"/>
            <a:ext cx="10515600" cy="365760"/>
          </a:xfrm>
          <a:prstGeom prst="rect">
            <a:avLst/>
          </a:prstGeom>
          <a:noFill/>
          <a:ln/>
        </p:spPr>
        <p:txBody>
          <a:bodyPr wrap="square" lIns="0" tIns="0" rIns="0" bIns="0" rtlCol="0" anchor="ctr"/>
          <a:lstStyle/>
          <a:p>
            <a:pPr marL="0" indent="0">
              <a:buNone/>
            </a:pPr>
            <a:r>
              <a:rPr lang="en-US" sz="1500" dirty="0">
                <a:solidFill>
                  <a:srgbClr val="CADCE8"/>
                </a:solidFill>
                <a:latin typeface="Calibri" pitchFamily="34" charset="0"/>
                <a:ea typeface="Calibri" pitchFamily="34" charset="-122"/>
                <a:cs typeface="Calibri" pitchFamily="34" charset="-120"/>
              </a:rPr>
              <a:t>Python ETL (Star Schema) + Tableau Interactive Storyboard</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rgbClr val="0B2F4A"/>
                </a:solidFill>
                <a:latin typeface="Cambria" pitchFamily="34" charset="0"/>
                <a:ea typeface="Cambria" pitchFamily="34" charset="-122"/>
                <a:cs typeface="Cambria" pitchFamily="34" charset="-120"/>
              </a:rPr>
              <a:t>Healthcare Bottlenecks: Capacity, Acuity, and Burnout</a:t>
            </a:r>
            <a:endParaRPr lang="en-US" sz="3000" dirty="0"/>
          </a:p>
        </p:txBody>
      </p:sp>
      <p:sp>
        <p:nvSpPr>
          <p:cNvPr id="3" name="Pillar Bed Crisis"/>
          <p:cNvSpPr/>
          <p:nvPr/>
        </p:nvSpPr>
        <p:spPr>
          <a:xfrm>
            <a:off x="548640" y="1371600"/>
            <a:ext cx="3593592" cy="4114800"/>
          </a:xfrm>
          <a:prstGeom prst="roundRect">
            <a:avLst>
              <a:gd name="adj" fmla="val 3053"/>
            </a:avLst>
          </a:prstGeom>
          <a:solidFill>
            <a:srgbClr val="F4F8FA"/>
          </a:solidFill>
          <a:ln/>
          <a:effectLst>
            <a:outerShdw blurRad="76200" dist="25400" dir="5400000" algn="bl" rotWithShape="0">
              <a:srgbClr val="000000">
                <a:alpha val="12000"/>
              </a:srgbClr>
            </a:outerShdw>
          </a:effectLst>
        </p:spPr>
      </p:sp>
      <p:sp>
        <p:nvSpPr>
          <p:cNvPr id="4" name="Text 2"/>
          <p:cNvSpPr txBox="1"/>
          <p:nvPr/>
        </p:nvSpPr>
        <p:spPr>
          <a:xfrm>
            <a:off x="822960" y="1554480"/>
            <a:ext cx="3017520" cy="365760"/>
          </a:xfrm>
          <a:prstGeom prst="rect">
            <a:avLst/>
          </a:prstGeom>
          <a:noFill/>
          <a:ln/>
        </p:spPr>
        <p:txBody>
          <a:bodyPr wrap="square" lIns="0" tIns="0" rIns="0" bIns="0" rtlCol="0" anchor="ctr"/>
          <a:lstStyle/>
          <a:p>
            <a:pPr marL="0" indent="0">
              <a:buNone/>
            </a:pPr>
            <a:r>
              <a:rPr lang="en-US" sz="1400" b="1" kern="0" spc="200" dirty="0">
                <a:solidFill>
                  <a:srgbClr val="1C7C7D"/>
                </a:solidFill>
                <a:latin typeface="Calibri" pitchFamily="34" charset="0"/>
                <a:ea typeface="Calibri" pitchFamily="34" charset="-122"/>
                <a:cs typeface="Calibri" pitchFamily="34" charset="-120"/>
              </a:rPr>
              <a:t>BED CRISIS</a:t>
            </a:r>
            <a:endParaRPr lang="en-US" sz="1400" dirty="0"/>
          </a:p>
        </p:txBody>
      </p:sp>
      <p:sp>
        <p:nvSpPr>
          <p:cNvPr id="5" name="Text 3"/>
          <p:cNvSpPr txBox="1"/>
          <p:nvPr/>
        </p:nvSpPr>
        <p:spPr>
          <a:xfrm>
            <a:off x="822960" y="2011680"/>
            <a:ext cx="3017520" cy="914400"/>
          </a:xfrm>
          <a:prstGeom prst="rect">
            <a:avLst/>
          </a:prstGeom>
          <a:noFill/>
          <a:ln/>
        </p:spPr>
        <p:txBody>
          <a:bodyPr wrap="square" lIns="0" tIns="0" rIns="0" bIns="0" rtlCol="0" anchor="ctr"/>
          <a:lstStyle/>
          <a:p>
            <a:pPr marL="0" indent="0">
              <a:buNone/>
            </a:pPr>
            <a:r>
              <a:rPr lang="en-US" sz="4800" b="1" dirty="0">
                <a:solidFill>
                  <a:srgbClr val="E4572E"/>
                </a:solidFill>
                <a:latin typeface="Cambria" pitchFamily="34" charset="0"/>
                <a:ea typeface="Cambria" pitchFamily="34" charset="-122"/>
                <a:cs typeface="Cambria" pitchFamily="34" charset="-120"/>
              </a:rPr>
              <a:t>90–93%</a:t>
            </a:r>
            <a:endParaRPr lang="en-US" sz="4800" dirty="0"/>
          </a:p>
        </p:txBody>
      </p:sp>
      <p:sp>
        <p:nvSpPr>
          <p:cNvPr id="6" name="Text 4"/>
          <p:cNvSpPr txBox="1"/>
          <p:nvPr/>
        </p:nvSpPr>
        <p:spPr>
          <a:xfrm>
            <a:off x="822960" y="2971800"/>
            <a:ext cx="3017520" cy="640080"/>
          </a:xfrm>
          <a:prstGeom prst="rect">
            <a:avLst/>
          </a:prstGeom>
          <a:noFill/>
          <a:ln/>
        </p:spPr>
        <p:txBody>
          <a:bodyPr wrap="square" lIns="0" tIns="0" rIns="0" bIns="0" rtlCol="0" anchor="t"/>
          <a:lstStyle/>
          <a:p>
            <a:pPr marL="0" indent="0">
              <a:buNone/>
            </a:pPr>
            <a:r>
              <a:rPr lang="en-US" sz="1500" dirty="0">
                <a:solidFill>
                  <a:srgbClr val="5B6B77"/>
                </a:solidFill>
                <a:latin typeface="Calibri" pitchFamily="34" charset="0"/>
                <a:ea typeface="Calibri" pitchFamily="34" charset="-122"/>
                <a:cs typeface="Calibri" pitchFamily="34" charset="-120"/>
              </a:rPr>
              <a:t>bed utilization vs. 85% safety threshold</a:t>
            </a:r>
            <a:endParaRPr lang="en-US" sz="1500" dirty="0"/>
          </a:p>
        </p:txBody>
      </p:sp>
      <p:sp>
        <p:nvSpPr>
          <p:cNvPr id="7" name="Text 5"/>
          <p:cNvSpPr txBox="1"/>
          <p:nvPr/>
        </p:nvSpPr>
        <p:spPr>
          <a:xfrm>
            <a:off x="822960" y="3931920"/>
            <a:ext cx="3017520" cy="1280160"/>
          </a:xfrm>
          <a:prstGeom prst="rect">
            <a:avLst/>
          </a:prstGeom>
          <a:noFill/>
          <a:ln/>
        </p:spPr>
        <p:txBody>
          <a:bodyPr wrap="square" lIns="0" tIns="0" rIns="0" bIns="0" rtlCol="0" anchor="t"/>
          <a:lstStyle/>
          <a:p>
            <a:pPr marL="0" indent="0">
              <a:buNone/>
            </a:pPr>
            <a:r>
              <a:rPr lang="en-US" sz="1600" dirty="0">
                <a:solidFill>
                  <a:srgbClr val="1B2B38"/>
                </a:solidFill>
                <a:latin typeface="Calibri" pitchFamily="34" charset="0"/>
                <a:ea typeface="Calibri" pitchFamily="34" charset="-122"/>
                <a:cs typeface="Calibri" pitchFamily="34" charset="-120"/>
              </a:rPr>
              <a:t>Utilization runs at 90.14%–92.70%, leaving no surge buffer.</a:t>
            </a:r>
            <a:endParaRPr lang="en-US" sz="1600" dirty="0"/>
          </a:p>
        </p:txBody>
      </p:sp>
      <p:sp>
        <p:nvSpPr>
          <p:cNvPr id="8" name="Pillar Staff Fatigue"/>
          <p:cNvSpPr/>
          <p:nvPr/>
        </p:nvSpPr>
        <p:spPr>
          <a:xfrm>
            <a:off x="4297680" y="1371600"/>
            <a:ext cx="3593592" cy="4114800"/>
          </a:xfrm>
          <a:prstGeom prst="roundRect">
            <a:avLst>
              <a:gd name="adj" fmla="val 3053"/>
            </a:avLst>
          </a:prstGeom>
          <a:solidFill>
            <a:srgbClr val="F4F8FA"/>
          </a:solidFill>
          <a:ln/>
          <a:effectLst>
            <a:outerShdw blurRad="76200" dist="25400" dir="5400000" algn="bl" rotWithShape="0">
              <a:srgbClr val="000000">
                <a:alpha val="12000"/>
              </a:srgbClr>
            </a:outerShdw>
          </a:effectLst>
        </p:spPr>
      </p:sp>
      <p:sp>
        <p:nvSpPr>
          <p:cNvPr id="9" name="Text 7"/>
          <p:cNvSpPr txBox="1"/>
          <p:nvPr/>
        </p:nvSpPr>
        <p:spPr>
          <a:xfrm>
            <a:off x="4572000" y="1554480"/>
            <a:ext cx="3017520" cy="365760"/>
          </a:xfrm>
          <a:prstGeom prst="rect">
            <a:avLst/>
          </a:prstGeom>
          <a:noFill/>
          <a:ln/>
        </p:spPr>
        <p:txBody>
          <a:bodyPr wrap="square" lIns="0" tIns="0" rIns="0" bIns="0" rtlCol="0" anchor="ctr"/>
          <a:lstStyle/>
          <a:p>
            <a:pPr marL="0" indent="0">
              <a:buNone/>
            </a:pPr>
            <a:r>
              <a:rPr lang="en-US" sz="1400" b="1" kern="0" spc="200" dirty="0">
                <a:solidFill>
                  <a:srgbClr val="1C7C7D"/>
                </a:solidFill>
                <a:latin typeface="Calibri" pitchFamily="34" charset="0"/>
                <a:ea typeface="Calibri" pitchFamily="34" charset="-122"/>
                <a:cs typeface="Calibri" pitchFamily="34" charset="-120"/>
              </a:rPr>
              <a:t>STAFF FATIGUE</a:t>
            </a:r>
            <a:endParaRPr lang="en-US" sz="1400" dirty="0"/>
          </a:p>
        </p:txBody>
      </p:sp>
      <p:sp>
        <p:nvSpPr>
          <p:cNvPr id="10" name="Text 8"/>
          <p:cNvSpPr txBox="1"/>
          <p:nvPr/>
        </p:nvSpPr>
        <p:spPr>
          <a:xfrm>
            <a:off x="4572000" y="2011680"/>
            <a:ext cx="3017520" cy="914400"/>
          </a:xfrm>
          <a:prstGeom prst="rect">
            <a:avLst/>
          </a:prstGeom>
          <a:noFill/>
          <a:ln/>
        </p:spPr>
        <p:txBody>
          <a:bodyPr wrap="square" lIns="0" tIns="0" rIns="0" bIns="0" rtlCol="0" anchor="ctr"/>
          <a:lstStyle/>
          <a:p>
            <a:pPr marL="0" indent="0">
              <a:buNone/>
            </a:pPr>
            <a:r>
              <a:rPr lang="en-US" sz="4800" b="1" dirty="0">
                <a:solidFill>
                  <a:srgbClr val="0B2F4A"/>
                </a:solidFill>
                <a:latin typeface="Cambria" pitchFamily="34" charset="0"/>
                <a:ea typeface="Cambria" pitchFamily="34" charset="-122"/>
                <a:cs typeface="Cambria" pitchFamily="34" charset="-120"/>
              </a:rPr>
              <a:t>88.98%</a:t>
            </a:r>
            <a:endParaRPr lang="en-US" sz="4800" dirty="0"/>
          </a:p>
        </p:txBody>
      </p:sp>
      <p:sp>
        <p:nvSpPr>
          <p:cNvPr id="11" name="Text 9"/>
          <p:cNvSpPr txBox="1"/>
          <p:nvPr/>
        </p:nvSpPr>
        <p:spPr>
          <a:xfrm>
            <a:off x="4572000" y="2971800"/>
            <a:ext cx="3017520" cy="640080"/>
          </a:xfrm>
          <a:prstGeom prst="rect">
            <a:avLst/>
          </a:prstGeom>
          <a:noFill/>
          <a:ln/>
        </p:spPr>
        <p:txBody>
          <a:bodyPr wrap="square" lIns="0" tIns="0" rIns="0" bIns="0" rtlCol="0" anchor="t"/>
          <a:lstStyle/>
          <a:p>
            <a:pPr marL="0" indent="0">
              <a:buNone/>
            </a:pPr>
            <a:r>
              <a:rPr lang="en-US" sz="1500" dirty="0">
                <a:solidFill>
                  <a:srgbClr val="5B6B77"/>
                </a:solidFill>
                <a:latin typeface="Calibri" pitchFamily="34" charset="0"/>
                <a:ea typeface="Calibri" pitchFamily="34" charset="-122"/>
                <a:cs typeface="Calibri" pitchFamily="34" charset="-120"/>
              </a:rPr>
              <a:t>clinical workforce stress index</a:t>
            </a:r>
            <a:endParaRPr lang="en-US" sz="1500" dirty="0"/>
          </a:p>
        </p:txBody>
      </p:sp>
      <p:sp>
        <p:nvSpPr>
          <p:cNvPr id="12" name="Text 10"/>
          <p:cNvSpPr txBox="1"/>
          <p:nvPr/>
        </p:nvSpPr>
        <p:spPr>
          <a:xfrm>
            <a:off x="4572000" y="3931920"/>
            <a:ext cx="3017520" cy="1280160"/>
          </a:xfrm>
          <a:prstGeom prst="rect">
            <a:avLst/>
          </a:prstGeom>
          <a:noFill/>
          <a:ln/>
        </p:spPr>
        <p:txBody>
          <a:bodyPr wrap="square" lIns="0" tIns="0" rIns="0" bIns="0" rtlCol="0" anchor="t"/>
          <a:lstStyle/>
          <a:p>
            <a:pPr marL="0" indent="0">
              <a:buNone/>
            </a:pPr>
            <a:r>
              <a:rPr lang="en-US" sz="1600" dirty="0">
                <a:solidFill>
                  <a:srgbClr val="1B2B38"/>
                </a:solidFill>
                <a:latin typeface="Calibri" pitchFamily="34" charset="0"/>
                <a:ea typeface="Calibri" pitchFamily="34" charset="-122"/>
                <a:cs typeface="Calibri" pitchFamily="34" charset="-120"/>
              </a:rPr>
              <a:t>Nurse saturation of 89.21% risks retention and care quality.</a:t>
            </a:r>
            <a:endParaRPr lang="en-US" sz="1600" dirty="0"/>
          </a:p>
        </p:txBody>
      </p:sp>
      <p:sp>
        <p:nvSpPr>
          <p:cNvPr id="13" name="Pillar Throughput Latency"/>
          <p:cNvSpPr/>
          <p:nvPr/>
        </p:nvSpPr>
        <p:spPr>
          <a:xfrm>
            <a:off x="8046720" y="1371600"/>
            <a:ext cx="3593592" cy="4114800"/>
          </a:xfrm>
          <a:prstGeom prst="roundRect">
            <a:avLst>
              <a:gd name="adj" fmla="val 3053"/>
            </a:avLst>
          </a:prstGeom>
          <a:solidFill>
            <a:srgbClr val="F4F8FA"/>
          </a:solidFill>
          <a:ln/>
          <a:effectLst>
            <a:outerShdw blurRad="76200" dist="25400" dir="5400000" algn="bl" rotWithShape="0">
              <a:srgbClr val="000000">
                <a:alpha val="12000"/>
              </a:srgbClr>
            </a:outerShdw>
          </a:effectLst>
        </p:spPr>
      </p:sp>
      <p:sp>
        <p:nvSpPr>
          <p:cNvPr id="14" name="Text 12"/>
          <p:cNvSpPr txBox="1"/>
          <p:nvPr/>
        </p:nvSpPr>
        <p:spPr>
          <a:xfrm>
            <a:off x="8321040" y="1554480"/>
            <a:ext cx="3017520" cy="365760"/>
          </a:xfrm>
          <a:prstGeom prst="rect">
            <a:avLst/>
          </a:prstGeom>
          <a:noFill/>
          <a:ln/>
        </p:spPr>
        <p:txBody>
          <a:bodyPr wrap="square" lIns="0" tIns="0" rIns="0" bIns="0" rtlCol="0" anchor="ctr"/>
          <a:lstStyle/>
          <a:p>
            <a:pPr marL="0" indent="0">
              <a:buNone/>
            </a:pPr>
            <a:r>
              <a:rPr lang="en-US" sz="1400" b="1" kern="0" spc="200" dirty="0">
                <a:solidFill>
                  <a:srgbClr val="1C7C7D"/>
                </a:solidFill>
                <a:latin typeface="Calibri" pitchFamily="34" charset="0"/>
                <a:ea typeface="Calibri" pitchFamily="34" charset="-122"/>
                <a:cs typeface="Calibri" pitchFamily="34" charset="-120"/>
              </a:rPr>
              <a:t>THROUGHPUT LATENCY</a:t>
            </a:r>
            <a:endParaRPr lang="en-US" sz="1400" dirty="0"/>
          </a:p>
        </p:txBody>
      </p:sp>
      <p:sp>
        <p:nvSpPr>
          <p:cNvPr id="15" name="Text 13"/>
          <p:cNvSpPr txBox="1"/>
          <p:nvPr/>
        </p:nvSpPr>
        <p:spPr>
          <a:xfrm>
            <a:off x="8321040" y="2011680"/>
            <a:ext cx="3017520" cy="914400"/>
          </a:xfrm>
          <a:prstGeom prst="rect">
            <a:avLst/>
          </a:prstGeom>
          <a:noFill/>
          <a:ln/>
        </p:spPr>
        <p:txBody>
          <a:bodyPr wrap="square" lIns="0" tIns="0" rIns="0" bIns="0" rtlCol="0" anchor="ctr"/>
          <a:lstStyle/>
          <a:p>
            <a:pPr marL="0" indent="0">
              <a:buNone/>
            </a:pPr>
            <a:r>
              <a:rPr lang="en-US" sz="4800" b="1" dirty="0">
                <a:solidFill>
                  <a:srgbClr val="0B2F4A"/>
                </a:solidFill>
                <a:latin typeface="Cambria" pitchFamily="34" charset="0"/>
                <a:ea typeface="Cambria" pitchFamily="34" charset="-122"/>
                <a:cs typeface="Cambria" pitchFamily="34" charset="-120"/>
              </a:rPr>
              <a:t>3 silos</a:t>
            </a:r>
            <a:endParaRPr lang="en-US" sz="4800" dirty="0"/>
          </a:p>
        </p:txBody>
      </p:sp>
      <p:sp>
        <p:nvSpPr>
          <p:cNvPr id="16" name="Text 14"/>
          <p:cNvSpPr txBox="1"/>
          <p:nvPr/>
        </p:nvSpPr>
        <p:spPr>
          <a:xfrm>
            <a:off x="8321040" y="2971800"/>
            <a:ext cx="3017520" cy="640080"/>
          </a:xfrm>
          <a:prstGeom prst="rect">
            <a:avLst/>
          </a:prstGeom>
          <a:noFill/>
          <a:ln/>
        </p:spPr>
        <p:txBody>
          <a:bodyPr wrap="square" lIns="0" tIns="0" rIns="0" bIns="0" rtlCol="0" anchor="t"/>
          <a:lstStyle/>
          <a:p>
            <a:pPr marL="0" indent="0">
              <a:buNone/>
            </a:pPr>
            <a:r>
              <a:rPr lang="en-US" sz="1500" dirty="0">
                <a:solidFill>
                  <a:srgbClr val="5B6B77"/>
                </a:solidFill>
                <a:latin typeface="Calibri" pitchFamily="34" charset="0"/>
                <a:ea typeface="Calibri" pitchFamily="34" charset="-122"/>
                <a:cs typeface="Calibri" pitchFamily="34" charset="-120"/>
              </a:rPr>
              <a:t>rosters, movement logs, bed census</a:t>
            </a:r>
            <a:endParaRPr lang="en-US" sz="1500" dirty="0"/>
          </a:p>
        </p:txBody>
      </p:sp>
      <p:sp>
        <p:nvSpPr>
          <p:cNvPr id="17" name="Text 15"/>
          <p:cNvSpPr txBox="1"/>
          <p:nvPr/>
        </p:nvSpPr>
        <p:spPr>
          <a:xfrm>
            <a:off x="8321040" y="3931920"/>
            <a:ext cx="3017520" cy="1280160"/>
          </a:xfrm>
          <a:prstGeom prst="rect">
            <a:avLst/>
          </a:prstGeom>
          <a:noFill/>
          <a:ln/>
        </p:spPr>
        <p:txBody>
          <a:bodyPr wrap="square" lIns="0" tIns="0" rIns="0" bIns="0" rtlCol="0" anchor="t"/>
          <a:lstStyle/>
          <a:p>
            <a:pPr marL="0" indent="0">
              <a:buNone/>
            </a:pPr>
            <a:r>
              <a:rPr lang="en-US" sz="1600" dirty="0">
                <a:solidFill>
                  <a:srgbClr val="1B2B38"/>
                </a:solidFill>
                <a:latin typeface="Calibri" pitchFamily="34" charset="0"/>
                <a:ea typeface="Calibri" pitchFamily="34" charset="-122"/>
                <a:cs typeface="Calibri" pitchFamily="34" charset="-120"/>
              </a:rPr>
              <a:t>Isolated data blocked proactive capacity forecasting.</a:t>
            </a:r>
            <a:endParaRPr lang="en-US" sz="1600" dirty="0"/>
          </a:p>
        </p:txBody>
      </p:sp>
      <p:sp>
        <p:nvSpPr>
          <p:cNvPr id="18" name="Takeaway card"/>
          <p:cNvSpPr/>
          <p:nvPr/>
        </p:nvSpPr>
        <p:spPr>
          <a:xfrm>
            <a:off x="548640" y="5806440"/>
            <a:ext cx="11091672" cy="685800"/>
          </a:xfrm>
          <a:prstGeom prst="roundRect">
            <a:avLst>
              <a:gd name="adj" fmla="val 13333"/>
            </a:avLst>
          </a:prstGeom>
          <a:solidFill>
            <a:srgbClr val="DDEFEE"/>
          </a:solidFill>
          <a:ln/>
        </p:spPr>
      </p:sp>
      <p:sp>
        <p:nvSpPr>
          <p:cNvPr id="19" name="Text 17"/>
          <p:cNvSpPr txBox="1"/>
          <p:nvPr/>
        </p:nvSpPr>
        <p:spPr>
          <a:xfrm>
            <a:off x="777240" y="5806440"/>
            <a:ext cx="10652760" cy="685800"/>
          </a:xfrm>
          <a:prstGeom prst="rect">
            <a:avLst/>
          </a:prstGeom>
          <a:noFill/>
          <a:ln/>
        </p:spPr>
        <p:txBody>
          <a:bodyPr wrap="square" lIns="0" tIns="0" rIns="0" bIns="0" rtlCol="0" anchor="ctr"/>
          <a:lstStyle/>
          <a:p>
            <a:pPr marL="0" indent="0">
              <a:buNone/>
            </a:pPr>
            <a:r>
              <a:rPr lang="en-US" sz="1500" b="1" dirty="0">
                <a:solidFill>
                  <a:srgbClr val="1C7C7D"/>
                </a:solidFill>
                <a:latin typeface="Calibri" pitchFamily="34" charset="0"/>
                <a:ea typeface="Calibri" pitchFamily="34" charset="-122"/>
                <a:cs typeface="Calibri" pitchFamily="34" charset="-120"/>
              </a:rPr>
              <a:t>Takeaway: </a:t>
            </a:r>
            <a:r>
              <a:rPr lang="en-US" sz="1500" dirty="0">
                <a:solidFill>
                  <a:srgbClr val="1B2B38"/>
                </a:solidFill>
                <a:latin typeface="Calibri" pitchFamily="34" charset="0"/>
                <a:ea typeface="Calibri" pitchFamily="34" charset="-122"/>
                <a:cs typeface="Calibri" pitchFamily="34" charset="-120"/>
              </a:rPr>
              <a:t>Above 85% occupancy there is no surge buffer; one flu spike means immediate Emergency gridlock.</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rgbClr val="0B2F4A"/>
                </a:solidFill>
                <a:latin typeface="Cambria" pitchFamily="34" charset="0"/>
                <a:ea typeface="Cambria" pitchFamily="34" charset="-122"/>
                <a:cs typeface="Cambria" pitchFamily="34" charset="-120"/>
              </a:rPr>
              <a:t>Foundational Engineering: Star Schema &amp; Grain Isolation</a:t>
            </a:r>
            <a:endParaRPr lang="en-US" sz="3000" dirty="0"/>
          </a:p>
        </p:txBody>
      </p:sp>
      <p:sp>
        <p:nvSpPr>
          <p:cNvPr id="3" name="Source patients.csv"/>
          <p:cNvSpPr/>
          <p:nvPr/>
        </p:nvSpPr>
        <p:spPr>
          <a:xfrm>
            <a:off x="548640" y="1371600"/>
            <a:ext cx="3108960" cy="868680"/>
          </a:xfrm>
          <a:prstGeom prst="roundRect">
            <a:avLst>
              <a:gd name="adj" fmla="val 10526"/>
            </a:avLst>
          </a:prstGeom>
          <a:solidFill>
            <a:srgbClr val="F4F8FA"/>
          </a:solidFill>
          <a:ln/>
          <a:effectLst>
            <a:outerShdw blurRad="76200" dist="25400" dir="5400000" algn="bl" rotWithShape="0">
              <a:srgbClr val="000000">
                <a:alpha val="12000"/>
              </a:srgbClr>
            </a:outerShdw>
          </a:effectLst>
        </p:spPr>
      </p:sp>
      <p:sp>
        <p:nvSpPr>
          <p:cNvPr id="4" name="Text 2"/>
          <p:cNvSpPr txBox="1"/>
          <p:nvPr/>
        </p:nvSpPr>
        <p:spPr>
          <a:xfrm>
            <a:off x="731520" y="1371600"/>
            <a:ext cx="2834640" cy="868680"/>
          </a:xfrm>
          <a:prstGeom prst="rect">
            <a:avLst/>
          </a:prstGeom>
          <a:noFill/>
          <a:ln/>
        </p:spPr>
        <p:txBody>
          <a:bodyPr wrap="square" lIns="0" tIns="0" rIns="0" bIns="0" rtlCol="0" anchor="ctr"/>
          <a:lstStyle/>
          <a:p>
            <a:pPr marL="0" indent="0">
              <a:buNone/>
            </a:pPr>
            <a:r>
              <a:rPr lang="en-US" sz="1500" b="1" dirty="0">
                <a:solidFill>
                  <a:srgbClr val="0B2F4A"/>
                </a:solidFill>
                <a:latin typeface="Calibri" pitchFamily="34" charset="0"/>
                <a:ea typeface="Calibri" pitchFamily="34" charset="-122"/>
                <a:cs typeface="Calibri" pitchFamily="34" charset="-120"/>
              </a:rPr>
              <a:t>patients.csv</a:t>
            </a:r>
            <a:endParaRPr lang="en-US" sz="1500" dirty="0"/>
          </a:p>
          <a:p>
            <a:pPr marL="0" indent="0">
              <a:buNone/>
            </a:pPr>
            <a:r>
              <a:rPr lang="en-US" sz="1300" dirty="0">
                <a:solidFill>
                  <a:srgbClr val="5B6B77"/>
                </a:solidFill>
                <a:latin typeface="Calibri" pitchFamily="34" charset="0"/>
                <a:ea typeface="Calibri" pitchFamily="34" charset="-122"/>
                <a:cs typeface="Calibri" pitchFamily="34" charset="-120"/>
              </a:rPr>
              <a:t>1,000 admissions</a:t>
            </a:r>
            <a:endParaRPr lang="en-US" sz="1500" dirty="0"/>
          </a:p>
        </p:txBody>
      </p:sp>
      <p:sp>
        <p:nvSpPr>
          <p:cNvPr id="5" name="Source services_weekly.csv"/>
          <p:cNvSpPr/>
          <p:nvPr/>
        </p:nvSpPr>
        <p:spPr>
          <a:xfrm>
            <a:off x="548640" y="2377440"/>
            <a:ext cx="3108960" cy="868680"/>
          </a:xfrm>
          <a:prstGeom prst="roundRect">
            <a:avLst>
              <a:gd name="adj" fmla="val 10526"/>
            </a:avLst>
          </a:prstGeom>
          <a:solidFill>
            <a:srgbClr val="F4F8FA"/>
          </a:solidFill>
          <a:ln/>
          <a:effectLst>
            <a:outerShdw blurRad="76200" dist="25400" dir="5400000" algn="bl" rotWithShape="0">
              <a:srgbClr val="000000">
                <a:alpha val="12000"/>
              </a:srgbClr>
            </a:outerShdw>
          </a:effectLst>
        </p:spPr>
      </p:sp>
      <p:sp>
        <p:nvSpPr>
          <p:cNvPr id="6" name="Text 4"/>
          <p:cNvSpPr txBox="1"/>
          <p:nvPr/>
        </p:nvSpPr>
        <p:spPr>
          <a:xfrm>
            <a:off x="731520" y="2377440"/>
            <a:ext cx="2834640" cy="868680"/>
          </a:xfrm>
          <a:prstGeom prst="rect">
            <a:avLst/>
          </a:prstGeom>
          <a:noFill/>
          <a:ln/>
        </p:spPr>
        <p:txBody>
          <a:bodyPr wrap="square" lIns="0" tIns="0" rIns="0" bIns="0" rtlCol="0" anchor="ctr"/>
          <a:lstStyle/>
          <a:p>
            <a:pPr marL="0" indent="0">
              <a:buNone/>
            </a:pPr>
            <a:r>
              <a:rPr lang="en-US" sz="1500" b="1" dirty="0">
                <a:solidFill>
                  <a:srgbClr val="0B2F4A"/>
                </a:solidFill>
                <a:latin typeface="Calibri" pitchFamily="34" charset="0"/>
                <a:ea typeface="Calibri" pitchFamily="34" charset="-122"/>
                <a:cs typeface="Calibri" pitchFamily="34" charset="-120"/>
              </a:rPr>
              <a:t>services_weekly.csv</a:t>
            </a:r>
            <a:endParaRPr lang="en-US" sz="1500" dirty="0"/>
          </a:p>
          <a:p>
            <a:pPr marL="0" indent="0">
              <a:buNone/>
            </a:pPr>
            <a:r>
              <a:rPr lang="en-US" sz="1300" dirty="0">
                <a:solidFill>
                  <a:srgbClr val="5B6B77"/>
                </a:solidFill>
                <a:latin typeface="Calibri" pitchFamily="34" charset="0"/>
                <a:ea typeface="Calibri" pitchFamily="34" charset="-122"/>
                <a:cs typeface="Calibri" pitchFamily="34" charset="-120"/>
              </a:rPr>
              <a:t>208 weekly service logs</a:t>
            </a:r>
            <a:endParaRPr lang="en-US" sz="1500" dirty="0"/>
          </a:p>
        </p:txBody>
      </p:sp>
      <p:sp>
        <p:nvSpPr>
          <p:cNvPr id="7" name="Source staff_schedule.csv"/>
          <p:cNvSpPr/>
          <p:nvPr/>
        </p:nvSpPr>
        <p:spPr>
          <a:xfrm>
            <a:off x="548640" y="3383280"/>
            <a:ext cx="3108960" cy="868680"/>
          </a:xfrm>
          <a:prstGeom prst="roundRect">
            <a:avLst>
              <a:gd name="adj" fmla="val 10526"/>
            </a:avLst>
          </a:prstGeom>
          <a:solidFill>
            <a:srgbClr val="F4F8FA"/>
          </a:solidFill>
          <a:ln/>
          <a:effectLst>
            <a:outerShdw blurRad="76200" dist="25400" dir="5400000" algn="bl" rotWithShape="0">
              <a:srgbClr val="000000">
                <a:alpha val="12000"/>
              </a:srgbClr>
            </a:outerShdw>
          </a:effectLst>
        </p:spPr>
      </p:sp>
      <p:sp>
        <p:nvSpPr>
          <p:cNvPr id="8" name="Text 6"/>
          <p:cNvSpPr txBox="1"/>
          <p:nvPr/>
        </p:nvSpPr>
        <p:spPr>
          <a:xfrm>
            <a:off x="731520" y="3383280"/>
            <a:ext cx="2834640" cy="868680"/>
          </a:xfrm>
          <a:prstGeom prst="rect">
            <a:avLst/>
          </a:prstGeom>
          <a:noFill/>
          <a:ln/>
        </p:spPr>
        <p:txBody>
          <a:bodyPr wrap="square" lIns="0" tIns="0" rIns="0" bIns="0" rtlCol="0" anchor="ctr"/>
          <a:lstStyle/>
          <a:p>
            <a:pPr marL="0" indent="0">
              <a:buNone/>
            </a:pPr>
            <a:r>
              <a:rPr lang="en-US" sz="1500" b="1" dirty="0">
                <a:solidFill>
                  <a:srgbClr val="0B2F4A"/>
                </a:solidFill>
                <a:latin typeface="Calibri" pitchFamily="34" charset="0"/>
                <a:ea typeface="Calibri" pitchFamily="34" charset="-122"/>
                <a:cs typeface="Calibri" pitchFamily="34" charset="-120"/>
              </a:rPr>
              <a:t>staff_schedule.csv</a:t>
            </a:r>
            <a:endParaRPr lang="en-US" sz="1500" dirty="0"/>
          </a:p>
          <a:p>
            <a:pPr marL="0" indent="0">
              <a:buNone/>
            </a:pPr>
            <a:r>
              <a:rPr lang="en-US" sz="1300" dirty="0">
                <a:solidFill>
                  <a:srgbClr val="5B6B77"/>
                </a:solidFill>
                <a:latin typeface="Calibri" pitchFamily="34" charset="0"/>
                <a:ea typeface="Calibri" pitchFamily="34" charset="-122"/>
                <a:cs typeface="Calibri" pitchFamily="34" charset="-120"/>
              </a:rPr>
              <a:t>6,552 shifts, 110 staff</a:t>
            </a:r>
            <a:endParaRPr lang="en-US" sz="1500" dirty="0"/>
          </a:p>
        </p:txBody>
      </p:sp>
      <p:sp>
        <p:nvSpPr>
          <p:cNvPr id="9" name="Text 7"/>
          <p:cNvSpPr txBox="1"/>
          <p:nvPr/>
        </p:nvSpPr>
        <p:spPr>
          <a:xfrm>
            <a:off x="3703320" y="2194560"/>
            <a:ext cx="640080" cy="548640"/>
          </a:xfrm>
          <a:prstGeom prst="rect">
            <a:avLst/>
          </a:prstGeom>
          <a:noFill/>
          <a:ln/>
        </p:spPr>
        <p:txBody>
          <a:bodyPr wrap="square" lIns="0" tIns="0" rIns="0" bIns="0" rtlCol="0" anchor="ctr"/>
          <a:lstStyle/>
          <a:p>
            <a:pPr marL="0" indent="0" algn="ctr">
              <a:buNone/>
            </a:pPr>
            <a:r>
              <a:rPr lang="en-US" sz="3000" dirty="0">
                <a:solidFill>
                  <a:srgbClr val="1C7C7D"/>
                </a:solidFill>
              </a:rPr>
              <a:t>➜</a:t>
            </a:r>
            <a:endParaRPr lang="en-US" sz="3000" dirty="0"/>
          </a:p>
        </p:txBody>
      </p:sp>
      <p:sp>
        <p:nvSpPr>
          <p:cNvPr id="10" name="Python ETL"/>
          <p:cNvSpPr/>
          <p:nvPr/>
        </p:nvSpPr>
        <p:spPr>
          <a:xfrm>
            <a:off x="4389120" y="1371600"/>
            <a:ext cx="2926080" cy="2880360"/>
          </a:xfrm>
          <a:prstGeom prst="roundRect">
            <a:avLst>
              <a:gd name="adj" fmla="val 3810"/>
            </a:avLst>
          </a:prstGeom>
          <a:solidFill>
            <a:srgbClr val="1C7C7D"/>
          </a:solidFill>
          <a:ln/>
          <a:effectLst>
            <a:outerShdw blurRad="76200" dist="25400" dir="5400000" algn="bl" rotWithShape="0">
              <a:srgbClr val="000000">
                <a:alpha val="12000"/>
              </a:srgbClr>
            </a:outerShdw>
          </a:effectLst>
        </p:spPr>
      </p:sp>
      <p:sp>
        <p:nvSpPr>
          <p:cNvPr id="11" name="Text 9"/>
          <p:cNvSpPr txBox="1"/>
          <p:nvPr/>
        </p:nvSpPr>
        <p:spPr>
          <a:xfrm>
            <a:off x="4572000" y="1371600"/>
            <a:ext cx="2560320" cy="28803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Python ETL</a:t>
            </a:r>
            <a:endParaRPr lang="en-US" sz="2000" dirty="0"/>
          </a:p>
          <a:p>
            <a:pPr marL="0" indent="0">
              <a:buNone/>
            </a:pPr>
            <a:r>
              <a:rPr lang="en-US" sz="1400" dirty="0">
                <a:solidFill>
                  <a:srgbClr val="FFFFFF"/>
                </a:solidFill>
                <a:latin typeface="Calibri" pitchFamily="34" charset="0"/>
                <a:ea typeface="Calibri" pitchFamily="34" charset="-122"/>
                <a:cs typeface="Calibri" pitchFamily="34" charset="-120"/>
              </a:rPr>
              <a:t>Clean, validate, engineer features: 52 weeks, day-of-week, stay hours and days</a:t>
            </a:r>
            <a:endParaRPr lang="en-US" sz="2000" dirty="0"/>
          </a:p>
        </p:txBody>
      </p:sp>
      <p:sp>
        <p:nvSpPr>
          <p:cNvPr id="12" name="Text 10"/>
          <p:cNvSpPr txBox="1"/>
          <p:nvPr/>
        </p:nvSpPr>
        <p:spPr>
          <a:xfrm>
            <a:off x="7360920" y="2194560"/>
            <a:ext cx="640080" cy="548640"/>
          </a:xfrm>
          <a:prstGeom prst="rect">
            <a:avLst/>
          </a:prstGeom>
          <a:noFill/>
          <a:ln/>
        </p:spPr>
        <p:txBody>
          <a:bodyPr wrap="square" lIns="0" tIns="0" rIns="0" bIns="0" rtlCol="0" anchor="ctr"/>
          <a:lstStyle/>
          <a:p>
            <a:pPr marL="0" indent="0" algn="ctr">
              <a:buNone/>
            </a:pPr>
            <a:r>
              <a:rPr lang="en-US" sz="3000" dirty="0">
                <a:solidFill>
                  <a:srgbClr val="1C7C7D"/>
                </a:solidFill>
              </a:rPr>
              <a:t>➜</a:t>
            </a:r>
            <a:endParaRPr lang="en-US" sz="3000" dirty="0"/>
          </a:p>
        </p:txBody>
      </p:sp>
      <p:sp>
        <p:nvSpPr>
          <p:cNvPr id="13" name="Star schema"/>
          <p:cNvSpPr/>
          <p:nvPr/>
        </p:nvSpPr>
        <p:spPr>
          <a:xfrm>
            <a:off x="8046720" y="1371600"/>
            <a:ext cx="3593592" cy="2880360"/>
          </a:xfrm>
          <a:prstGeom prst="roundRect">
            <a:avLst>
              <a:gd name="adj" fmla="val 3810"/>
            </a:avLst>
          </a:prstGeom>
          <a:solidFill>
            <a:srgbClr val="0B2F4A"/>
          </a:solidFill>
          <a:ln/>
          <a:effectLst>
            <a:outerShdw blurRad="76200" dist="25400" dir="5400000" algn="bl" rotWithShape="0">
              <a:srgbClr val="000000">
                <a:alpha val="12000"/>
              </a:srgbClr>
            </a:outerShdw>
          </a:effectLst>
        </p:spPr>
      </p:sp>
      <p:sp>
        <p:nvSpPr>
          <p:cNvPr id="14" name="Text 12"/>
          <p:cNvSpPr txBox="1"/>
          <p:nvPr/>
        </p:nvSpPr>
        <p:spPr>
          <a:xfrm>
            <a:off x="8229600" y="1371600"/>
            <a:ext cx="3246120" cy="28803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Normalized Star Schema</a:t>
            </a:r>
            <a:endParaRPr lang="en-US" sz="2000" dirty="0"/>
          </a:p>
          <a:p>
            <a:pPr marL="0" indent="0">
              <a:buNone/>
            </a:pPr>
            <a:r>
              <a:rPr lang="en-US" sz="1400" dirty="0">
                <a:solidFill>
                  <a:srgbClr val="FFFFFF"/>
                </a:solidFill>
                <a:latin typeface="Calibri" pitchFamily="34" charset="0"/>
                <a:ea typeface="Calibri" pitchFamily="34" charset="-122"/>
                <a:cs typeface="Calibri" pitchFamily="34" charset="-120"/>
              </a:rPr>
              <a:t>Anti-Cartesian grain isolation: weekly logs and patient-level records never multiply metrics</a:t>
            </a:r>
            <a:endParaRPr lang="en-US" sz="2000" dirty="0"/>
          </a:p>
        </p:txBody>
      </p:sp>
      <p:sp>
        <p:nvSpPr>
          <p:cNvPr id="15" name="Stat duplicate records"/>
          <p:cNvSpPr/>
          <p:nvPr/>
        </p:nvSpPr>
        <p:spPr>
          <a:xfrm>
            <a:off x="548640" y="4480560"/>
            <a:ext cx="3593592" cy="1143000"/>
          </a:xfrm>
          <a:prstGeom prst="roundRect">
            <a:avLst>
              <a:gd name="adj" fmla="val 8000"/>
            </a:avLst>
          </a:prstGeom>
          <a:solidFill>
            <a:srgbClr val="DDEFEE"/>
          </a:solidFill>
          <a:ln/>
          <a:effectLst>
            <a:outerShdw blurRad="76200" dist="25400" dir="5400000" algn="bl" rotWithShape="0">
              <a:srgbClr val="000000">
                <a:alpha val="12000"/>
              </a:srgbClr>
            </a:outerShdw>
          </a:effectLst>
        </p:spPr>
      </p:sp>
      <p:sp>
        <p:nvSpPr>
          <p:cNvPr id="16" name="Text 14"/>
          <p:cNvSpPr txBox="1"/>
          <p:nvPr/>
        </p:nvSpPr>
        <p:spPr>
          <a:xfrm>
            <a:off x="548640" y="4617720"/>
            <a:ext cx="3593592" cy="571500"/>
          </a:xfrm>
          <a:prstGeom prst="rect">
            <a:avLst/>
          </a:prstGeom>
          <a:noFill/>
          <a:ln/>
        </p:spPr>
        <p:txBody>
          <a:bodyPr wrap="square" lIns="0" tIns="0" rIns="0" bIns="0" rtlCol="0" anchor="ctr"/>
          <a:lstStyle/>
          <a:p>
            <a:pPr marL="0" indent="0" algn="ctr">
              <a:buNone/>
            </a:pPr>
            <a:r>
              <a:rPr lang="en-US" sz="3200" b="1" dirty="0">
                <a:solidFill>
                  <a:srgbClr val="0B2F4A"/>
                </a:solidFill>
                <a:latin typeface="Cambria" pitchFamily="34" charset="0"/>
                <a:ea typeface="Cambria" pitchFamily="34" charset="-122"/>
                <a:cs typeface="Cambria" pitchFamily="34" charset="-120"/>
              </a:rPr>
              <a:t>0</a:t>
            </a:r>
            <a:endParaRPr lang="en-US" sz="3200" dirty="0"/>
          </a:p>
        </p:txBody>
      </p:sp>
      <p:sp>
        <p:nvSpPr>
          <p:cNvPr id="17" name="Text 15"/>
          <p:cNvSpPr txBox="1"/>
          <p:nvPr/>
        </p:nvSpPr>
        <p:spPr>
          <a:xfrm>
            <a:off x="640080" y="5109210"/>
            <a:ext cx="3410712" cy="457200"/>
          </a:xfrm>
          <a:prstGeom prst="rect">
            <a:avLst/>
          </a:prstGeom>
          <a:noFill/>
          <a:ln/>
        </p:spPr>
        <p:txBody>
          <a:bodyPr wrap="square" lIns="0" tIns="0" rIns="0" bIns="0" rtlCol="0" anchor="t"/>
          <a:lstStyle/>
          <a:p>
            <a:pPr marL="0" indent="0" algn="ctr">
              <a:buNone/>
            </a:pPr>
            <a:r>
              <a:rPr lang="en-US" sz="1300" dirty="0">
                <a:solidFill>
                  <a:srgbClr val="1B2B38"/>
                </a:solidFill>
                <a:latin typeface="Calibri" pitchFamily="34" charset="0"/>
                <a:ea typeface="Calibri" pitchFamily="34" charset="-122"/>
                <a:cs typeface="Calibri" pitchFamily="34" charset="-120"/>
              </a:rPr>
              <a:t>duplicate records</a:t>
            </a:r>
            <a:endParaRPr lang="en-US" sz="1300" dirty="0"/>
          </a:p>
        </p:txBody>
      </p:sp>
      <p:sp>
        <p:nvSpPr>
          <p:cNvPr id="18" name="Stat data completeness"/>
          <p:cNvSpPr/>
          <p:nvPr/>
        </p:nvSpPr>
        <p:spPr>
          <a:xfrm>
            <a:off x="4297680" y="4480560"/>
            <a:ext cx="3593592" cy="1143000"/>
          </a:xfrm>
          <a:prstGeom prst="roundRect">
            <a:avLst>
              <a:gd name="adj" fmla="val 8000"/>
            </a:avLst>
          </a:prstGeom>
          <a:solidFill>
            <a:srgbClr val="DDEFEE"/>
          </a:solidFill>
          <a:ln/>
          <a:effectLst>
            <a:outerShdw blurRad="76200" dist="25400" dir="5400000" algn="bl" rotWithShape="0">
              <a:srgbClr val="000000">
                <a:alpha val="12000"/>
              </a:srgbClr>
            </a:outerShdw>
          </a:effectLst>
        </p:spPr>
      </p:sp>
      <p:sp>
        <p:nvSpPr>
          <p:cNvPr id="19" name="Text 17"/>
          <p:cNvSpPr txBox="1"/>
          <p:nvPr/>
        </p:nvSpPr>
        <p:spPr>
          <a:xfrm>
            <a:off x="4297680" y="4617720"/>
            <a:ext cx="3593592" cy="571500"/>
          </a:xfrm>
          <a:prstGeom prst="rect">
            <a:avLst/>
          </a:prstGeom>
          <a:noFill/>
          <a:ln/>
        </p:spPr>
        <p:txBody>
          <a:bodyPr wrap="square" lIns="0" tIns="0" rIns="0" bIns="0" rtlCol="0" anchor="ctr"/>
          <a:lstStyle/>
          <a:p>
            <a:pPr marL="0" indent="0" algn="ctr">
              <a:buNone/>
            </a:pPr>
            <a:r>
              <a:rPr lang="en-US" sz="3200" b="1" dirty="0">
                <a:solidFill>
                  <a:srgbClr val="0B2F4A"/>
                </a:solidFill>
                <a:latin typeface="Cambria" pitchFamily="34" charset="0"/>
                <a:ea typeface="Cambria" pitchFamily="34" charset="-122"/>
                <a:cs typeface="Cambria" pitchFamily="34" charset="-120"/>
              </a:rPr>
              <a:t>99.8%+</a:t>
            </a:r>
            <a:endParaRPr lang="en-US" sz="3200" dirty="0"/>
          </a:p>
        </p:txBody>
      </p:sp>
      <p:sp>
        <p:nvSpPr>
          <p:cNvPr id="20" name="Text 18"/>
          <p:cNvSpPr txBox="1"/>
          <p:nvPr/>
        </p:nvSpPr>
        <p:spPr>
          <a:xfrm>
            <a:off x="4389120" y="5109210"/>
            <a:ext cx="3410712" cy="457200"/>
          </a:xfrm>
          <a:prstGeom prst="rect">
            <a:avLst/>
          </a:prstGeom>
          <a:noFill/>
          <a:ln/>
        </p:spPr>
        <p:txBody>
          <a:bodyPr wrap="square" lIns="0" tIns="0" rIns="0" bIns="0" rtlCol="0" anchor="t"/>
          <a:lstStyle/>
          <a:p>
            <a:pPr marL="0" indent="0" algn="ctr">
              <a:buNone/>
            </a:pPr>
            <a:r>
              <a:rPr lang="en-US" sz="1300" dirty="0">
                <a:solidFill>
                  <a:srgbClr val="1B2B38"/>
                </a:solidFill>
                <a:latin typeface="Calibri" pitchFamily="34" charset="0"/>
                <a:ea typeface="Calibri" pitchFamily="34" charset="-122"/>
                <a:cs typeface="Calibri" pitchFamily="34" charset="-120"/>
              </a:rPr>
              <a:t>data completeness</a:t>
            </a:r>
            <a:endParaRPr lang="en-US" sz="1300" dirty="0"/>
          </a:p>
        </p:txBody>
      </p:sp>
      <p:sp>
        <p:nvSpPr>
          <p:cNvPr id="21" name="Stat referential integrity (ADM-, PAT-, MOV-, RES-)"/>
          <p:cNvSpPr/>
          <p:nvPr/>
        </p:nvSpPr>
        <p:spPr>
          <a:xfrm>
            <a:off x="8046720" y="4480560"/>
            <a:ext cx="3593592" cy="1143000"/>
          </a:xfrm>
          <a:prstGeom prst="roundRect">
            <a:avLst>
              <a:gd name="adj" fmla="val 8000"/>
            </a:avLst>
          </a:prstGeom>
          <a:solidFill>
            <a:srgbClr val="DDEFEE"/>
          </a:solidFill>
          <a:ln/>
          <a:effectLst>
            <a:outerShdw blurRad="76200" dist="25400" dir="5400000" algn="bl" rotWithShape="0">
              <a:srgbClr val="000000">
                <a:alpha val="12000"/>
              </a:srgbClr>
            </a:outerShdw>
          </a:effectLst>
        </p:spPr>
      </p:sp>
      <p:sp>
        <p:nvSpPr>
          <p:cNvPr id="22" name="Text 20"/>
          <p:cNvSpPr txBox="1"/>
          <p:nvPr/>
        </p:nvSpPr>
        <p:spPr>
          <a:xfrm>
            <a:off x="8046720" y="4617720"/>
            <a:ext cx="3593592" cy="571500"/>
          </a:xfrm>
          <a:prstGeom prst="rect">
            <a:avLst/>
          </a:prstGeom>
          <a:noFill/>
          <a:ln/>
        </p:spPr>
        <p:txBody>
          <a:bodyPr wrap="square" lIns="0" tIns="0" rIns="0" bIns="0" rtlCol="0" anchor="ctr"/>
          <a:lstStyle/>
          <a:p>
            <a:pPr marL="0" indent="0" algn="ctr">
              <a:buNone/>
            </a:pPr>
            <a:r>
              <a:rPr lang="en-US" sz="3200" b="1" dirty="0">
                <a:solidFill>
                  <a:srgbClr val="0B2F4A"/>
                </a:solidFill>
                <a:latin typeface="Cambria" pitchFamily="34" charset="0"/>
                <a:ea typeface="Cambria" pitchFamily="34" charset="-122"/>
                <a:cs typeface="Cambria" pitchFamily="34" charset="-120"/>
              </a:rPr>
              <a:t>100%</a:t>
            </a:r>
            <a:endParaRPr lang="en-US" sz="3200" dirty="0"/>
          </a:p>
        </p:txBody>
      </p:sp>
      <p:sp>
        <p:nvSpPr>
          <p:cNvPr id="23" name="Text 21"/>
          <p:cNvSpPr txBox="1"/>
          <p:nvPr/>
        </p:nvSpPr>
        <p:spPr>
          <a:xfrm>
            <a:off x="8138160" y="5109210"/>
            <a:ext cx="3410712" cy="457200"/>
          </a:xfrm>
          <a:prstGeom prst="rect">
            <a:avLst/>
          </a:prstGeom>
          <a:noFill/>
          <a:ln/>
        </p:spPr>
        <p:txBody>
          <a:bodyPr wrap="square" lIns="0" tIns="0" rIns="0" bIns="0" rtlCol="0" anchor="t"/>
          <a:lstStyle/>
          <a:p>
            <a:pPr marL="0" indent="0" algn="ctr">
              <a:buNone/>
            </a:pPr>
            <a:r>
              <a:rPr lang="en-US" sz="1300" dirty="0">
                <a:solidFill>
                  <a:srgbClr val="1B2B38"/>
                </a:solidFill>
                <a:latin typeface="Calibri" pitchFamily="34" charset="0"/>
                <a:ea typeface="Calibri" pitchFamily="34" charset="-122"/>
                <a:cs typeface="Calibri" pitchFamily="34" charset="-120"/>
              </a:rPr>
              <a:t>referential integrity (ADM-, PAT-, MOV-, RES-)</a:t>
            </a:r>
            <a:endParaRPr lang="en-US" sz="1300" dirty="0"/>
          </a:p>
        </p:txBody>
      </p:sp>
      <p:sp>
        <p:nvSpPr>
          <p:cNvPr id="24" name="Takeaway card"/>
          <p:cNvSpPr/>
          <p:nvPr/>
        </p:nvSpPr>
        <p:spPr>
          <a:xfrm>
            <a:off x="548640" y="5806440"/>
            <a:ext cx="11091672" cy="685800"/>
          </a:xfrm>
          <a:prstGeom prst="roundRect">
            <a:avLst>
              <a:gd name="adj" fmla="val 13333"/>
            </a:avLst>
          </a:prstGeom>
          <a:solidFill>
            <a:srgbClr val="DDEFEE"/>
          </a:solidFill>
          <a:ln/>
        </p:spPr>
      </p:sp>
      <p:sp>
        <p:nvSpPr>
          <p:cNvPr id="25" name="Text 23"/>
          <p:cNvSpPr txBox="1"/>
          <p:nvPr/>
        </p:nvSpPr>
        <p:spPr>
          <a:xfrm>
            <a:off x="777240" y="5806440"/>
            <a:ext cx="10652760" cy="685800"/>
          </a:xfrm>
          <a:prstGeom prst="rect">
            <a:avLst/>
          </a:prstGeom>
          <a:noFill/>
          <a:ln/>
        </p:spPr>
        <p:txBody>
          <a:bodyPr wrap="square" lIns="0" tIns="0" rIns="0" bIns="0" rtlCol="0" anchor="ctr"/>
          <a:lstStyle/>
          <a:p>
            <a:pPr marL="0" indent="0">
              <a:buNone/>
            </a:pPr>
            <a:r>
              <a:rPr lang="en-US" sz="1500" b="1" dirty="0">
                <a:solidFill>
                  <a:srgbClr val="1C7C7D"/>
                </a:solidFill>
                <a:latin typeface="Calibri" pitchFamily="34" charset="0"/>
                <a:ea typeface="Calibri" pitchFamily="34" charset="-122"/>
                <a:cs typeface="Calibri" pitchFamily="34" charset="-120"/>
              </a:rPr>
              <a:t>Takeaway: </a:t>
            </a:r>
            <a:r>
              <a:rPr lang="en-US" sz="1500" dirty="0">
                <a:solidFill>
                  <a:srgbClr val="1B2B38"/>
                </a:solidFill>
                <a:latin typeface="Calibri" pitchFamily="34" charset="0"/>
                <a:ea typeface="Calibri" pitchFamily="34" charset="-122"/>
                <a:cs typeface="Calibri" pitchFamily="34" charset="-120"/>
              </a:rPr>
              <a:t>Solving grain mismatch up front guarantees 100% aggregation integrity in every Tableau view.</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rgbClr val="0B2F4A"/>
                </a:solidFill>
                <a:latin typeface="Cambria" pitchFamily="34" charset="0"/>
                <a:ea typeface="Cambria" pitchFamily="34" charset="-122"/>
                <a:cs typeface="Cambria" pitchFamily="34" charset="-120"/>
              </a:rPr>
              <a:t>Storyboard Architecture: Seamless Arrow Navigation</a:t>
            </a:r>
            <a:endParaRPr lang="en-US" sz="3000" dirty="0"/>
          </a:p>
        </p:txBody>
      </p:sp>
      <p:sp>
        <p:nvSpPr>
          <p:cNvPr id="3" name="Tier 1"/>
          <p:cNvSpPr/>
          <p:nvPr/>
        </p:nvSpPr>
        <p:spPr>
          <a:xfrm>
            <a:off x="548640" y="1371600"/>
            <a:ext cx="3291840" cy="3200400"/>
          </a:xfrm>
          <a:prstGeom prst="roundRect">
            <a:avLst>
              <a:gd name="adj" fmla="val 3429"/>
            </a:avLst>
          </a:prstGeom>
          <a:solidFill>
            <a:srgbClr val="F4F8FA"/>
          </a:solidFill>
          <a:ln/>
          <a:effectLst>
            <a:outerShdw blurRad="76200" dist="25400" dir="5400000" algn="bl" rotWithShape="0">
              <a:srgbClr val="000000">
                <a:alpha val="12000"/>
              </a:srgbClr>
            </a:outerShdw>
          </a:effectLst>
        </p:spPr>
      </p:sp>
      <p:sp>
        <p:nvSpPr>
          <p:cNvPr id="4" name="Text 2"/>
          <p:cNvSpPr txBox="1"/>
          <p:nvPr/>
        </p:nvSpPr>
        <p:spPr>
          <a:xfrm>
            <a:off x="822960" y="1554480"/>
            <a:ext cx="2743200" cy="320040"/>
          </a:xfrm>
          <a:prstGeom prst="rect">
            <a:avLst/>
          </a:prstGeom>
          <a:noFill/>
          <a:ln/>
        </p:spPr>
        <p:txBody>
          <a:bodyPr wrap="square" lIns="0" tIns="0" rIns="0" bIns="0" rtlCol="0" anchor="ctr"/>
          <a:lstStyle/>
          <a:p>
            <a:pPr marL="0" indent="0">
              <a:buNone/>
            </a:pPr>
            <a:r>
              <a:rPr lang="en-US" sz="1300" b="1" kern="0" spc="200" dirty="0">
                <a:solidFill>
                  <a:srgbClr val="1C7C7D"/>
                </a:solidFill>
                <a:latin typeface="Calibri" pitchFamily="34" charset="0"/>
                <a:ea typeface="Calibri" pitchFamily="34" charset="-122"/>
                <a:cs typeface="Calibri" pitchFamily="34" charset="-120"/>
              </a:rPr>
              <a:t>TIER 1</a:t>
            </a:r>
            <a:endParaRPr lang="en-US" sz="1300" dirty="0"/>
          </a:p>
        </p:txBody>
      </p:sp>
      <p:sp>
        <p:nvSpPr>
          <p:cNvPr id="5" name="Text 3"/>
          <p:cNvSpPr txBox="1"/>
          <p:nvPr/>
        </p:nvSpPr>
        <p:spPr>
          <a:xfrm>
            <a:off x="822960" y="1920240"/>
            <a:ext cx="2743200" cy="822960"/>
          </a:xfrm>
          <a:prstGeom prst="rect">
            <a:avLst/>
          </a:prstGeom>
          <a:noFill/>
          <a:ln/>
        </p:spPr>
        <p:txBody>
          <a:bodyPr wrap="square" lIns="0" tIns="0" rIns="0" bIns="0" rtlCol="0" anchor="t"/>
          <a:lstStyle/>
          <a:p>
            <a:pPr marL="0" indent="0">
              <a:buNone/>
            </a:pPr>
            <a:r>
              <a:rPr lang="en-US" sz="2200" b="1" dirty="0">
                <a:solidFill>
                  <a:srgbClr val="0B2F4A"/>
                </a:solidFill>
                <a:latin typeface="Cambria" pitchFamily="34" charset="0"/>
                <a:ea typeface="Cambria" pitchFamily="34" charset="-122"/>
                <a:cs typeface="Cambria" pitchFamily="34" charset="-120"/>
              </a:rPr>
              <a:t>Hospital Overview</a:t>
            </a:r>
            <a:endParaRPr lang="en-US" sz="2200" dirty="0"/>
          </a:p>
        </p:txBody>
      </p:sp>
      <p:sp>
        <p:nvSpPr>
          <p:cNvPr id="6" name="Text 4"/>
          <p:cNvSpPr txBox="1"/>
          <p:nvPr/>
        </p:nvSpPr>
        <p:spPr>
          <a:xfrm>
            <a:off x="822960" y="2788920"/>
            <a:ext cx="2743200" cy="822960"/>
          </a:xfrm>
          <a:prstGeom prst="rect">
            <a:avLst/>
          </a:prstGeom>
          <a:noFill/>
          <a:ln/>
        </p:spPr>
        <p:txBody>
          <a:bodyPr wrap="square" lIns="0" tIns="0" rIns="0" bIns="0" rtlCol="0" anchor="t"/>
          <a:lstStyle/>
          <a:p>
            <a:pPr marL="0" indent="0">
              <a:buNone/>
            </a:pPr>
            <a:r>
              <a:rPr lang="en-US" sz="1500" dirty="0">
                <a:solidFill>
                  <a:srgbClr val="1B2B38"/>
                </a:solidFill>
                <a:latin typeface="Calibri" pitchFamily="34" charset="0"/>
                <a:ea typeface="Calibri" pitchFamily="34" charset="-122"/>
                <a:cs typeface="Calibri" pitchFamily="34" charset="-120"/>
              </a:rPr>
              <a:t>Macro throughput, weekly demand, department intake</a:t>
            </a:r>
            <a:endParaRPr lang="en-US" sz="1500" dirty="0"/>
          </a:p>
        </p:txBody>
      </p:sp>
      <p:sp>
        <p:nvSpPr>
          <p:cNvPr id="7" name="Text 5"/>
          <p:cNvSpPr txBox="1"/>
          <p:nvPr/>
        </p:nvSpPr>
        <p:spPr>
          <a:xfrm>
            <a:off x="822960" y="3749040"/>
            <a:ext cx="2743200" cy="640080"/>
          </a:xfrm>
          <a:prstGeom prst="rect">
            <a:avLst/>
          </a:prstGeom>
          <a:noFill/>
          <a:ln/>
        </p:spPr>
        <p:txBody>
          <a:bodyPr wrap="square" lIns="0" tIns="0" rIns="0" bIns="0" rtlCol="0" anchor="t"/>
          <a:lstStyle/>
          <a:p>
            <a:pPr marL="0" indent="0">
              <a:buNone/>
            </a:pPr>
            <a:r>
              <a:rPr lang="en-US" sz="1400" b="1" dirty="0">
                <a:solidFill>
                  <a:srgbClr val="1C7C7D"/>
                </a:solidFill>
                <a:latin typeface="Calibri" pitchFamily="34" charset="0"/>
                <a:ea typeface="Calibri" pitchFamily="34" charset="-122"/>
                <a:cs typeface="Calibri" pitchFamily="34" charset="-120"/>
              </a:rPr>
              <a:t>Next ( &gt; ) opens Patient Flow</a:t>
            </a:r>
            <a:endParaRPr lang="en-US" sz="1400" dirty="0"/>
          </a:p>
        </p:txBody>
      </p:sp>
      <p:sp>
        <p:nvSpPr>
          <p:cNvPr id="8" name="Nav arrow 1"/>
          <p:cNvSpPr/>
          <p:nvPr/>
        </p:nvSpPr>
        <p:spPr>
          <a:xfrm>
            <a:off x="3858768" y="2697480"/>
            <a:ext cx="438912" cy="438912"/>
          </a:xfrm>
          <a:prstGeom prst="ellipse">
            <a:avLst/>
          </a:prstGeom>
          <a:solidFill>
            <a:srgbClr val="1B2B38"/>
          </a:solidFill>
          <a:ln/>
        </p:spPr>
      </p:sp>
      <p:sp>
        <p:nvSpPr>
          <p:cNvPr id="9" name="Text 7"/>
          <p:cNvSpPr txBox="1"/>
          <p:nvPr/>
        </p:nvSpPr>
        <p:spPr>
          <a:xfrm>
            <a:off x="3858768" y="2697480"/>
            <a:ext cx="438912"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&gt;</a:t>
            </a:r>
            <a:endParaRPr lang="en-US" sz="2000" dirty="0"/>
          </a:p>
        </p:txBody>
      </p:sp>
      <p:sp>
        <p:nvSpPr>
          <p:cNvPr id="10" name="Tier 2"/>
          <p:cNvSpPr/>
          <p:nvPr/>
        </p:nvSpPr>
        <p:spPr>
          <a:xfrm>
            <a:off x="4297680" y="1371600"/>
            <a:ext cx="3291840" cy="3200400"/>
          </a:xfrm>
          <a:prstGeom prst="roundRect">
            <a:avLst>
              <a:gd name="adj" fmla="val 3429"/>
            </a:avLst>
          </a:prstGeom>
          <a:solidFill>
            <a:srgbClr val="0B2F4A"/>
          </a:solidFill>
          <a:ln/>
          <a:effectLst>
            <a:outerShdw blurRad="76200" dist="25400" dir="5400000" algn="bl" rotWithShape="0">
              <a:srgbClr val="000000">
                <a:alpha val="12000"/>
              </a:srgbClr>
            </a:outerShdw>
          </a:effectLst>
        </p:spPr>
      </p:sp>
      <p:sp>
        <p:nvSpPr>
          <p:cNvPr id="11" name="Text 9"/>
          <p:cNvSpPr txBox="1"/>
          <p:nvPr/>
        </p:nvSpPr>
        <p:spPr>
          <a:xfrm>
            <a:off x="4572000" y="1554480"/>
            <a:ext cx="2743200" cy="320040"/>
          </a:xfrm>
          <a:prstGeom prst="rect">
            <a:avLst/>
          </a:prstGeom>
          <a:noFill/>
          <a:ln/>
        </p:spPr>
        <p:txBody>
          <a:bodyPr wrap="square" lIns="0" tIns="0" rIns="0" bIns="0" rtlCol="0" anchor="ctr"/>
          <a:lstStyle/>
          <a:p>
            <a:pPr marL="0" indent="0">
              <a:buNone/>
            </a:pPr>
            <a:r>
              <a:rPr lang="en-US" sz="1300" b="1" kern="0" spc="200" dirty="0">
                <a:solidFill>
                  <a:srgbClr val="7FD6D2"/>
                </a:solidFill>
                <a:latin typeface="Calibri" pitchFamily="34" charset="0"/>
                <a:ea typeface="Calibri" pitchFamily="34" charset="-122"/>
                <a:cs typeface="Calibri" pitchFamily="34" charset="-120"/>
              </a:rPr>
              <a:t>TIER 2</a:t>
            </a:r>
            <a:endParaRPr lang="en-US" sz="1300" dirty="0"/>
          </a:p>
        </p:txBody>
      </p:sp>
      <p:sp>
        <p:nvSpPr>
          <p:cNvPr id="12" name="Text 10"/>
          <p:cNvSpPr txBox="1"/>
          <p:nvPr/>
        </p:nvSpPr>
        <p:spPr>
          <a:xfrm>
            <a:off x="4572000" y="1920240"/>
            <a:ext cx="2743200" cy="822960"/>
          </a:xfrm>
          <a:prstGeom prst="rect">
            <a:avLst/>
          </a:prstGeom>
          <a:noFill/>
          <a:ln/>
        </p:spPr>
        <p:txBody>
          <a:bodyPr wrap="square" lIns="0" tIns="0" rIns="0" bIns="0" rtlCol="0" anchor="t"/>
          <a:lstStyle/>
          <a:p>
            <a:pPr marL="0" indent="0">
              <a:buNone/>
            </a:pPr>
            <a:r>
              <a:rPr lang="en-US" sz="2200" b="1" dirty="0">
                <a:solidFill>
                  <a:srgbClr val="FFFFFF"/>
                </a:solidFill>
                <a:latin typeface="Cambria" pitchFamily="34" charset="0"/>
                <a:ea typeface="Cambria" pitchFamily="34" charset="-122"/>
                <a:cs typeface="Cambria" pitchFamily="34" charset="-120"/>
              </a:rPr>
              <a:t>Patient Flow &amp; Quality</a:t>
            </a:r>
            <a:endParaRPr lang="en-US" sz="2200" dirty="0"/>
          </a:p>
        </p:txBody>
      </p:sp>
      <p:sp>
        <p:nvSpPr>
          <p:cNvPr id="13" name="Text 11"/>
          <p:cNvSpPr txBox="1"/>
          <p:nvPr/>
        </p:nvSpPr>
        <p:spPr>
          <a:xfrm>
            <a:off x="4572000" y="2788920"/>
            <a:ext cx="2743200" cy="822960"/>
          </a:xfrm>
          <a:prstGeom prst="rect">
            <a:avLst/>
          </a:prstGeom>
          <a:noFill/>
          <a:ln/>
        </p:spPr>
        <p:txBody>
          <a:bodyPr wrap="square" lIns="0" tIns="0" rIns="0" bIns="0" rtlCol="0" anchor="t"/>
          <a:lstStyle/>
          <a:p>
            <a:pPr marL="0" indent="0">
              <a:buNone/>
            </a:pPr>
            <a:r>
              <a:rPr lang="en-US" sz="1500" dirty="0">
                <a:solidFill>
                  <a:srgbClr val="CADCE8"/>
                </a:solidFill>
                <a:latin typeface="Calibri" pitchFamily="34" charset="0"/>
                <a:ea typeface="Calibri" pitchFamily="34" charset="-122"/>
                <a:cs typeface="Calibri" pitchFamily="34" charset="-120"/>
              </a:rPr>
              <a:t>Movements, age mix, ALOS, event triggers</a:t>
            </a:r>
            <a:endParaRPr lang="en-US" sz="1500" dirty="0"/>
          </a:p>
        </p:txBody>
      </p:sp>
      <p:sp>
        <p:nvSpPr>
          <p:cNvPr id="14" name="Text 12"/>
          <p:cNvSpPr txBox="1"/>
          <p:nvPr/>
        </p:nvSpPr>
        <p:spPr>
          <a:xfrm>
            <a:off x="4572000" y="3749040"/>
            <a:ext cx="2743200" cy="640080"/>
          </a:xfrm>
          <a:prstGeom prst="rect">
            <a:avLst/>
          </a:prstGeom>
          <a:noFill/>
          <a:ln/>
        </p:spPr>
        <p:txBody>
          <a:bodyPr wrap="square" lIns="0" tIns="0" rIns="0" bIns="0" rtlCol="0" anchor="t"/>
          <a:lstStyle/>
          <a:p>
            <a:pPr marL="0" indent="0">
              <a:buNone/>
            </a:pPr>
            <a:r>
              <a:rPr lang="en-US" sz="1400" b="1" dirty="0">
                <a:solidFill>
                  <a:srgbClr val="7FD6D2"/>
                </a:solidFill>
                <a:latin typeface="Calibri" pitchFamily="34" charset="0"/>
                <a:ea typeface="Calibri" pitchFamily="34" charset="-122"/>
                <a:cs typeface="Calibri" pitchFamily="34" charset="-120"/>
              </a:rPr>
              <a:t>Back ( &lt; ) to Overview; Next ( &gt; ) to Resources</a:t>
            </a:r>
            <a:endParaRPr lang="en-US" sz="1400" dirty="0"/>
          </a:p>
        </p:txBody>
      </p:sp>
      <p:sp>
        <p:nvSpPr>
          <p:cNvPr id="15" name="Nav arrow 2"/>
          <p:cNvSpPr/>
          <p:nvPr/>
        </p:nvSpPr>
        <p:spPr>
          <a:xfrm>
            <a:off x="7607808" y="2697480"/>
            <a:ext cx="438912" cy="438912"/>
          </a:xfrm>
          <a:prstGeom prst="ellipse">
            <a:avLst/>
          </a:prstGeom>
          <a:solidFill>
            <a:srgbClr val="1B2B38"/>
          </a:solidFill>
          <a:ln/>
        </p:spPr>
      </p:sp>
      <p:sp>
        <p:nvSpPr>
          <p:cNvPr id="16" name="Text 14"/>
          <p:cNvSpPr txBox="1"/>
          <p:nvPr/>
        </p:nvSpPr>
        <p:spPr>
          <a:xfrm>
            <a:off x="7607808" y="2697480"/>
            <a:ext cx="438912"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&gt;</a:t>
            </a:r>
            <a:endParaRPr lang="en-US" sz="2000" dirty="0"/>
          </a:p>
        </p:txBody>
      </p:sp>
      <p:sp>
        <p:nvSpPr>
          <p:cNvPr id="17" name="Tier 3"/>
          <p:cNvSpPr/>
          <p:nvPr/>
        </p:nvSpPr>
        <p:spPr>
          <a:xfrm>
            <a:off x="8046720" y="1371600"/>
            <a:ext cx="3291840" cy="3200400"/>
          </a:xfrm>
          <a:prstGeom prst="roundRect">
            <a:avLst>
              <a:gd name="adj" fmla="val 3429"/>
            </a:avLst>
          </a:prstGeom>
          <a:solidFill>
            <a:srgbClr val="F4F8FA"/>
          </a:solidFill>
          <a:ln/>
          <a:effectLst>
            <a:outerShdw blurRad="76200" dist="25400" dir="5400000" algn="bl" rotWithShape="0">
              <a:srgbClr val="000000">
                <a:alpha val="12000"/>
              </a:srgbClr>
            </a:outerShdw>
          </a:effectLst>
        </p:spPr>
      </p:sp>
      <p:sp>
        <p:nvSpPr>
          <p:cNvPr id="18" name="Text 16"/>
          <p:cNvSpPr txBox="1"/>
          <p:nvPr/>
        </p:nvSpPr>
        <p:spPr>
          <a:xfrm>
            <a:off x="8321040" y="1554480"/>
            <a:ext cx="2743200" cy="320040"/>
          </a:xfrm>
          <a:prstGeom prst="rect">
            <a:avLst/>
          </a:prstGeom>
          <a:noFill/>
          <a:ln/>
        </p:spPr>
        <p:txBody>
          <a:bodyPr wrap="square" lIns="0" tIns="0" rIns="0" bIns="0" rtlCol="0" anchor="ctr"/>
          <a:lstStyle/>
          <a:p>
            <a:pPr marL="0" indent="0">
              <a:buNone/>
            </a:pPr>
            <a:r>
              <a:rPr lang="en-US" sz="1300" b="1" kern="0" spc="200" dirty="0">
                <a:solidFill>
                  <a:srgbClr val="1C7C7D"/>
                </a:solidFill>
                <a:latin typeface="Calibri" pitchFamily="34" charset="0"/>
                <a:ea typeface="Calibri" pitchFamily="34" charset="-122"/>
                <a:cs typeface="Calibri" pitchFamily="34" charset="-120"/>
              </a:rPr>
              <a:t>TIER 3</a:t>
            </a:r>
            <a:endParaRPr lang="en-US" sz="1300" dirty="0"/>
          </a:p>
        </p:txBody>
      </p:sp>
      <p:sp>
        <p:nvSpPr>
          <p:cNvPr id="19" name="Text 17"/>
          <p:cNvSpPr txBox="1"/>
          <p:nvPr/>
        </p:nvSpPr>
        <p:spPr>
          <a:xfrm>
            <a:off x="8321040" y="1920240"/>
            <a:ext cx="2743200" cy="822960"/>
          </a:xfrm>
          <a:prstGeom prst="rect">
            <a:avLst/>
          </a:prstGeom>
          <a:noFill/>
          <a:ln/>
        </p:spPr>
        <p:txBody>
          <a:bodyPr wrap="square" lIns="0" tIns="0" rIns="0" bIns="0" rtlCol="0" anchor="t"/>
          <a:lstStyle/>
          <a:p>
            <a:pPr marL="0" indent="0">
              <a:buNone/>
            </a:pPr>
            <a:r>
              <a:rPr lang="en-US" sz="2200" b="1" dirty="0">
                <a:solidFill>
                  <a:srgbClr val="0B2F4A"/>
                </a:solidFill>
                <a:latin typeface="Cambria" pitchFamily="34" charset="0"/>
                <a:ea typeface="Cambria" pitchFamily="34" charset="-122"/>
                <a:cs typeface="Cambria" pitchFamily="34" charset="-120"/>
              </a:rPr>
              <a:t>Resource &amp; Utilization</a:t>
            </a:r>
            <a:endParaRPr lang="en-US" sz="2200" dirty="0"/>
          </a:p>
        </p:txBody>
      </p:sp>
      <p:sp>
        <p:nvSpPr>
          <p:cNvPr id="20" name="Text 18"/>
          <p:cNvSpPr txBox="1"/>
          <p:nvPr/>
        </p:nvSpPr>
        <p:spPr>
          <a:xfrm>
            <a:off x="8321040" y="2788920"/>
            <a:ext cx="2743200" cy="822960"/>
          </a:xfrm>
          <a:prstGeom prst="rect">
            <a:avLst/>
          </a:prstGeom>
          <a:noFill/>
          <a:ln/>
        </p:spPr>
        <p:txBody>
          <a:bodyPr wrap="square" lIns="0" tIns="0" rIns="0" bIns="0" rtlCol="0" anchor="t"/>
          <a:lstStyle/>
          <a:p>
            <a:pPr marL="0" indent="0">
              <a:buNone/>
            </a:pPr>
            <a:r>
              <a:rPr lang="en-US" sz="1500" dirty="0">
                <a:solidFill>
                  <a:srgbClr val="1B2B38"/>
                </a:solidFill>
                <a:latin typeface="Calibri" pitchFamily="34" charset="0"/>
                <a:ea typeface="Calibri" pitchFamily="34" charset="-122"/>
                <a:cs typeface="Calibri" pitchFamily="34" charset="-120"/>
              </a:rPr>
              <a:t>Bed saturation, workforce strain heatmaps</a:t>
            </a:r>
            <a:endParaRPr lang="en-US" sz="1500" dirty="0"/>
          </a:p>
        </p:txBody>
      </p:sp>
      <p:sp>
        <p:nvSpPr>
          <p:cNvPr id="21" name="Text 19"/>
          <p:cNvSpPr txBox="1"/>
          <p:nvPr/>
        </p:nvSpPr>
        <p:spPr>
          <a:xfrm>
            <a:off x="8321040" y="3749040"/>
            <a:ext cx="2743200" cy="640080"/>
          </a:xfrm>
          <a:prstGeom prst="rect">
            <a:avLst/>
          </a:prstGeom>
          <a:noFill/>
          <a:ln/>
        </p:spPr>
        <p:txBody>
          <a:bodyPr wrap="square" lIns="0" tIns="0" rIns="0" bIns="0" rtlCol="0" anchor="t"/>
          <a:lstStyle/>
          <a:p>
            <a:pPr marL="0" indent="0">
              <a:buNone/>
            </a:pPr>
            <a:r>
              <a:rPr lang="en-US" sz="1400" b="1" dirty="0">
                <a:solidFill>
                  <a:srgbClr val="1C7C7D"/>
                </a:solidFill>
                <a:latin typeface="Calibri" pitchFamily="34" charset="0"/>
                <a:ea typeface="Calibri" pitchFamily="34" charset="-122"/>
                <a:cs typeface="Calibri" pitchFamily="34" charset="-120"/>
              </a:rPr>
              <a:t>Back ( &lt; ) to Patient Flow</a:t>
            </a:r>
            <a:endParaRPr lang="en-US" sz="1400" dirty="0"/>
          </a:p>
        </p:txBody>
      </p:sp>
      <p:sp>
        <p:nvSpPr>
          <p:cNvPr id="22" name="Text 20"/>
          <p:cNvSpPr txBox="1"/>
          <p:nvPr/>
        </p:nvSpPr>
        <p:spPr>
          <a:xfrm>
            <a:off x="548640" y="4846320"/>
            <a:ext cx="11064240" cy="548640"/>
          </a:xfrm>
          <a:prstGeom prst="rect">
            <a:avLst/>
          </a:prstGeom>
          <a:noFill/>
          <a:ln/>
        </p:spPr>
        <p:txBody>
          <a:bodyPr wrap="square" lIns="0" tIns="0" rIns="0" bIns="0" rtlCol="0" anchor="ctr"/>
          <a:lstStyle/>
          <a:p>
            <a:pPr marL="0" indent="0">
              <a:buNone/>
            </a:pPr>
            <a:r>
              <a:rPr lang="en-US" sz="1600" dirty="0">
                <a:solidFill>
                  <a:srgbClr val="1B2B38"/>
                </a:solidFill>
                <a:latin typeface="Calibri" pitchFamily="34" charset="0"/>
                <a:ea typeface="Calibri" pitchFamily="34" charset="-122"/>
                <a:cs typeface="Calibri" pitchFamily="34" charset="-120"/>
              </a:rPr>
              <a:t>Interactive action filtering: department selections cross-filter linked views while preserving narrative context.</a:t>
            </a:r>
            <a:endParaRPr lang="en-US" sz="1600" dirty="0"/>
          </a:p>
        </p:txBody>
      </p:sp>
      <p:sp>
        <p:nvSpPr>
          <p:cNvPr id="23" name="Takeaway card"/>
          <p:cNvSpPr/>
          <p:nvPr/>
        </p:nvSpPr>
        <p:spPr>
          <a:xfrm>
            <a:off x="548640" y="5806440"/>
            <a:ext cx="11091672" cy="685800"/>
          </a:xfrm>
          <a:prstGeom prst="roundRect">
            <a:avLst>
              <a:gd name="adj" fmla="val 13333"/>
            </a:avLst>
          </a:prstGeom>
          <a:solidFill>
            <a:srgbClr val="DDEFEE"/>
          </a:solidFill>
          <a:ln/>
        </p:spPr>
      </p:sp>
      <p:sp>
        <p:nvSpPr>
          <p:cNvPr id="24" name="Text 22"/>
          <p:cNvSpPr txBox="1"/>
          <p:nvPr/>
        </p:nvSpPr>
        <p:spPr>
          <a:xfrm>
            <a:off x="777240" y="5806440"/>
            <a:ext cx="10652760" cy="685800"/>
          </a:xfrm>
          <a:prstGeom prst="rect">
            <a:avLst/>
          </a:prstGeom>
          <a:noFill/>
          <a:ln/>
        </p:spPr>
        <p:txBody>
          <a:bodyPr wrap="square" lIns="0" tIns="0" rIns="0" bIns="0" rtlCol="0" anchor="ctr"/>
          <a:lstStyle/>
          <a:p>
            <a:pPr marL="0" indent="0">
              <a:buNone/>
            </a:pPr>
            <a:r>
              <a:rPr lang="en-US" sz="1500" b="1" dirty="0">
                <a:solidFill>
                  <a:srgbClr val="1C7C7D"/>
                </a:solidFill>
                <a:latin typeface="Calibri" pitchFamily="34" charset="0"/>
                <a:ea typeface="Calibri" pitchFamily="34" charset="-122"/>
                <a:cs typeface="Calibri" pitchFamily="34" charset="-120"/>
              </a:rPr>
              <a:t>Takeaway: </a:t>
            </a:r>
            <a:r>
              <a:rPr lang="en-US" sz="1500" dirty="0">
                <a:solidFill>
                  <a:srgbClr val="1B2B38"/>
                </a:solidFill>
                <a:latin typeface="Calibri" pitchFamily="34" charset="0"/>
                <a:ea typeface="Calibri" pitchFamily="34" charset="-122"/>
                <a:cs typeface="Calibri" pitchFamily="34" charset="-120"/>
              </a:rPr>
              <a:t>One click moves leaders from volume to patient experience to frontline strain.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rgbClr val="0B2F4A"/>
                </a:solidFill>
                <a:latin typeface="Cambria" pitchFamily="34" charset="0"/>
                <a:ea typeface="Cambria" pitchFamily="34" charset="-122"/>
                <a:cs typeface="Cambria" pitchFamily="34" charset="-120"/>
              </a:rPr>
              <a:t>Executive Snapshot: High Demand Across Departments</a:t>
            </a:r>
            <a:endParaRPr lang="en-US" sz="3000" dirty="0"/>
          </a:p>
        </p:txBody>
      </p:sp>
      <p:sp>
        <p:nvSpPr>
          <p:cNvPr id="3" name="Screenshot frame"/>
          <p:cNvSpPr/>
          <p:nvPr/>
        </p:nvSpPr>
        <p:spPr>
          <a:xfrm>
            <a:off x="502920" y="1188720"/>
            <a:ext cx="7040880" cy="4160520"/>
          </a:xfrm>
          <a:prstGeom prst="rect">
            <a:avLst/>
          </a:prstGeom>
          <a:solidFill>
            <a:srgbClr val="FFFFFF"/>
          </a:solidFill>
          <a:ln w="12700">
            <a:solidFill>
              <a:srgbClr val="C9D6DE"/>
            </a:solidFill>
            <a:prstDash val="solid"/>
          </a:ln>
        </p:spPr>
      </p:sp>
      <p:pic>
        <p:nvPicPr>
          <p:cNvPr id="4" name="Image 0" descr="Executive Snapshot: High Demand Across Departments dashboard screenshot"/>
          <p:cNvPicPr>
            <a:picLocks noChangeAspect="1"/>
          </p:cNvPicPr>
          <p:nvPr/>
        </p:nvPicPr>
        <p:blipFill>
          <a:blip r:embed="rId3"/>
          <a:stretch>
            <a:fillRect/>
          </a:stretch>
        </p:blipFill>
        <p:spPr>
          <a:xfrm>
            <a:off x="548640" y="1234440"/>
            <a:ext cx="6949440" cy="4087368"/>
          </a:xfrm>
          <a:prstGeom prst="rect">
            <a:avLst/>
          </a:prstGeom>
        </p:spPr>
      </p:pic>
      <p:sp>
        <p:nvSpPr>
          <p:cNvPr id="5" name="Stat Admissions"/>
          <p:cNvSpPr/>
          <p:nvPr/>
        </p:nvSpPr>
        <p:spPr>
          <a:xfrm>
            <a:off x="7818120" y="1188720"/>
            <a:ext cx="1828800" cy="960120"/>
          </a:xfrm>
          <a:prstGeom prst="roundRect">
            <a:avLst>
              <a:gd name="adj" fmla="val 9524"/>
            </a:avLst>
          </a:prstGeom>
          <a:solidFill>
            <a:srgbClr val="DDEFEE"/>
          </a:solidFill>
          <a:ln/>
          <a:effectLst>
            <a:outerShdw blurRad="76200" dist="25400" dir="5400000" algn="bl" rotWithShape="0">
              <a:srgbClr val="000000">
                <a:alpha val="12000"/>
              </a:srgbClr>
            </a:outerShdw>
          </a:effectLst>
        </p:spPr>
      </p:sp>
      <p:sp>
        <p:nvSpPr>
          <p:cNvPr id="6" name="Text 3"/>
          <p:cNvSpPr txBox="1"/>
          <p:nvPr/>
        </p:nvSpPr>
        <p:spPr>
          <a:xfrm>
            <a:off x="7818120" y="1325880"/>
            <a:ext cx="1828800" cy="480060"/>
          </a:xfrm>
          <a:prstGeom prst="rect">
            <a:avLst/>
          </a:prstGeom>
          <a:noFill/>
          <a:ln/>
        </p:spPr>
        <p:txBody>
          <a:bodyPr wrap="square" lIns="0" tIns="0" rIns="0" bIns="0" rtlCol="0" anchor="ctr"/>
          <a:lstStyle/>
          <a:p>
            <a:pPr marL="0" indent="0" algn="ctr">
              <a:buNone/>
            </a:pPr>
            <a:r>
              <a:rPr lang="en-US" sz="3200" b="1" dirty="0">
                <a:solidFill>
                  <a:srgbClr val="0B2F4A"/>
                </a:solidFill>
                <a:latin typeface="Cambria" pitchFamily="34" charset="0"/>
                <a:ea typeface="Cambria" pitchFamily="34" charset="-122"/>
                <a:cs typeface="Cambria" pitchFamily="34" charset="-120"/>
              </a:rPr>
              <a:t>1,000</a:t>
            </a:r>
            <a:endParaRPr lang="en-US" sz="3200" dirty="0"/>
          </a:p>
        </p:txBody>
      </p:sp>
      <p:sp>
        <p:nvSpPr>
          <p:cNvPr id="7" name="Text 4"/>
          <p:cNvSpPr txBox="1"/>
          <p:nvPr/>
        </p:nvSpPr>
        <p:spPr>
          <a:xfrm>
            <a:off x="7909560" y="1716786"/>
            <a:ext cx="1645920" cy="384048"/>
          </a:xfrm>
          <a:prstGeom prst="rect">
            <a:avLst/>
          </a:prstGeom>
          <a:noFill/>
          <a:ln/>
        </p:spPr>
        <p:txBody>
          <a:bodyPr wrap="square" lIns="0" tIns="0" rIns="0" bIns="0" rtlCol="0" anchor="t"/>
          <a:lstStyle/>
          <a:p>
            <a:pPr marL="0" indent="0" algn="ctr">
              <a:buNone/>
            </a:pPr>
            <a:r>
              <a:rPr lang="en-US" sz="1300" dirty="0">
                <a:solidFill>
                  <a:srgbClr val="1B2B38"/>
                </a:solidFill>
                <a:latin typeface="Calibri" pitchFamily="34" charset="0"/>
                <a:ea typeface="Calibri" pitchFamily="34" charset="-122"/>
                <a:cs typeface="Calibri" pitchFamily="34" charset="-120"/>
              </a:rPr>
              <a:t>Admissions</a:t>
            </a:r>
            <a:endParaRPr lang="en-US" sz="1300" dirty="0"/>
          </a:p>
        </p:txBody>
      </p:sp>
      <p:sp>
        <p:nvSpPr>
          <p:cNvPr id="8" name="Stat Average stay"/>
          <p:cNvSpPr/>
          <p:nvPr/>
        </p:nvSpPr>
        <p:spPr>
          <a:xfrm>
            <a:off x="9784080" y="1188720"/>
            <a:ext cx="1828800" cy="960120"/>
          </a:xfrm>
          <a:prstGeom prst="roundRect">
            <a:avLst>
              <a:gd name="adj" fmla="val 9524"/>
            </a:avLst>
          </a:prstGeom>
          <a:solidFill>
            <a:srgbClr val="DDEFEE"/>
          </a:solidFill>
          <a:ln/>
          <a:effectLst>
            <a:outerShdw blurRad="76200" dist="25400" dir="5400000" algn="bl" rotWithShape="0">
              <a:srgbClr val="000000">
                <a:alpha val="12000"/>
              </a:srgbClr>
            </a:outerShdw>
          </a:effectLst>
        </p:spPr>
      </p:sp>
      <p:sp>
        <p:nvSpPr>
          <p:cNvPr id="9" name="Text 6"/>
          <p:cNvSpPr txBox="1"/>
          <p:nvPr/>
        </p:nvSpPr>
        <p:spPr>
          <a:xfrm>
            <a:off x="9784080" y="1325880"/>
            <a:ext cx="1828800" cy="480060"/>
          </a:xfrm>
          <a:prstGeom prst="rect">
            <a:avLst/>
          </a:prstGeom>
          <a:noFill/>
          <a:ln/>
        </p:spPr>
        <p:txBody>
          <a:bodyPr wrap="square" lIns="0" tIns="0" rIns="0" bIns="0" rtlCol="0" anchor="ctr"/>
          <a:lstStyle/>
          <a:p>
            <a:pPr marL="0" indent="0" algn="ctr">
              <a:buNone/>
            </a:pPr>
            <a:r>
              <a:rPr lang="en-US" sz="3200" b="1" dirty="0">
                <a:solidFill>
                  <a:srgbClr val="0B2F4A"/>
                </a:solidFill>
                <a:latin typeface="Cambria" pitchFamily="34" charset="0"/>
                <a:ea typeface="Cambria" pitchFamily="34" charset="-122"/>
                <a:cs typeface="Cambria" pitchFamily="34" charset="-120"/>
              </a:rPr>
              <a:t>7 days</a:t>
            </a:r>
            <a:endParaRPr lang="en-US" sz="3200" dirty="0"/>
          </a:p>
        </p:txBody>
      </p:sp>
      <p:sp>
        <p:nvSpPr>
          <p:cNvPr id="10" name="Text 7"/>
          <p:cNvSpPr txBox="1"/>
          <p:nvPr/>
        </p:nvSpPr>
        <p:spPr>
          <a:xfrm>
            <a:off x="9875520" y="1716786"/>
            <a:ext cx="1645920" cy="384048"/>
          </a:xfrm>
          <a:prstGeom prst="rect">
            <a:avLst/>
          </a:prstGeom>
          <a:noFill/>
          <a:ln/>
        </p:spPr>
        <p:txBody>
          <a:bodyPr wrap="square" lIns="0" tIns="0" rIns="0" bIns="0" rtlCol="0" anchor="t"/>
          <a:lstStyle/>
          <a:p>
            <a:pPr marL="0" indent="0" algn="ctr">
              <a:buNone/>
            </a:pPr>
            <a:r>
              <a:rPr lang="en-US" sz="1300" dirty="0">
                <a:solidFill>
                  <a:srgbClr val="1B2B38"/>
                </a:solidFill>
                <a:latin typeface="Calibri" pitchFamily="34" charset="0"/>
                <a:ea typeface="Calibri" pitchFamily="34" charset="-122"/>
                <a:cs typeface="Calibri" pitchFamily="34" charset="-120"/>
              </a:rPr>
              <a:t>Average stay</a:t>
            </a:r>
            <a:endParaRPr lang="en-US" sz="1300" dirty="0"/>
          </a:p>
        </p:txBody>
      </p:sp>
      <p:sp>
        <p:nvSpPr>
          <p:cNvPr id="11" name="Stat Avg bed occupancy"/>
          <p:cNvSpPr/>
          <p:nvPr/>
        </p:nvSpPr>
        <p:spPr>
          <a:xfrm>
            <a:off x="7818120" y="2286000"/>
            <a:ext cx="1828800" cy="960120"/>
          </a:xfrm>
          <a:prstGeom prst="roundRect">
            <a:avLst>
              <a:gd name="adj" fmla="val 9524"/>
            </a:avLst>
          </a:prstGeom>
          <a:solidFill>
            <a:srgbClr val="DDEFEE"/>
          </a:solidFill>
          <a:ln/>
          <a:effectLst>
            <a:outerShdw blurRad="76200" dist="25400" dir="5400000" algn="bl" rotWithShape="0">
              <a:srgbClr val="000000">
                <a:alpha val="12000"/>
              </a:srgbClr>
            </a:outerShdw>
          </a:effectLst>
        </p:spPr>
      </p:sp>
      <p:sp>
        <p:nvSpPr>
          <p:cNvPr id="12" name="Text 9"/>
          <p:cNvSpPr txBox="1"/>
          <p:nvPr/>
        </p:nvSpPr>
        <p:spPr>
          <a:xfrm>
            <a:off x="7818120" y="2423160"/>
            <a:ext cx="1828800" cy="480060"/>
          </a:xfrm>
          <a:prstGeom prst="rect">
            <a:avLst/>
          </a:prstGeom>
          <a:noFill/>
          <a:ln/>
        </p:spPr>
        <p:txBody>
          <a:bodyPr wrap="square" lIns="0" tIns="0" rIns="0" bIns="0" rtlCol="0" anchor="ctr"/>
          <a:lstStyle/>
          <a:p>
            <a:pPr marL="0" indent="0" algn="ctr">
              <a:buNone/>
            </a:pPr>
            <a:r>
              <a:rPr lang="en-US" sz="3200" b="1" dirty="0">
                <a:solidFill>
                  <a:srgbClr val="0B2F4A"/>
                </a:solidFill>
                <a:latin typeface="Cambria" pitchFamily="34" charset="0"/>
                <a:ea typeface="Cambria" pitchFamily="34" charset="-122"/>
                <a:cs typeface="Cambria" pitchFamily="34" charset="-120"/>
              </a:rPr>
              <a:t>20</a:t>
            </a:r>
            <a:endParaRPr lang="en-US" sz="3200" dirty="0"/>
          </a:p>
        </p:txBody>
      </p:sp>
      <p:sp>
        <p:nvSpPr>
          <p:cNvPr id="13" name="Text 10"/>
          <p:cNvSpPr txBox="1"/>
          <p:nvPr/>
        </p:nvSpPr>
        <p:spPr>
          <a:xfrm>
            <a:off x="7909560" y="2814066"/>
            <a:ext cx="1645920" cy="384048"/>
          </a:xfrm>
          <a:prstGeom prst="rect">
            <a:avLst/>
          </a:prstGeom>
          <a:noFill/>
          <a:ln/>
        </p:spPr>
        <p:txBody>
          <a:bodyPr wrap="square" lIns="0" tIns="0" rIns="0" bIns="0" rtlCol="0" anchor="t"/>
          <a:lstStyle/>
          <a:p>
            <a:pPr marL="0" indent="0" algn="ctr">
              <a:buNone/>
            </a:pPr>
            <a:r>
              <a:rPr lang="en-US" sz="1300" dirty="0">
                <a:solidFill>
                  <a:srgbClr val="1B2B38"/>
                </a:solidFill>
                <a:latin typeface="Calibri" pitchFamily="34" charset="0"/>
                <a:ea typeface="Calibri" pitchFamily="34" charset="-122"/>
                <a:cs typeface="Calibri" pitchFamily="34" charset="-120"/>
              </a:rPr>
              <a:t>Avg bed occupancy</a:t>
            </a:r>
            <a:endParaRPr lang="en-US" sz="1300" dirty="0"/>
          </a:p>
        </p:txBody>
      </p:sp>
      <p:sp>
        <p:nvSpPr>
          <p:cNvPr id="14" name="Stat Utilization"/>
          <p:cNvSpPr/>
          <p:nvPr/>
        </p:nvSpPr>
        <p:spPr>
          <a:xfrm>
            <a:off x="9784080" y="2286000"/>
            <a:ext cx="1828800" cy="960120"/>
          </a:xfrm>
          <a:prstGeom prst="roundRect">
            <a:avLst>
              <a:gd name="adj" fmla="val 9524"/>
            </a:avLst>
          </a:prstGeom>
          <a:solidFill>
            <a:srgbClr val="DDEFEE"/>
          </a:solidFill>
          <a:ln/>
          <a:effectLst>
            <a:outerShdw blurRad="76200" dist="25400" dir="5400000" algn="bl" rotWithShape="0">
              <a:srgbClr val="000000">
                <a:alpha val="12000"/>
              </a:srgbClr>
            </a:outerShdw>
          </a:effectLst>
        </p:spPr>
      </p:sp>
      <p:sp>
        <p:nvSpPr>
          <p:cNvPr id="15" name="Text 12"/>
          <p:cNvSpPr txBox="1"/>
          <p:nvPr/>
        </p:nvSpPr>
        <p:spPr>
          <a:xfrm>
            <a:off x="9784080" y="2423160"/>
            <a:ext cx="1828800" cy="480060"/>
          </a:xfrm>
          <a:prstGeom prst="rect">
            <a:avLst/>
          </a:prstGeom>
          <a:noFill/>
          <a:ln/>
        </p:spPr>
        <p:txBody>
          <a:bodyPr wrap="square" lIns="0" tIns="0" rIns="0" bIns="0" rtlCol="0" anchor="ctr"/>
          <a:lstStyle/>
          <a:p>
            <a:pPr marL="0" indent="0" algn="ctr">
              <a:buNone/>
            </a:pPr>
            <a:r>
              <a:rPr lang="en-US" sz="3200" b="1" dirty="0">
                <a:solidFill>
                  <a:srgbClr val="E4572E"/>
                </a:solidFill>
                <a:latin typeface="Cambria" pitchFamily="34" charset="0"/>
                <a:ea typeface="Cambria" pitchFamily="34" charset="-122"/>
                <a:cs typeface="Cambria" pitchFamily="34" charset="-120"/>
              </a:rPr>
              <a:t>90.14%</a:t>
            </a:r>
            <a:endParaRPr lang="en-US" sz="3200" dirty="0"/>
          </a:p>
        </p:txBody>
      </p:sp>
      <p:sp>
        <p:nvSpPr>
          <p:cNvPr id="16" name="Text 13"/>
          <p:cNvSpPr txBox="1"/>
          <p:nvPr/>
        </p:nvSpPr>
        <p:spPr>
          <a:xfrm>
            <a:off x="9875520" y="2814066"/>
            <a:ext cx="1645920" cy="384048"/>
          </a:xfrm>
          <a:prstGeom prst="rect">
            <a:avLst/>
          </a:prstGeom>
          <a:noFill/>
          <a:ln/>
        </p:spPr>
        <p:txBody>
          <a:bodyPr wrap="square" lIns="0" tIns="0" rIns="0" bIns="0" rtlCol="0" anchor="t"/>
          <a:lstStyle/>
          <a:p>
            <a:pPr marL="0" indent="0" algn="ctr">
              <a:buNone/>
            </a:pPr>
            <a:r>
              <a:rPr lang="en-US" sz="1300" dirty="0">
                <a:solidFill>
                  <a:srgbClr val="1B2B38"/>
                </a:solidFill>
                <a:latin typeface="Calibri" pitchFamily="34" charset="0"/>
                <a:ea typeface="Calibri" pitchFamily="34" charset="-122"/>
                <a:cs typeface="Calibri" pitchFamily="34" charset="-120"/>
              </a:rPr>
              <a:t>Utilization</a:t>
            </a:r>
            <a:endParaRPr lang="en-US" sz="1300" dirty="0"/>
          </a:p>
        </p:txBody>
      </p:sp>
      <p:sp>
        <p:nvSpPr>
          <p:cNvPr id="17" name="Text 14"/>
          <p:cNvSpPr txBox="1"/>
          <p:nvPr/>
        </p:nvSpPr>
        <p:spPr>
          <a:xfrm>
            <a:off x="7818120" y="3474720"/>
            <a:ext cx="3840480" cy="2194560"/>
          </a:xfrm>
          <a:prstGeom prst="rect">
            <a:avLst/>
          </a:prstGeom>
          <a:noFill/>
          <a:ln/>
        </p:spPr>
        <p:txBody>
          <a:bodyPr wrap="square" lIns="0" tIns="0" rIns="0" bIns="0" rtlCol="0" anchor="t"/>
          <a:lstStyle/>
          <a:p>
            <a:pPr marL="177800" indent="-177800">
              <a:spcAft>
                <a:spcPts val="600"/>
              </a:spcAft>
              <a:buSzPct val="100000"/>
              <a:buChar char="•"/>
            </a:pPr>
            <a:r>
              <a:rPr lang="en-US" sz="1400" b="1" dirty="0">
                <a:solidFill>
                  <a:srgbClr val="1B2B38"/>
                </a:solidFill>
                <a:latin typeface="Calibri" pitchFamily="34" charset="0"/>
                <a:ea typeface="Calibri" pitchFamily="34" charset="-122"/>
                <a:cs typeface="Calibri" pitchFamily="34" charset="-120"/>
              </a:rPr>
              <a:t>Emergency (263) + Surgery (254)</a:t>
            </a:r>
            <a:r>
              <a:rPr lang="en-US" sz="1400" dirty="0">
                <a:solidFill>
                  <a:srgbClr val="1B2B38"/>
                </a:solidFill>
                <a:latin typeface="Calibri" pitchFamily="34" charset="0"/>
                <a:ea typeface="Calibri" pitchFamily="34" charset="-122"/>
                <a:cs typeface="Calibri" pitchFamily="34" charset="-120"/>
              </a:rPr>
              <a:t> drive 51.7% of admissions</a:t>
            </a:r>
            <a:endParaRPr lang="en-US" sz="1400" dirty="0"/>
          </a:p>
          <a:p>
            <a:pPr marL="177800" indent="-177800">
              <a:spcAft>
                <a:spcPts val="600"/>
              </a:spcAft>
              <a:buSzPct val="100000"/>
              <a:buChar char="•"/>
            </a:pPr>
            <a:r>
              <a:rPr lang="en-US" sz="1400" b="1" dirty="0">
                <a:solidFill>
                  <a:srgbClr val="1B2B38"/>
                </a:solidFill>
                <a:latin typeface="Calibri" pitchFamily="34" charset="0"/>
                <a:ea typeface="Calibri" pitchFamily="34" charset="-122"/>
                <a:cs typeface="Calibri" pitchFamily="34" charset="-120"/>
              </a:rPr>
              <a:t>Saturday peaks at 15.4%</a:t>
            </a:r>
            <a:r>
              <a:rPr lang="en-US" sz="1400" dirty="0">
                <a:solidFill>
                  <a:srgbClr val="1B2B38"/>
                </a:solidFill>
                <a:latin typeface="Calibri" pitchFamily="34" charset="0"/>
                <a:ea typeface="Calibri" pitchFamily="34" charset="-122"/>
                <a:cs typeface="Calibri" pitchFamily="34" charset="-120"/>
              </a:rPr>
              <a:t>; Sunday 14.3%</a:t>
            </a:r>
            <a:endParaRPr lang="en-US" sz="1400" dirty="0"/>
          </a:p>
          <a:p>
            <a:pPr marL="177800" indent="-177800">
              <a:spcAft>
                <a:spcPts val="600"/>
              </a:spcAft>
              <a:buSzPct val="100000"/>
              <a:buChar char="•"/>
            </a:pPr>
            <a:r>
              <a:rPr lang="en-US" sz="1400" b="1" dirty="0">
                <a:solidFill>
                  <a:srgbClr val="1B2B38"/>
                </a:solidFill>
                <a:latin typeface="Calibri" pitchFamily="34" charset="0"/>
                <a:ea typeface="Calibri" pitchFamily="34" charset="-122"/>
                <a:cs typeface="Calibri" pitchFamily="34" charset="-120"/>
              </a:rPr>
              <a:t>ICU and Surgery</a:t>
            </a:r>
            <a:r>
              <a:rPr lang="en-US" sz="1400" dirty="0">
                <a:solidFill>
                  <a:srgbClr val="1B2B38"/>
                </a:solidFill>
                <a:latin typeface="Calibri" pitchFamily="34" charset="0"/>
                <a:ea typeface="Calibri" pitchFamily="34" charset="-122"/>
                <a:cs typeface="Calibri" pitchFamily="34" charset="-120"/>
              </a:rPr>
              <a:t> average 8 days vs. 7-day target</a:t>
            </a:r>
            <a:endParaRPr lang="en-US" sz="1400" dirty="0"/>
          </a:p>
          <a:p>
            <a:pPr marL="177800" indent="-177800">
              <a:spcAft>
                <a:spcPts val="600"/>
              </a:spcAft>
              <a:buSzPct val="100000"/>
              <a:buChar char="•"/>
            </a:pPr>
            <a:r>
              <a:rPr lang="en-US" sz="1400" b="1" dirty="0">
                <a:solidFill>
                  <a:srgbClr val="1B2B38"/>
                </a:solidFill>
                <a:latin typeface="Calibri" pitchFamily="34" charset="0"/>
                <a:ea typeface="Calibri" pitchFamily="34" charset="-122"/>
                <a:cs typeface="Calibri" pitchFamily="34" charset="-120"/>
              </a:rPr>
              <a:t>Satisfaction</a:t>
            </a:r>
            <a:r>
              <a:rPr lang="en-US" sz="1400" dirty="0">
                <a:solidFill>
                  <a:srgbClr val="1B2B38"/>
                </a:solidFill>
                <a:latin typeface="Calibri" pitchFamily="34" charset="0"/>
                <a:ea typeface="Calibri" pitchFamily="34" charset="-122"/>
                <a:cs typeface="Calibri" pitchFamily="34" charset="-120"/>
              </a:rPr>
              <a:t> steady at 78.5%–79.8%</a:t>
            </a:r>
            <a:endParaRPr lang="en-US" sz="1400" dirty="0"/>
          </a:p>
        </p:txBody>
      </p:sp>
      <p:sp>
        <p:nvSpPr>
          <p:cNvPr id="18" name="Takeaway card"/>
          <p:cNvSpPr/>
          <p:nvPr/>
        </p:nvSpPr>
        <p:spPr>
          <a:xfrm>
            <a:off x="548640" y="5806440"/>
            <a:ext cx="11091672" cy="685800"/>
          </a:xfrm>
          <a:prstGeom prst="roundRect">
            <a:avLst>
              <a:gd name="adj" fmla="val 13333"/>
            </a:avLst>
          </a:prstGeom>
          <a:solidFill>
            <a:srgbClr val="DDEFEE"/>
          </a:solidFill>
          <a:ln/>
        </p:spPr>
      </p:sp>
      <p:sp>
        <p:nvSpPr>
          <p:cNvPr id="19" name="Text 16"/>
          <p:cNvSpPr txBox="1"/>
          <p:nvPr/>
        </p:nvSpPr>
        <p:spPr>
          <a:xfrm>
            <a:off x="777240" y="5806440"/>
            <a:ext cx="10652760" cy="685800"/>
          </a:xfrm>
          <a:prstGeom prst="rect">
            <a:avLst/>
          </a:prstGeom>
          <a:noFill/>
          <a:ln/>
        </p:spPr>
        <p:txBody>
          <a:bodyPr wrap="square" lIns="0" tIns="0" rIns="0" bIns="0" rtlCol="0" anchor="ctr"/>
          <a:lstStyle/>
          <a:p>
            <a:pPr marL="0" indent="0">
              <a:buNone/>
            </a:pPr>
            <a:r>
              <a:rPr lang="en-US" sz="1500" b="1" dirty="0">
                <a:solidFill>
                  <a:srgbClr val="1C7C7D"/>
                </a:solidFill>
                <a:latin typeface="Calibri" pitchFamily="34" charset="0"/>
                <a:ea typeface="Calibri" pitchFamily="34" charset="-122"/>
                <a:cs typeface="Calibri" pitchFamily="34" charset="-120"/>
              </a:rPr>
              <a:t>Takeaway: </a:t>
            </a:r>
            <a:r>
              <a:rPr lang="en-US" sz="1500" dirty="0">
                <a:solidFill>
                  <a:srgbClr val="1B2B38"/>
                </a:solidFill>
                <a:latin typeface="Calibri" pitchFamily="34" charset="0"/>
                <a:ea typeface="Calibri" pitchFamily="34" charset="-122"/>
                <a:cs typeface="Calibri" pitchFamily="34" charset="-120"/>
              </a:rPr>
              <a:t>Satisfaction is stable, but occupancy is high and weekends are an operational spike.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rgbClr val="0B2F4A"/>
                </a:solidFill>
                <a:latin typeface="Cambria" pitchFamily="34" charset="0"/>
                <a:ea typeface="Cambria" pitchFamily="34" charset="-122"/>
                <a:cs typeface="Cambria" pitchFamily="34" charset="-120"/>
              </a:rPr>
              <a:t>Inpatient Journey: Acuity, Demographics &amp; Events</a:t>
            </a:r>
            <a:endParaRPr lang="en-US" sz="3000" dirty="0"/>
          </a:p>
        </p:txBody>
      </p:sp>
      <p:sp>
        <p:nvSpPr>
          <p:cNvPr id="3" name="Screenshot frame"/>
          <p:cNvSpPr/>
          <p:nvPr/>
        </p:nvSpPr>
        <p:spPr>
          <a:xfrm>
            <a:off x="502920" y="1188720"/>
            <a:ext cx="7040880" cy="4160520"/>
          </a:xfrm>
          <a:prstGeom prst="rect">
            <a:avLst/>
          </a:prstGeom>
          <a:solidFill>
            <a:srgbClr val="FFFFFF"/>
          </a:solidFill>
          <a:ln w="12700">
            <a:solidFill>
              <a:srgbClr val="C9D6DE"/>
            </a:solidFill>
            <a:prstDash val="solid"/>
          </a:ln>
        </p:spPr>
      </p:sp>
      <p:pic>
        <p:nvPicPr>
          <p:cNvPr id="4" name="Image 0" descr="Inpatient Journey: Acuity, Demographics &amp; Events dashboard screenshot"/>
          <p:cNvPicPr>
            <a:picLocks noChangeAspect="1"/>
          </p:cNvPicPr>
          <p:nvPr/>
        </p:nvPicPr>
        <p:blipFill>
          <a:blip r:embed="rId3"/>
          <a:stretch>
            <a:fillRect/>
          </a:stretch>
        </p:blipFill>
        <p:spPr>
          <a:xfrm>
            <a:off x="548640" y="1234440"/>
            <a:ext cx="6949440" cy="4087368"/>
          </a:xfrm>
          <a:prstGeom prst="rect">
            <a:avLst/>
          </a:prstGeom>
        </p:spPr>
      </p:pic>
      <p:sp>
        <p:nvSpPr>
          <p:cNvPr id="5" name="Stat Total movements"/>
          <p:cNvSpPr/>
          <p:nvPr/>
        </p:nvSpPr>
        <p:spPr>
          <a:xfrm>
            <a:off x="7818120" y="1188720"/>
            <a:ext cx="1828800" cy="960120"/>
          </a:xfrm>
          <a:prstGeom prst="roundRect">
            <a:avLst>
              <a:gd name="adj" fmla="val 9524"/>
            </a:avLst>
          </a:prstGeom>
          <a:solidFill>
            <a:srgbClr val="DDEFEE"/>
          </a:solidFill>
          <a:ln/>
          <a:effectLst>
            <a:outerShdw blurRad="76200" dist="25400" dir="5400000" algn="bl" rotWithShape="0">
              <a:srgbClr val="000000">
                <a:alpha val="12000"/>
              </a:srgbClr>
            </a:outerShdw>
          </a:effectLst>
        </p:spPr>
      </p:sp>
      <p:sp>
        <p:nvSpPr>
          <p:cNvPr id="6" name="Text 3"/>
          <p:cNvSpPr txBox="1"/>
          <p:nvPr/>
        </p:nvSpPr>
        <p:spPr>
          <a:xfrm>
            <a:off x="7818120" y="1325880"/>
            <a:ext cx="1828800" cy="480060"/>
          </a:xfrm>
          <a:prstGeom prst="rect">
            <a:avLst/>
          </a:prstGeom>
          <a:noFill/>
          <a:ln/>
        </p:spPr>
        <p:txBody>
          <a:bodyPr wrap="square" lIns="0" tIns="0" rIns="0" bIns="0" rtlCol="0" anchor="ctr"/>
          <a:lstStyle/>
          <a:p>
            <a:pPr marL="0" indent="0" algn="ctr">
              <a:buNone/>
            </a:pPr>
            <a:r>
              <a:rPr lang="en-US" sz="3200" b="1" dirty="0">
                <a:solidFill>
                  <a:srgbClr val="0B2F4A"/>
                </a:solidFill>
                <a:latin typeface="Cambria" pitchFamily="34" charset="0"/>
                <a:ea typeface="Cambria" pitchFamily="34" charset="-122"/>
                <a:cs typeface="Cambria" pitchFamily="34" charset="-120"/>
              </a:rPr>
              <a:t>2,000</a:t>
            </a:r>
            <a:endParaRPr lang="en-US" sz="3200" dirty="0"/>
          </a:p>
        </p:txBody>
      </p:sp>
      <p:sp>
        <p:nvSpPr>
          <p:cNvPr id="7" name="Text 4"/>
          <p:cNvSpPr txBox="1"/>
          <p:nvPr/>
        </p:nvSpPr>
        <p:spPr>
          <a:xfrm>
            <a:off x="7909560" y="1716786"/>
            <a:ext cx="1645920" cy="384048"/>
          </a:xfrm>
          <a:prstGeom prst="rect">
            <a:avLst/>
          </a:prstGeom>
          <a:noFill/>
          <a:ln/>
        </p:spPr>
        <p:txBody>
          <a:bodyPr wrap="square" lIns="0" tIns="0" rIns="0" bIns="0" rtlCol="0" anchor="t"/>
          <a:lstStyle/>
          <a:p>
            <a:pPr marL="0" indent="0" algn="ctr">
              <a:buNone/>
            </a:pPr>
            <a:r>
              <a:rPr lang="en-US" sz="1300" dirty="0">
                <a:solidFill>
                  <a:srgbClr val="1B2B38"/>
                </a:solidFill>
                <a:latin typeface="Calibri" pitchFamily="34" charset="0"/>
                <a:ea typeface="Calibri" pitchFamily="34" charset="-122"/>
                <a:cs typeface="Calibri" pitchFamily="34" charset="-120"/>
              </a:rPr>
              <a:t>Total movements</a:t>
            </a:r>
            <a:endParaRPr lang="en-US" sz="1300" dirty="0"/>
          </a:p>
        </p:txBody>
      </p:sp>
      <p:sp>
        <p:nvSpPr>
          <p:cNvPr id="8" name="Stat Avg satisfaction"/>
          <p:cNvSpPr/>
          <p:nvPr/>
        </p:nvSpPr>
        <p:spPr>
          <a:xfrm>
            <a:off x="9784080" y="1188720"/>
            <a:ext cx="1828800" cy="960120"/>
          </a:xfrm>
          <a:prstGeom prst="roundRect">
            <a:avLst>
              <a:gd name="adj" fmla="val 9524"/>
            </a:avLst>
          </a:prstGeom>
          <a:solidFill>
            <a:srgbClr val="DDEFEE"/>
          </a:solidFill>
          <a:ln/>
          <a:effectLst>
            <a:outerShdw blurRad="76200" dist="25400" dir="5400000" algn="bl" rotWithShape="0">
              <a:srgbClr val="000000">
                <a:alpha val="12000"/>
              </a:srgbClr>
            </a:outerShdw>
          </a:effectLst>
        </p:spPr>
      </p:sp>
      <p:sp>
        <p:nvSpPr>
          <p:cNvPr id="9" name="Text 6"/>
          <p:cNvSpPr txBox="1"/>
          <p:nvPr/>
        </p:nvSpPr>
        <p:spPr>
          <a:xfrm>
            <a:off x="9784080" y="1325880"/>
            <a:ext cx="1828800" cy="480060"/>
          </a:xfrm>
          <a:prstGeom prst="rect">
            <a:avLst/>
          </a:prstGeom>
          <a:noFill/>
          <a:ln/>
        </p:spPr>
        <p:txBody>
          <a:bodyPr wrap="square" lIns="0" tIns="0" rIns="0" bIns="0" rtlCol="0" anchor="ctr"/>
          <a:lstStyle/>
          <a:p>
            <a:pPr marL="0" indent="0" algn="ctr">
              <a:buNone/>
            </a:pPr>
            <a:r>
              <a:rPr lang="en-US" sz="3200" b="1" dirty="0">
                <a:solidFill>
                  <a:srgbClr val="0B2F4A"/>
                </a:solidFill>
                <a:latin typeface="Cambria" pitchFamily="34" charset="0"/>
                <a:ea typeface="Cambria" pitchFamily="34" charset="-122"/>
                <a:cs typeface="Cambria" pitchFamily="34" charset="-120"/>
              </a:rPr>
              <a:t>79.43</a:t>
            </a:r>
            <a:endParaRPr lang="en-US" sz="3200" dirty="0"/>
          </a:p>
        </p:txBody>
      </p:sp>
      <p:sp>
        <p:nvSpPr>
          <p:cNvPr id="10" name="Text 7"/>
          <p:cNvSpPr txBox="1"/>
          <p:nvPr/>
        </p:nvSpPr>
        <p:spPr>
          <a:xfrm>
            <a:off x="9875520" y="1716786"/>
            <a:ext cx="1645920" cy="384048"/>
          </a:xfrm>
          <a:prstGeom prst="rect">
            <a:avLst/>
          </a:prstGeom>
          <a:noFill/>
          <a:ln/>
        </p:spPr>
        <p:txBody>
          <a:bodyPr wrap="square" lIns="0" tIns="0" rIns="0" bIns="0" rtlCol="0" anchor="t"/>
          <a:lstStyle/>
          <a:p>
            <a:pPr marL="0" indent="0" algn="ctr">
              <a:buNone/>
            </a:pPr>
            <a:r>
              <a:rPr lang="en-US" sz="1300" dirty="0">
                <a:solidFill>
                  <a:srgbClr val="1B2B38"/>
                </a:solidFill>
                <a:latin typeface="Calibri" pitchFamily="34" charset="0"/>
                <a:ea typeface="Calibri" pitchFamily="34" charset="-122"/>
                <a:cs typeface="Calibri" pitchFamily="34" charset="-120"/>
              </a:rPr>
              <a:t>Avg satisfaction</a:t>
            </a:r>
            <a:endParaRPr lang="en-US" sz="1300" dirty="0"/>
          </a:p>
        </p:txBody>
      </p:sp>
      <p:sp>
        <p:nvSpPr>
          <p:cNvPr id="11" name="Text 8"/>
          <p:cNvSpPr txBox="1"/>
          <p:nvPr/>
        </p:nvSpPr>
        <p:spPr>
          <a:xfrm>
            <a:off x="7818120" y="2377440"/>
            <a:ext cx="3840480" cy="3291840"/>
          </a:xfrm>
          <a:prstGeom prst="rect">
            <a:avLst/>
          </a:prstGeom>
          <a:noFill/>
          <a:ln/>
        </p:spPr>
        <p:txBody>
          <a:bodyPr wrap="square" lIns="0" tIns="0" rIns="0" bIns="0" rtlCol="0" anchor="t"/>
          <a:lstStyle/>
          <a:p>
            <a:pPr marL="177800" indent="-177800">
              <a:spcAft>
                <a:spcPts val="600"/>
              </a:spcAft>
              <a:buSzPct val="100000"/>
              <a:buChar char="•"/>
            </a:pPr>
            <a:r>
              <a:rPr lang="en-US" sz="1400" b="1" dirty="0">
                <a:solidFill>
                  <a:srgbClr val="1B2B38"/>
                </a:solidFill>
                <a:latin typeface="Calibri" pitchFamily="34" charset="0"/>
                <a:ea typeface="Calibri" pitchFamily="34" charset="-122"/>
                <a:cs typeface="Calibri" pitchFamily="34" charset="-120"/>
              </a:rPr>
              <a:t>1,000 in, 1,000 out</a:t>
            </a:r>
            <a:r>
              <a:rPr lang="en-US" sz="1400" dirty="0">
                <a:solidFill>
                  <a:srgbClr val="1B2B38"/>
                </a:solidFill>
                <a:latin typeface="Calibri" pitchFamily="34" charset="0"/>
                <a:ea typeface="Calibri" pitchFamily="34" charset="-122"/>
                <a:cs typeface="Calibri" pitchFamily="34" charset="-120"/>
              </a:rPr>
              <a:t>: admissions match discharges</a:t>
            </a:r>
            <a:endParaRPr lang="en-US" sz="1400" dirty="0"/>
          </a:p>
          <a:p>
            <a:pPr marL="177800" indent="-177800">
              <a:spcAft>
                <a:spcPts val="600"/>
              </a:spcAft>
              <a:buSzPct val="100000"/>
              <a:buChar char="•"/>
            </a:pPr>
            <a:r>
              <a:rPr lang="en-US" sz="1400" b="1" dirty="0">
                <a:solidFill>
                  <a:srgbClr val="1B2B38"/>
                </a:solidFill>
                <a:latin typeface="Calibri" pitchFamily="34" charset="0"/>
                <a:ea typeface="Calibri" pitchFamily="34" charset="-122"/>
                <a:cs typeface="Calibri" pitchFamily="34" charset="-120"/>
              </a:rPr>
              <a:t>Surgery stays</a:t>
            </a:r>
            <a:r>
              <a:rPr lang="en-US" sz="1400" dirty="0">
                <a:solidFill>
                  <a:srgbClr val="1B2B38"/>
                </a:solidFill>
                <a:latin typeface="Calibri" pitchFamily="34" charset="0"/>
                <a:ea typeface="Calibri" pitchFamily="34" charset="-122"/>
                <a:cs typeface="Calibri" pitchFamily="34" charset="-120"/>
              </a:rPr>
              <a:t> 188.79 hrs (7.9 d); ICU 182.54 hrs (7.6 d)</a:t>
            </a:r>
            <a:endParaRPr lang="en-US" sz="1400" dirty="0"/>
          </a:p>
          <a:p>
            <a:pPr marL="177800" indent="-177800">
              <a:spcAft>
                <a:spcPts val="600"/>
              </a:spcAft>
              <a:buSzPct val="100000"/>
              <a:buChar char="•"/>
            </a:pPr>
            <a:r>
              <a:rPr lang="en-US" sz="1400" b="1" dirty="0">
                <a:solidFill>
                  <a:srgbClr val="1B2B38"/>
                </a:solidFill>
                <a:latin typeface="Calibri" pitchFamily="34" charset="0"/>
                <a:ea typeface="Calibri" pitchFamily="34" charset="-122"/>
                <a:cs typeface="Calibri" pitchFamily="34" charset="-120"/>
              </a:rPr>
              <a:t>Ages 18–45 (310) and 65+ (274)</a:t>
            </a:r>
            <a:r>
              <a:rPr lang="en-US" sz="1400" dirty="0">
                <a:solidFill>
                  <a:srgbClr val="1B2B38"/>
                </a:solidFill>
                <a:latin typeface="Calibri" pitchFamily="34" charset="0"/>
                <a:ea typeface="Calibri" pitchFamily="34" charset="-122"/>
                <a:cs typeface="Calibri" pitchFamily="34" charset="-120"/>
              </a:rPr>
              <a:t> dominate volume</a:t>
            </a:r>
            <a:endParaRPr lang="en-US" sz="1400" dirty="0"/>
          </a:p>
          <a:p>
            <a:pPr marL="177800" indent="-177800">
              <a:spcAft>
                <a:spcPts val="600"/>
              </a:spcAft>
              <a:buSzPct val="100000"/>
              <a:buChar char="•"/>
            </a:pPr>
            <a:r>
              <a:rPr lang="en-US" sz="1400" b="1" dirty="0">
                <a:solidFill>
                  <a:srgbClr val="1B2B38"/>
                </a:solidFill>
                <a:latin typeface="Calibri" pitchFamily="34" charset="0"/>
                <a:ea typeface="Calibri" pitchFamily="34" charset="-122"/>
                <a:cs typeface="Calibri" pitchFamily="34" charset="-120"/>
              </a:rPr>
              <a:t>Flu: 88 admissions</a:t>
            </a:r>
            <a:r>
              <a:rPr lang="en-US" sz="1400" dirty="0">
                <a:solidFill>
                  <a:srgbClr val="1B2B38"/>
                </a:solidFill>
                <a:latin typeface="Calibri" pitchFamily="34" charset="0"/>
                <a:ea typeface="Calibri" pitchFamily="34" charset="-122"/>
                <a:cs typeface="Calibri" pitchFamily="34" charset="-120"/>
              </a:rPr>
              <a:t>, incl. ICU (32) and Emergency (21)</a:t>
            </a:r>
            <a:endParaRPr lang="en-US" sz="1400" dirty="0"/>
          </a:p>
          <a:p>
            <a:pPr marL="177800" indent="-177800">
              <a:spcAft>
                <a:spcPts val="600"/>
              </a:spcAft>
              <a:buSzPct val="100000"/>
              <a:buChar char="•"/>
            </a:pPr>
            <a:r>
              <a:rPr lang="en-US" sz="1400" b="1" dirty="0">
                <a:solidFill>
                  <a:srgbClr val="1B2B38"/>
                </a:solidFill>
                <a:latin typeface="Calibri" pitchFamily="34" charset="0"/>
                <a:ea typeface="Calibri" pitchFamily="34" charset="-122"/>
                <a:cs typeface="Calibri" pitchFamily="34" charset="-120"/>
              </a:rPr>
              <a:t>Donation drives: 64</a:t>
            </a:r>
            <a:r>
              <a:rPr lang="en-US" sz="1400" dirty="0">
                <a:solidFill>
                  <a:srgbClr val="1B2B38"/>
                </a:solidFill>
                <a:latin typeface="Calibri" pitchFamily="34" charset="0"/>
                <a:ea typeface="Calibri" pitchFamily="34" charset="-122"/>
                <a:cs typeface="Calibri" pitchFamily="34" charset="-120"/>
              </a:rPr>
              <a:t>; strikes: 47; baseline: 801</a:t>
            </a:r>
            <a:endParaRPr lang="en-US" sz="1400" dirty="0"/>
          </a:p>
        </p:txBody>
      </p:sp>
      <p:sp>
        <p:nvSpPr>
          <p:cNvPr id="12" name="Takeaway card"/>
          <p:cNvSpPr/>
          <p:nvPr/>
        </p:nvSpPr>
        <p:spPr>
          <a:xfrm>
            <a:off x="548640" y="5806440"/>
            <a:ext cx="11091672" cy="685800"/>
          </a:xfrm>
          <a:prstGeom prst="roundRect">
            <a:avLst>
              <a:gd name="adj" fmla="val 13333"/>
            </a:avLst>
          </a:prstGeom>
          <a:solidFill>
            <a:srgbClr val="DDEFEE"/>
          </a:solidFill>
          <a:ln/>
        </p:spPr>
      </p:sp>
      <p:sp>
        <p:nvSpPr>
          <p:cNvPr id="13" name="Text 10"/>
          <p:cNvSpPr txBox="1"/>
          <p:nvPr/>
        </p:nvSpPr>
        <p:spPr>
          <a:xfrm>
            <a:off x="777240" y="5806440"/>
            <a:ext cx="10652760" cy="685800"/>
          </a:xfrm>
          <a:prstGeom prst="rect">
            <a:avLst/>
          </a:prstGeom>
          <a:noFill/>
          <a:ln/>
        </p:spPr>
        <p:txBody>
          <a:bodyPr wrap="square" lIns="0" tIns="0" rIns="0" bIns="0" rtlCol="0" anchor="ctr"/>
          <a:lstStyle/>
          <a:p>
            <a:pPr marL="0" indent="0">
              <a:buNone/>
            </a:pPr>
            <a:r>
              <a:rPr lang="en-US" sz="1500" b="1" dirty="0">
                <a:solidFill>
                  <a:srgbClr val="1C7C7D"/>
                </a:solidFill>
                <a:latin typeface="Calibri" pitchFamily="34" charset="0"/>
                <a:ea typeface="Calibri" pitchFamily="34" charset="-122"/>
                <a:cs typeface="Calibri" pitchFamily="34" charset="-120"/>
              </a:rPr>
              <a:t>Takeaway: </a:t>
            </a:r>
            <a:r>
              <a:rPr lang="en-US" sz="1500" dirty="0">
                <a:solidFill>
                  <a:srgbClr val="1B2B38"/>
                </a:solidFill>
                <a:latin typeface="Calibri" pitchFamily="34" charset="0"/>
                <a:ea typeface="Calibri" pitchFamily="34" charset="-122"/>
                <a:cs typeface="Calibri" pitchFamily="34" charset="-120"/>
              </a:rPr>
              <a:t>Surgery and ICU consume the most clinical hours; flu events concentrate pressure on critical care.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rgbClr val="0B2F4A"/>
                </a:solidFill>
                <a:latin typeface="Cambria" pitchFamily="34" charset="0"/>
                <a:ea typeface="Cambria" pitchFamily="34" charset="-122"/>
                <a:cs typeface="Cambria" pitchFamily="34" charset="-120"/>
              </a:rPr>
              <a:t>Capacity Constraints: Bed Saturation &amp; Staffing Strain</a:t>
            </a:r>
            <a:endParaRPr lang="en-US" sz="3000" dirty="0"/>
          </a:p>
        </p:txBody>
      </p:sp>
      <p:sp>
        <p:nvSpPr>
          <p:cNvPr id="3" name="Screenshot frame"/>
          <p:cNvSpPr/>
          <p:nvPr/>
        </p:nvSpPr>
        <p:spPr>
          <a:xfrm>
            <a:off x="502920" y="1188720"/>
            <a:ext cx="7040880" cy="4160520"/>
          </a:xfrm>
          <a:prstGeom prst="rect">
            <a:avLst/>
          </a:prstGeom>
          <a:solidFill>
            <a:srgbClr val="FFFFFF"/>
          </a:solidFill>
          <a:ln w="12700">
            <a:solidFill>
              <a:srgbClr val="C9D6DE"/>
            </a:solidFill>
            <a:prstDash val="solid"/>
          </a:ln>
        </p:spPr>
      </p:sp>
      <p:pic>
        <p:nvPicPr>
          <p:cNvPr id="4" name="Image 0" descr="Capacity Constraints: Bed Saturation &amp; Staffing Strain dashboard screenshot"/>
          <p:cNvPicPr>
            <a:picLocks noChangeAspect="1"/>
          </p:cNvPicPr>
          <p:nvPr/>
        </p:nvPicPr>
        <p:blipFill>
          <a:blip r:embed="rId3"/>
          <a:stretch>
            <a:fillRect/>
          </a:stretch>
        </p:blipFill>
        <p:spPr>
          <a:xfrm>
            <a:off x="548640" y="1234440"/>
            <a:ext cx="6949440" cy="4087368"/>
          </a:xfrm>
          <a:prstGeom prst="rect">
            <a:avLst/>
          </a:prstGeom>
        </p:spPr>
      </p:pic>
      <p:sp>
        <p:nvSpPr>
          <p:cNvPr id="5" name="Stat Bed utilization"/>
          <p:cNvSpPr/>
          <p:nvPr/>
        </p:nvSpPr>
        <p:spPr>
          <a:xfrm>
            <a:off x="7818120" y="1188720"/>
            <a:ext cx="1828800" cy="960120"/>
          </a:xfrm>
          <a:prstGeom prst="roundRect">
            <a:avLst>
              <a:gd name="adj" fmla="val 9524"/>
            </a:avLst>
          </a:prstGeom>
          <a:solidFill>
            <a:srgbClr val="DDEFEE"/>
          </a:solidFill>
          <a:ln/>
          <a:effectLst>
            <a:outerShdw blurRad="76200" dist="25400" dir="5400000" algn="bl" rotWithShape="0">
              <a:srgbClr val="000000">
                <a:alpha val="12000"/>
              </a:srgbClr>
            </a:outerShdw>
          </a:effectLst>
        </p:spPr>
      </p:sp>
      <p:sp>
        <p:nvSpPr>
          <p:cNvPr id="6" name="Text 3"/>
          <p:cNvSpPr txBox="1"/>
          <p:nvPr/>
        </p:nvSpPr>
        <p:spPr>
          <a:xfrm>
            <a:off x="7818120" y="1325880"/>
            <a:ext cx="1828800" cy="480060"/>
          </a:xfrm>
          <a:prstGeom prst="rect">
            <a:avLst/>
          </a:prstGeom>
          <a:noFill/>
          <a:ln/>
        </p:spPr>
        <p:txBody>
          <a:bodyPr wrap="square" lIns="0" tIns="0" rIns="0" bIns="0" rtlCol="0" anchor="ctr"/>
          <a:lstStyle/>
          <a:p>
            <a:pPr marL="0" indent="0" algn="ctr">
              <a:buNone/>
            </a:pPr>
            <a:r>
              <a:rPr lang="en-US" sz="3200" b="1" dirty="0">
                <a:solidFill>
                  <a:srgbClr val="E4572E"/>
                </a:solidFill>
                <a:latin typeface="Cambria" pitchFamily="34" charset="0"/>
                <a:ea typeface="Cambria" pitchFamily="34" charset="-122"/>
                <a:cs typeface="Cambria" pitchFamily="34" charset="-120"/>
              </a:rPr>
              <a:t>92.70%</a:t>
            </a:r>
            <a:endParaRPr lang="en-US" sz="3200" dirty="0"/>
          </a:p>
        </p:txBody>
      </p:sp>
      <p:sp>
        <p:nvSpPr>
          <p:cNvPr id="7" name="Text 4"/>
          <p:cNvSpPr txBox="1"/>
          <p:nvPr/>
        </p:nvSpPr>
        <p:spPr>
          <a:xfrm>
            <a:off x="7909560" y="1716786"/>
            <a:ext cx="1645920" cy="384048"/>
          </a:xfrm>
          <a:prstGeom prst="rect">
            <a:avLst/>
          </a:prstGeom>
          <a:noFill/>
          <a:ln/>
        </p:spPr>
        <p:txBody>
          <a:bodyPr wrap="square" lIns="0" tIns="0" rIns="0" bIns="0" rtlCol="0" anchor="t"/>
          <a:lstStyle/>
          <a:p>
            <a:pPr marL="0" indent="0" algn="ctr">
              <a:buNone/>
            </a:pPr>
            <a:r>
              <a:rPr lang="en-US" sz="1300" dirty="0">
                <a:solidFill>
                  <a:srgbClr val="1B2B38"/>
                </a:solidFill>
                <a:latin typeface="Calibri" pitchFamily="34" charset="0"/>
                <a:ea typeface="Calibri" pitchFamily="34" charset="-122"/>
                <a:cs typeface="Calibri" pitchFamily="34" charset="-120"/>
              </a:rPr>
              <a:t>Bed utilization</a:t>
            </a:r>
            <a:endParaRPr lang="en-US" sz="1300" dirty="0"/>
          </a:p>
        </p:txBody>
      </p:sp>
      <p:sp>
        <p:nvSpPr>
          <p:cNvPr id="8" name="Stat Workforce stress"/>
          <p:cNvSpPr/>
          <p:nvPr/>
        </p:nvSpPr>
        <p:spPr>
          <a:xfrm>
            <a:off x="9784080" y="1188720"/>
            <a:ext cx="1828800" cy="960120"/>
          </a:xfrm>
          <a:prstGeom prst="roundRect">
            <a:avLst>
              <a:gd name="adj" fmla="val 9524"/>
            </a:avLst>
          </a:prstGeom>
          <a:solidFill>
            <a:srgbClr val="DDEFEE"/>
          </a:solidFill>
          <a:ln/>
          <a:effectLst>
            <a:outerShdw blurRad="76200" dist="25400" dir="5400000" algn="bl" rotWithShape="0">
              <a:srgbClr val="000000">
                <a:alpha val="12000"/>
              </a:srgbClr>
            </a:outerShdw>
          </a:effectLst>
        </p:spPr>
      </p:sp>
      <p:sp>
        <p:nvSpPr>
          <p:cNvPr id="9" name="Text 6"/>
          <p:cNvSpPr txBox="1"/>
          <p:nvPr/>
        </p:nvSpPr>
        <p:spPr>
          <a:xfrm>
            <a:off x="9784080" y="1325880"/>
            <a:ext cx="1828800" cy="480060"/>
          </a:xfrm>
          <a:prstGeom prst="rect">
            <a:avLst/>
          </a:prstGeom>
          <a:noFill/>
          <a:ln/>
        </p:spPr>
        <p:txBody>
          <a:bodyPr wrap="square" lIns="0" tIns="0" rIns="0" bIns="0" rtlCol="0" anchor="ctr"/>
          <a:lstStyle/>
          <a:p>
            <a:pPr marL="0" indent="0" algn="ctr">
              <a:buNone/>
            </a:pPr>
            <a:r>
              <a:rPr lang="en-US" sz="3200" b="1" dirty="0">
                <a:solidFill>
                  <a:srgbClr val="0B2F4A"/>
                </a:solidFill>
                <a:latin typeface="Cambria" pitchFamily="34" charset="0"/>
                <a:ea typeface="Cambria" pitchFamily="34" charset="-122"/>
                <a:cs typeface="Cambria" pitchFamily="34" charset="-120"/>
              </a:rPr>
              <a:t>88.98%</a:t>
            </a:r>
            <a:endParaRPr lang="en-US" sz="3200" dirty="0"/>
          </a:p>
        </p:txBody>
      </p:sp>
      <p:sp>
        <p:nvSpPr>
          <p:cNvPr id="10" name="Text 7"/>
          <p:cNvSpPr txBox="1"/>
          <p:nvPr/>
        </p:nvSpPr>
        <p:spPr>
          <a:xfrm>
            <a:off x="9875520" y="1716786"/>
            <a:ext cx="1645920" cy="384048"/>
          </a:xfrm>
          <a:prstGeom prst="rect">
            <a:avLst/>
          </a:prstGeom>
          <a:noFill/>
          <a:ln/>
        </p:spPr>
        <p:txBody>
          <a:bodyPr wrap="square" lIns="0" tIns="0" rIns="0" bIns="0" rtlCol="0" anchor="t"/>
          <a:lstStyle/>
          <a:p>
            <a:pPr marL="0" indent="0" algn="ctr">
              <a:buNone/>
            </a:pPr>
            <a:r>
              <a:rPr lang="en-US" sz="1300" dirty="0">
                <a:solidFill>
                  <a:srgbClr val="1B2B38"/>
                </a:solidFill>
                <a:latin typeface="Calibri" pitchFamily="34" charset="0"/>
                <a:ea typeface="Calibri" pitchFamily="34" charset="-122"/>
                <a:cs typeface="Calibri" pitchFamily="34" charset="-120"/>
              </a:rPr>
              <a:t>Workforce stress</a:t>
            </a:r>
            <a:endParaRPr lang="en-US" sz="1300" dirty="0"/>
          </a:p>
        </p:txBody>
      </p:sp>
      <p:sp>
        <p:nvSpPr>
          <p:cNvPr id="11" name="Stat Nurse saturation"/>
          <p:cNvSpPr/>
          <p:nvPr/>
        </p:nvSpPr>
        <p:spPr>
          <a:xfrm>
            <a:off x="7818120" y="2286000"/>
            <a:ext cx="1828800" cy="960120"/>
          </a:xfrm>
          <a:prstGeom prst="roundRect">
            <a:avLst>
              <a:gd name="adj" fmla="val 9524"/>
            </a:avLst>
          </a:prstGeom>
          <a:solidFill>
            <a:srgbClr val="DDEFEE"/>
          </a:solidFill>
          <a:ln/>
          <a:effectLst>
            <a:outerShdw blurRad="76200" dist="25400" dir="5400000" algn="bl" rotWithShape="0">
              <a:srgbClr val="000000">
                <a:alpha val="12000"/>
              </a:srgbClr>
            </a:outerShdw>
          </a:effectLst>
        </p:spPr>
      </p:sp>
      <p:sp>
        <p:nvSpPr>
          <p:cNvPr id="12" name="Text 9"/>
          <p:cNvSpPr txBox="1"/>
          <p:nvPr/>
        </p:nvSpPr>
        <p:spPr>
          <a:xfrm>
            <a:off x="7818120" y="2423160"/>
            <a:ext cx="1828800" cy="480060"/>
          </a:xfrm>
          <a:prstGeom prst="rect">
            <a:avLst/>
          </a:prstGeom>
          <a:noFill/>
          <a:ln/>
        </p:spPr>
        <p:txBody>
          <a:bodyPr wrap="square" lIns="0" tIns="0" rIns="0" bIns="0" rtlCol="0" anchor="ctr"/>
          <a:lstStyle/>
          <a:p>
            <a:pPr marL="0" indent="0" algn="ctr">
              <a:buNone/>
            </a:pPr>
            <a:r>
              <a:rPr lang="en-US" sz="3200" b="1" dirty="0">
                <a:solidFill>
                  <a:srgbClr val="0B2F4A"/>
                </a:solidFill>
                <a:latin typeface="Cambria" pitchFamily="34" charset="0"/>
                <a:ea typeface="Cambria" pitchFamily="34" charset="-122"/>
                <a:cs typeface="Cambria" pitchFamily="34" charset="-120"/>
              </a:rPr>
              <a:t>89.21%</a:t>
            </a:r>
            <a:endParaRPr lang="en-US" sz="3200" dirty="0"/>
          </a:p>
        </p:txBody>
      </p:sp>
      <p:sp>
        <p:nvSpPr>
          <p:cNvPr id="13" name="Text 10"/>
          <p:cNvSpPr txBox="1"/>
          <p:nvPr/>
        </p:nvSpPr>
        <p:spPr>
          <a:xfrm>
            <a:off x="7909560" y="2814066"/>
            <a:ext cx="1645920" cy="384048"/>
          </a:xfrm>
          <a:prstGeom prst="rect">
            <a:avLst/>
          </a:prstGeom>
          <a:noFill/>
          <a:ln/>
        </p:spPr>
        <p:txBody>
          <a:bodyPr wrap="square" lIns="0" tIns="0" rIns="0" bIns="0" rtlCol="0" anchor="t"/>
          <a:lstStyle/>
          <a:p>
            <a:pPr marL="0" indent="0" algn="ctr">
              <a:buNone/>
            </a:pPr>
            <a:r>
              <a:rPr lang="en-US" sz="1300" dirty="0">
                <a:solidFill>
                  <a:srgbClr val="1B2B38"/>
                </a:solidFill>
                <a:latin typeface="Calibri" pitchFamily="34" charset="0"/>
                <a:ea typeface="Calibri" pitchFamily="34" charset="-122"/>
                <a:cs typeface="Calibri" pitchFamily="34" charset="-120"/>
              </a:rPr>
              <a:t>Nurse saturation</a:t>
            </a:r>
            <a:endParaRPr lang="en-US" sz="1300" dirty="0"/>
          </a:p>
        </p:txBody>
      </p:sp>
      <p:sp>
        <p:nvSpPr>
          <p:cNvPr id="14" name="Stat Physician saturation"/>
          <p:cNvSpPr/>
          <p:nvPr/>
        </p:nvSpPr>
        <p:spPr>
          <a:xfrm>
            <a:off x="9784080" y="2286000"/>
            <a:ext cx="1828800" cy="960120"/>
          </a:xfrm>
          <a:prstGeom prst="roundRect">
            <a:avLst>
              <a:gd name="adj" fmla="val 9524"/>
            </a:avLst>
          </a:prstGeom>
          <a:solidFill>
            <a:srgbClr val="DDEFEE"/>
          </a:solidFill>
          <a:ln/>
          <a:effectLst>
            <a:outerShdw blurRad="76200" dist="25400" dir="5400000" algn="bl" rotWithShape="0">
              <a:srgbClr val="000000">
                <a:alpha val="12000"/>
              </a:srgbClr>
            </a:outerShdw>
          </a:effectLst>
        </p:spPr>
      </p:sp>
      <p:sp>
        <p:nvSpPr>
          <p:cNvPr id="15" name="Text 12"/>
          <p:cNvSpPr txBox="1"/>
          <p:nvPr/>
        </p:nvSpPr>
        <p:spPr>
          <a:xfrm>
            <a:off x="9784080" y="2423160"/>
            <a:ext cx="1828800" cy="480060"/>
          </a:xfrm>
          <a:prstGeom prst="rect">
            <a:avLst/>
          </a:prstGeom>
          <a:noFill/>
          <a:ln/>
        </p:spPr>
        <p:txBody>
          <a:bodyPr wrap="square" lIns="0" tIns="0" rIns="0" bIns="0" rtlCol="0" anchor="ctr"/>
          <a:lstStyle/>
          <a:p>
            <a:pPr marL="0" indent="0" algn="ctr">
              <a:buNone/>
            </a:pPr>
            <a:r>
              <a:rPr lang="en-US" sz="3200" b="1" dirty="0">
                <a:solidFill>
                  <a:srgbClr val="0B2F4A"/>
                </a:solidFill>
                <a:latin typeface="Cambria" pitchFamily="34" charset="0"/>
                <a:ea typeface="Cambria" pitchFamily="34" charset="-122"/>
                <a:cs typeface="Cambria" pitchFamily="34" charset="-120"/>
              </a:rPr>
              <a:t>88.33%</a:t>
            </a:r>
            <a:endParaRPr lang="en-US" sz="3200" dirty="0"/>
          </a:p>
        </p:txBody>
      </p:sp>
      <p:sp>
        <p:nvSpPr>
          <p:cNvPr id="16" name="Text 13"/>
          <p:cNvSpPr txBox="1"/>
          <p:nvPr/>
        </p:nvSpPr>
        <p:spPr>
          <a:xfrm>
            <a:off x="9875520" y="2814066"/>
            <a:ext cx="1645920" cy="384048"/>
          </a:xfrm>
          <a:prstGeom prst="rect">
            <a:avLst/>
          </a:prstGeom>
          <a:noFill/>
          <a:ln/>
        </p:spPr>
        <p:txBody>
          <a:bodyPr wrap="square" lIns="0" tIns="0" rIns="0" bIns="0" rtlCol="0" anchor="t"/>
          <a:lstStyle/>
          <a:p>
            <a:pPr marL="0" indent="0" algn="ctr">
              <a:buNone/>
            </a:pPr>
            <a:r>
              <a:rPr lang="en-US" sz="1300" dirty="0">
                <a:solidFill>
                  <a:srgbClr val="1B2B38"/>
                </a:solidFill>
                <a:latin typeface="Calibri" pitchFamily="34" charset="0"/>
                <a:ea typeface="Calibri" pitchFamily="34" charset="-122"/>
                <a:cs typeface="Calibri" pitchFamily="34" charset="-120"/>
              </a:rPr>
              <a:t>Physician saturation</a:t>
            </a:r>
            <a:endParaRPr lang="en-US" sz="1300" dirty="0"/>
          </a:p>
        </p:txBody>
      </p:sp>
      <p:sp>
        <p:nvSpPr>
          <p:cNvPr id="17" name="Text 14"/>
          <p:cNvSpPr txBox="1"/>
          <p:nvPr/>
        </p:nvSpPr>
        <p:spPr>
          <a:xfrm>
            <a:off x="7818120" y="3474720"/>
            <a:ext cx="3840480" cy="2194560"/>
          </a:xfrm>
          <a:prstGeom prst="rect">
            <a:avLst/>
          </a:prstGeom>
          <a:noFill/>
          <a:ln/>
        </p:spPr>
        <p:txBody>
          <a:bodyPr wrap="square" lIns="0" tIns="0" rIns="0" bIns="0" rtlCol="0" anchor="t"/>
          <a:lstStyle/>
          <a:p>
            <a:pPr marL="177800" indent="-177800">
              <a:spcAft>
                <a:spcPts val="600"/>
              </a:spcAft>
              <a:buSzPct val="100000"/>
              <a:buChar char="•"/>
            </a:pPr>
            <a:r>
              <a:rPr lang="en-US" sz="1400" b="1" dirty="0">
                <a:solidFill>
                  <a:srgbClr val="1B2B38"/>
                </a:solidFill>
                <a:latin typeface="Calibri" pitchFamily="34" charset="0"/>
                <a:ea typeface="Calibri" pitchFamily="34" charset="-122"/>
                <a:cs typeface="Calibri" pitchFamily="34" charset="-120"/>
              </a:rPr>
              <a:t>Emergency beds hit 100%</a:t>
            </a:r>
            <a:r>
              <a:rPr lang="en-US" sz="1400" dirty="0">
                <a:solidFill>
                  <a:srgbClr val="1B2B38"/>
                </a:solidFill>
                <a:latin typeface="Calibri" pitchFamily="34" charset="0"/>
                <a:ea typeface="Calibri" pitchFamily="34" charset="-122"/>
                <a:cs typeface="Calibri" pitchFamily="34" charset="-120"/>
              </a:rPr>
              <a:t>; Emergency nurses 90.28%</a:t>
            </a:r>
            <a:endParaRPr lang="en-US" sz="1400" dirty="0"/>
          </a:p>
          <a:p>
            <a:pPr marL="177800" indent="-177800">
              <a:spcAft>
                <a:spcPts val="600"/>
              </a:spcAft>
              <a:buSzPct val="100000"/>
              <a:buChar char="•"/>
            </a:pPr>
            <a:r>
              <a:rPr lang="en-US" sz="1400" b="1" dirty="0">
                <a:solidFill>
                  <a:srgbClr val="1B2B38"/>
                </a:solidFill>
                <a:latin typeface="Calibri" pitchFamily="34" charset="0"/>
                <a:ea typeface="Calibri" pitchFamily="34" charset="-122"/>
                <a:cs typeface="Calibri" pitchFamily="34" charset="-120"/>
              </a:rPr>
              <a:t>Bed use by dept: </a:t>
            </a:r>
            <a:r>
              <a:rPr lang="en-US" sz="1400" dirty="0">
                <a:solidFill>
                  <a:srgbClr val="1B2B38"/>
                </a:solidFill>
                <a:latin typeface="Calibri" pitchFamily="34" charset="0"/>
                <a:ea typeface="Calibri" pitchFamily="34" charset="-122"/>
                <a:cs typeface="Calibri" pitchFamily="34" charset="-120"/>
              </a:rPr>
              <a:t>Emergency 92.93%, Gen Med 90.86%, Surgery 89.28%, ICU 87.49%</a:t>
            </a:r>
            <a:endParaRPr lang="en-US" sz="1400" dirty="0"/>
          </a:p>
        </p:txBody>
      </p:sp>
      <p:sp>
        <p:nvSpPr>
          <p:cNvPr id="18" name="Takeaway card"/>
          <p:cNvSpPr/>
          <p:nvPr/>
        </p:nvSpPr>
        <p:spPr>
          <a:xfrm>
            <a:off x="548640" y="5806440"/>
            <a:ext cx="11091672" cy="685800"/>
          </a:xfrm>
          <a:prstGeom prst="roundRect">
            <a:avLst>
              <a:gd name="adj" fmla="val 13333"/>
            </a:avLst>
          </a:prstGeom>
          <a:solidFill>
            <a:srgbClr val="DDEFEE"/>
          </a:solidFill>
          <a:ln/>
        </p:spPr>
      </p:sp>
      <p:sp>
        <p:nvSpPr>
          <p:cNvPr id="19" name="Text 16"/>
          <p:cNvSpPr txBox="1"/>
          <p:nvPr/>
        </p:nvSpPr>
        <p:spPr>
          <a:xfrm>
            <a:off x="777240" y="5806440"/>
            <a:ext cx="10652760" cy="685800"/>
          </a:xfrm>
          <a:prstGeom prst="rect">
            <a:avLst/>
          </a:prstGeom>
          <a:noFill/>
          <a:ln/>
        </p:spPr>
        <p:txBody>
          <a:bodyPr wrap="square" lIns="0" tIns="0" rIns="0" bIns="0" rtlCol="0" anchor="ctr"/>
          <a:lstStyle/>
          <a:p>
            <a:pPr marL="0" indent="0">
              <a:buNone/>
            </a:pPr>
            <a:r>
              <a:rPr lang="en-US" sz="1500" b="1" dirty="0">
                <a:solidFill>
                  <a:srgbClr val="1C7C7D"/>
                </a:solidFill>
                <a:latin typeface="Calibri" pitchFamily="34" charset="0"/>
                <a:ea typeface="Calibri" pitchFamily="34" charset="-122"/>
                <a:cs typeface="Calibri" pitchFamily="34" charset="-120"/>
              </a:rPr>
              <a:t>Takeaway: </a:t>
            </a:r>
            <a:r>
              <a:rPr lang="en-US" sz="1500" dirty="0">
                <a:solidFill>
                  <a:srgbClr val="1B2B38"/>
                </a:solidFill>
                <a:latin typeface="Calibri" pitchFamily="34" charset="0"/>
                <a:ea typeface="Calibri" pitchFamily="34" charset="-122"/>
                <a:cs typeface="Calibri" pitchFamily="34" charset="-120"/>
              </a:rPr>
              <a:t>Every department runs above the 85% safety line, with no decompression cycles across 52 weeks.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rgbClr val="0B2F4A"/>
                </a:solidFill>
                <a:latin typeface="Cambria" pitchFamily="34" charset="0"/>
                <a:ea typeface="Cambria" pitchFamily="34" charset="-122"/>
                <a:cs typeface="Cambria" pitchFamily="34" charset="-120"/>
              </a:rPr>
              <a:t>Cross-Departmental Comparison: Throughput vs. Strain</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2743200"/>
        </p:xfrm>
        <a:graphic>
          <a:graphicData uri="http://schemas.openxmlformats.org/drawingml/2006/table">
            <a:tbl>
              <a:tblPr/>
              <a:tblGrid>
                <a:gridCol w="21945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554480">
                  <a:extLst>
                    <a:ext uri="{9D8B030D-6E8A-4147-A177-3AD203B41FA5}">
                      <a16:colId xmlns:a16="http://schemas.microsoft.com/office/drawing/2014/main" val="20005"/>
                    </a:ext>
                  </a:extLst>
                </a:gridCol>
                <a:gridCol w="1673352">
                  <a:extLst>
                    <a:ext uri="{9D8B030D-6E8A-4147-A177-3AD203B41FA5}">
                      <a16:colId xmlns:a16="http://schemas.microsoft.com/office/drawing/2014/main" val="20006"/>
                    </a:ext>
                  </a:extLst>
                </a:gridCol>
              </a:tblGrid>
              <a:tr h="548640">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Department</a:t>
                      </a:r>
                      <a:endParaRPr lang="en-US" sz="14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0B2F4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Admissions</a:t>
                      </a:r>
                      <a:endParaRPr lang="en-US" sz="14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0B2F4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ALOS (days)</a:t>
                      </a:r>
                      <a:endParaRPr lang="en-US" sz="14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0B2F4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Bed util.</a:t>
                      </a:r>
                      <a:endParaRPr lang="en-US" sz="14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0B2F4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Nurse stress</a:t>
                      </a:r>
                      <a:endParaRPr lang="en-US" sz="14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0B2F4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Satisfaction</a:t>
                      </a:r>
                      <a:endParaRPr lang="en-US" sz="14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0B2F4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0B2F4A"/>
                    </a:solidFill>
                  </a:tcPr>
                </a:tc>
                <a:extLst>
                  <a:ext uri="{0D108BD9-81ED-4DB2-BD59-A6C34878D82A}">
                    <a16:rowId xmlns:a16="http://schemas.microsoft.com/office/drawing/2014/main" val="10000"/>
                  </a:ext>
                </a:extLst>
              </a:tr>
              <a:tr h="548640">
                <a:tc>
                  <a:txBody>
                    <a:bodyPr/>
                    <a:lstStyle/>
                    <a:p>
                      <a:pPr marL="0" indent="0" algn="l">
                        <a:buNone/>
                      </a:pPr>
                      <a:r>
                        <a:rPr lang="en-US" sz="1500" b="1" dirty="0">
                          <a:solidFill>
                            <a:srgbClr val="1B2B38"/>
                          </a:solidFill>
                          <a:latin typeface="Calibri" pitchFamily="34" charset="0"/>
                          <a:ea typeface="Calibri" pitchFamily="34" charset="-122"/>
                          <a:cs typeface="Calibri" pitchFamily="34" charset="-120"/>
                        </a:rPr>
                        <a:t>Emergency</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B38"/>
                          </a:solidFill>
                          <a:latin typeface="Calibri" pitchFamily="34" charset="0"/>
                          <a:ea typeface="Calibri" pitchFamily="34" charset="-122"/>
                          <a:cs typeface="Calibri" pitchFamily="34" charset="-120"/>
                        </a:rPr>
                        <a:t>263</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B38"/>
                          </a:solidFill>
                          <a:latin typeface="Calibri" pitchFamily="34" charset="0"/>
                          <a:ea typeface="Calibri" pitchFamily="34" charset="-122"/>
                          <a:cs typeface="Calibri" pitchFamily="34" charset="-120"/>
                        </a:rPr>
                        <a:t>7.2</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E4572E"/>
                          </a:solidFill>
                          <a:latin typeface="Calibri" pitchFamily="34" charset="0"/>
                          <a:ea typeface="Calibri" pitchFamily="34" charset="-122"/>
                          <a:cs typeface="Calibri" pitchFamily="34" charset="-120"/>
                        </a:rPr>
                        <a:t>92.93%</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B38"/>
                          </a:solidFill>
                          <a:latin typeface="Calibri" pitchFamily="34" charset="0"/>
                          <a:ea typeface="Calibri" pitchFamily="34" charset="-122"/>
                          <a:cs typeface="Calibri" pitchFamily="34" charset="-120"/>
                        </a:rPr>
                        <a:t>90.28%</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B38"/>
                          </a:solidFill>
                          <a:latin typeface="Calibri" pitchFamily="34" charset="0"/>
                          <a:ea typeface="Calibri" pitchFamily="34" charset="-122"/>
                          <a:cs typeface="Calibri" pitchFamily="34" charset="-120"/>
                        </a:rPr>
                        <a:t>79.77%</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E4572E"/>
                          </a:solidFill>
                          <a:latin typeface="Calibri" pitchFamily="34" charset="0"/>
                          <a:ea typeface="Calibri" pitchFamily="34" charset="-122"/>
                          <a:cs typeface="Calibri" pitchFamily="34" charset="-120"/>
                        </a:rPr>
                        <a:t>Critical Overflow</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500" b="1" dirty="0">
                          <a:solidFill>
                            <a:srgbClr val="1B2B38"/>
                          </a:solidFill>
                          <a:latin typeface="Calibri" pitchFamily="34" charset="0"/>
                          <a:ea typeface="Calibri" pitchFamily="34" charset="-122"/>
                          <a:cs typeface="Calibri" pitchFamily="34" charset="-120"/>
                        </a:rPr>
                        <a:t>General Medicine</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4F8FA"/>
                    </a:solidFill>
                  </a:tcPr>
                </a:tc>
                <a:tc>
                  <a:txBody>
                    <a:bodyPr/>
                    <a:lstStyle/>
                    <a:p>
                      <a:pPr marL="0" indent="0" algn="ctr">
                        <a:buNone/>
                      </a:pPr>
                      <a:r>
                        <a:rPr lang="en-US" sz="1500" dirty="0">
                          <a:solidFill>
                            <a:srgbClr val="1B2B38"/>
                          </a:solidFill>
                          <a:latin typeface="Calibri" pitchFamily="34" charset="0"/>
                          <a:ea typeface="Calibri" pitchFamily="34" charset="-122"/>
                          <a:cs typeface="Calibri" pitchFamily="34" charset="-120"/>
                        </a:rPr>
                        <a:t>242</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4F8FA"/>
                    </a:solidFill>
                  </a:tcPr>
                </a:tc>
                <a:tc>
                  <a:txBody>
                    <a:bodyPr/>
                    <a:lstStyle/>
                    <a:p>
                      <a:pPr marL="0" indent="0" algn="ctr">
                        <a:buNone/>
                      </a:pPr>
                      <a:r>
                        <a:rPr lang="en-US" sz="1500" dirty="0">
                          <a:solidFill>
                            <a:srgbClr val="1B2B38"/>
                          </a:solidFill>
                          <a:latin typeface="Calibri" pitchFamily="34" charset="0"/>
                          <a:ea typeface="Calibri" pitchFamily="34" charset="-122"/>
                          <a:cs typeface="Calibri" pitchFamily="34" charset="-120"/>
                        </a:rPr>
                        <a:t>7.0</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4F8FA"/>
                    </a:solidFill>
                  </a:tcPr>
                </a:tc>
                <a:tc>
                  <a:txBody>
                    <a:bodyPr/>
                    <a:lstStyle/>
                    <a:p>
                      <a:pPr marL="0" indent="0" algn="ctr">
                        <a:buNone/>
                      </a:pPr>
                      <a:r>
                        <a:rPr lang="en-US" sz="1500" dirty="0">
                          <a:solidFill>
                            <a:srgbClr val="1B2B38"/>
                          </a:solidFill>
                          <a:latin typeface="Calibri" pitchFamily="34" charset="0"/>
                          <a:ea typeface="Calibri" pitchFamily="34" charset="-122"/>
                          <a:cs typeface="Calibri" pitchFamily="34" charset="-120"/>
                        </a:rPr>
                        <a:t>90.86%</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4F8FA"/>
                    </a:solidFill>
                  </a:tcPr>
                </a:tc>
                <a:tc>
                  <a:txBody>
                    <a:bodyPr/>
                    <a:lstStyle/>
                    <a:p>
                      <a:pPr marL="0" indent="0" algn="ctr">
                        <a:buNone/>
                      </a:pPr>
                      <a:r>
                        <a:rPr lang="en-US" sz="1500" dirty="0">
                          <a:solidFill>
                            <a:srgbClr val="1B2B38"/>
                          </a:solidFill>
                          <a:latin typeface="Calibri" pitchFamily="34" charset="0"/>
                          <a:ea typeface="Calibri" pitchFamily="34" charset="-122"/>
                          <a:cs typeface="Calibri" pitchFamily="34" charset="-120"/>
                        </a:rPr>
                        <a:t>87.33%</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4F8FA"/>
                    </a:solidFill>
                  </a:tcPr>
                </a:tc>
                <a:tc>
                  <a:txBody>
                    <a:bodyPr/>
                    <a:lstStyle/>
                    <a:p>
                      <a:pPr marL="0" indent="0" algn="ctr">
                        <a:buNone/>
                      </a:pPr>
                      <a:r>
                        <a:rPr lang="en-US" sz="1500" dirty="0">
                          <a:solidFill>
                            <a:srgbClr val="1B2B38"/>
                          </a:solidFill>
                          <a:latin typeface="Calibri" pitchFamily="34" charset="0"/>
                          <a:ea typeface="Calibri" pitchFamily="34" charset="-122"/>
                          <a:cs typeface="Calibri" pitchFamily="34" charset="-120"/>
                        </a:rPr>
                        <a:t>78.47%</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4F8FA"/>
                    </a:solidFill>
                  </a:tcPr>
                </a:tc>
                <a:tc>
                  <a:txBody>
                    <a:bodyPr/>
                    <a:lstStyle/>
                    <a:p>
                      <a:pPr marL="0" indent="0" algn="ctr">
                        <a:buNone/>
                      </a:pPr>
                      <a:r>
                        <a:rPr lang="en-US" sz="1500" dirty="0">
                          <a:solidFill>
                            <a:srgbClr val="1B2B38"/>
                          </a:solidFill>
                          <a:latin typeface="Calibri" pitchFamily="34" charset="0"/>
                          <a:ea typeface="Calibri" pitchFamily="34" charset="-122"/>
                          <a:cs typeface="Calibri" pitchFamily="34" charset="-120"/>
                        </a:rPr>
                        <a:t>High Saturation</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4F8FA"/>
                    </a:solidFill>
                  </a:tcPr>
                </a:tc>
                <a:extLst>
                  <a:ext uri="{0D108BD9-81ED-4DB2-BD59-A6C34878D82A}">
                    <a16:rowId xmlns:a16="http://schemas.microsoft.com/office/drawing/2014/main" val="10002"/>
                  </a:ext>
                </a:extLst>
              </a:tr>
              <a:tr h="548640">
                <a:tc>
                  <a:txBody>
                    <a:bodyPr/>
                    <a:lstStyle/>
                    <a:p>
                      <a:pPr marL="0" indent="0" algn="l">
                        <a:buNone/>
                      </a:pPr>
                      <a:r>
                        <a:rPr lang="en-US" sz="1500" b="1" dirty="0">
                          <a:solidFill>
                            <a:srgbClr val="1B2B38"/>
                          </a:solidFill>
                          <a:latin typeface="Calibri" pitchFamily="34" charset="0"/>
                          <a:ea typeface="Calibri" pitchFamily="34" charset="-122"/>
                          <a:cs typeface="Calibri" pitchFamily="34" charset="-120"/>
                        </a:rPr>
                        <a:t>Surgery</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B38"/>
                          </a:solidFill>
                          <a:latin typeface="Calibri" pitchFamily="34" charset="0"/>
                          <a:ea typeface="Calibri" pitchFamily="34" charset="-122"/>
                          <a:cs typeface="Calibri" pitchFamily="34" charset="-120"/>
                        </a:rPr>
                        <a:t>254</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B38"/>
                          </a:solidFill>
                          <a:latin typeface="Calibri" pitchFamily="34" charset="0"/>
                          <a:ea typeface="Calibri" pitchFamily="34" charset="-122"/>
                          <a:cs typeface="Calibri" pitchFamily="34" charset="-120"/>
                        </a:rPr>
                        <a:t>7.9</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B38"/>
                          </a:solidFill>
                          <a:latin typeface="Calibri" pitchFamily="34" charset="0"/>
                          <a:ea typeface="Calibri" pitchFamily="34" charset="-122"/>
                          <a:cs typeface="Calibri" pitchFamily="34" charset="-120"/>
                        </a:rPr>
                        <a:t>89.28%</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B38"/>
                          </a:solidFill>
                          <a:latin typeface="Calibri" pitchFamily="34" charset="0"/>
                          <a:ea typeface="Calibri" pitchFamily="34" charset="-122"/>
                          <a:cs typeface="Calibri" pitchFamily="34" charset="-120"/>
                        </a:rPr>
                        <a:t>89.47%</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B38"/>
                          </a:solidFill>
                          <a:latin typeface="Calibri" pitchFamily="34" charset="0"/>
                          <a:ea typeface="Calibri" pitchFamily="34" charset="-122"/>
                          <a:cs typeface="Calibri" pitchFamily="34" charset="-120"/>
                        </a:rPr>
                        <a:t>79.81%</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B38"/>
                          </a:solidFill>
                          <a:latin typeface="Calibri" pitchFamily="34" charset="0"/>
                          <a:ea typeface="Calibri" pitchFamily="34" charset="-122"/>
                          <a:cs typeface="Calibri" pitchFamily="34" charset="-120"/>
                        </a:rPr>
                        <a:t>Capacity Bound</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500" b="1" dirty="0">
                          <a:solidFill>
                            <a:srgbClr val="1B2B38"/>
                          </a:solidFill>
                          <a:latin typeface="Calibri" pitchFamily="34" charset="0"/>
                          <a:ea typeface="Calibri" pitchFamily="34" charset="-122"/>
                          <a:cs typeface="Calibri" pitchFamily="34" charset="-120"/>
                        </a:rPr>
                        <a:t>ICU</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4F8FA"/>
                    </a:solidFill>
                  </a:tcPr>
                </a:tc>
                <a:tc>
                  <a:txBody>
                    <a:bodyPr/>
                    <a:lstStyle/>
                    <a:p>
                      <a:pPr marL="0" indent="0" algn="ctr">
                        <a:buNone/>
                      </a:pPr>
                      <a:r>
                        <a:rPr lang="en-US" sz="1500" dirty="0">
                          <a:solidFill>
                            <a:srgbClr val="1B2B38"/>
                          </a:solidFill>
                          <a:latin typeface="Calibri" pitchFamily="34" charset="0"/>
                          <a:ea typeface="Calibri" pitchFamily="34" charset="-122"/>
                          <a:cs typeface="Calibri" pitchFamily="34" charset="-120"/>
                        </a:rPr>
                        <a:t>241</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4F8FA"/>
                    </a:solidFill>
                  </a:tcPr>
                </a:tc>
                <a:tc>
                  <a:txBody>
                    <a:bodyPr/>
                    <a:lstStyle/>
                    <a:p>
                      <a:pPr marL="0" indent="0" algn="ctr">
                        <a:buNone/>
                      </a:pPr>
                      <a:r>
                        <a:rPr lang="en-US" sz="1500" dirty="0">
                          <a:solidFill>
                            <a:srgbClr val="1B2B38"/>
                          </a:solidFill>
                          <a:latin typeface="Calibri" pitchFamily="34" charset="0"/>
                          <a:ea typeface="Calibri" pitchFamily="34" charset="-122"/>
                          <a:cs typeface="Calibri" pitchFamily="34" charset="-120"/>
                        </a:rPr>
                        <a:t>7.6</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4F8FA"/>
                    </a:solidFill>
                  </a:tcPr>
                </a:tc>
                <a:tc>
                  <a:txBody>
                    <a:bodyPr/>
                    <a:lstStyle/>
                    <a:p>
                      <a:pPr marL="0" indent="0" algn="ctr">
                        <a:buNone/>
                      </a:pPr>
                      <a:r>
                        <a:rPr lang="en-US" sz="1500" dirty="0">
                          <a:solidFill>
                            <a:srgbClr val="1B2B38"/>
                          </a:solidFill>
                          <a:latin typeface="Calibri" pitchFamily="34" charset="0"/>
                          <a:ea typeface="Calibri" pitchFamily="34" charset="-122"/>
                          <a:cs typeface="Calibri" pitchFamily="34" charset="-120"/>
                        </a:rPr>
                        <a:t>87.49%</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4F8FA"/>
                    </a:solidFill>
                  </a:tcPr>
                </a:tc>
                <a:tc>
                  <a:txBody>
                    <a:bodyPr/>
                    <a:lstStyle/>
                    <a:p>
                      <a:pPr marL="0" indent="0" algn="ctr">
                        <a:buNone/>
                      </a:pPr>
                      <a:r>
                        <a:rPr lang="en-US" sz="1500" dirty="0">
                          <a:solidFill>
                            <a:srgbClr val="1B2B38"/>
                          </a:solidFill>
                          <a:latin typeface="Calibri" pitchFamily="34" charset="0"/>
                          <a:ea typeface="Calibri" pitchFamily="34" charset="-122"/>
                          <a:cs typeface="Calibri" pitchFamily="34" charset="-120"/>
                        </a:rPr>
                        <a:t>89.77%</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4F8FA"/>
                    </a:solidFill>
                  </a:tcPr>
                </a:tc>
                <a:tc>
                  <a:txBody>
                    <a:bodyPr/>
                    <a:lstStyle/>
                    <a:p>
                      <a:pPr marL="0" indent="0" algn="ctr">
                        <a:buNone/>
                      </a:pPr>
                      <a:r>
                        <a:rPr lang="en-US" sz="1500" dirty="0">
                          <a:solidFill>
                            <a:srgbClr val="1B2B38"/>
                          </a:solidFill>
                          <a:latin typeface="Calibri" pitchFamily="34" charset="0"/>
                          <a:ea typeface="Calibri" pitchFamily="34" charset="-122"/>
                          <a:cs typeface="Calibri" pitchFamily="34" charset="-120"/>
                        </a:rPr>
                        <a:t>79.67%</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4F8FA"/>
                    </a:solidFill>
                  </a:tcPr>
                </a:tc>
                <a:tc>
                  <a:txBody>
                    <a:bodyPr/>
                    <a:lstStyle/>
                    <a:p>
                      <a:pPr marL="0" indent="0" algn="ctr">
                        <a:buNone/>
                      </a:pPr>
                      <a:r>
                        <a:rPr lang="en-US" sz="1500" dirty="0">
                          <a:solidFill>
                            <a:srgbClr val="1B2B38"/>
                          </a:solidFill>
                          <a:latin typeface="Calibri" pitchFamily="34" charset="0"/>
                          <a:ea typeface="Calibri" pitchFamily="34" charset="-122"/>
                          <a:cs typeface="Calibri" pitchFamily="34" charset="-120"/>
                        </a:rPr>
                        <a:t>Acuity Constrained</a:t>
                      </a:r>
                      <a:endParaRPr lang="en-US" sz="1500" dirty="0">
                        <a:latin typeface="Calibri" charset="0"/>
                        <a:ea typeface="Calibri" charset="0"/>
                        <a:cs typeface="Calibri" charset="0"/>
                      </a:endParaRPr>
                    </a:p>
                  </a:txBody>
                  <a:tcPr anchor="ctr">
                    <a:lnL w="9525" cap="flat" cmpd="sng" algn="ctr">
                      <a:solidFill>
                        <a:srgbClr val="D5E0E7"/>
                      </a:solidFill>
                      <a:prstDash val="solid"/>
                      <a:round/>
                      <a:headEnd type="none" w="med" len="med"/>
                      <a:tailEnd type="none" w="med" len="med"/>
                    </a:lnL>
                    <a:lnR w="9525" cap="flat" cmpd="sng" algn="ctr">
                      <a:solidFill>
                        <a:srgbClr val="D5E0E7"/>
                      </a:solidFill>
                      <a:prstDash val="solid"/>
                      <a:round/>
                      <a:headEnd type="none" w="med" len="med"/>
                      <a:tailEnd type="none" w="med" len="med"/>
                    </a:lnR>
                    <a:lnT w="9525" cap="flat" cmpd="sng" algn="ctr">
                      <a:solidFill>
                        <a:srgbClr val="D5E0E7"/>
                      </a:solidFill>
                      <a:prstDash val="solid"/>
                      <a:round/>
                      <a:headEnd type="none" w="med" len="med"/>
                      <a:tailEnd type="none" w="med" len="med"/>
                    </a:lnT>
                    <a:lnB w="9525" cap="flat" cmpd="sng" algn="ctr">
                      <a:solidFill>
                        <a:srgbClr val="D5E0E7"/>
                      </a:solidFill>
                      <a:prstDash val="solid"/>
                      <a:round/>
                      <a:headEnd type="none" w="med" len="med"/>
                      <a:tailEnd type="none" w="med" len="med"/>
                    </a:lnB>
                    <a:solidFill>
                      <a:srgbClr val="F4F8FA"/>
                    </a:solidFill>
                  </a:tcPr>
                </a:tc>
                <a:extLst>
                  <a:ext uri="{0D108BD9-81ED-4DB2-BD59-A6C34878D82A}">
                    <a16:rowId xmlns:a16="http://schemas.microsoft.com/office/drawing/2014/main" val="10004"/>
                  </a:ext>
                </a:extLst>
              </a:tr>
            </a:tbl>
          </a:graphicData>
        </a:graphic>
      </p:graphicFrame>
      <p:sp>
        <p:nvSpPr>
          <p:cNvPr id="4" name="Text 1"/>
          <p:cNvSpPr txBox="1"/>
          <p:nvPr/>
        </p:nvSpPr>
        <p:spPr>
          <a:xfrm>
            <a:off x="548640" y="4389120"/>
            <a:ext cx="11064240" cy="1188720"/>
          </a:xfrm>
          <a:prstGeom prst="rect">
            <a:avLst/>
          </a:prstGeom>
          <a:noFill/>
          <a:ln/>
        </p:spPr>
        <p:txBody>
          <a:bodyPr wrap="square" lIns="0" tIns="0" rIns="0" bIns="0" rtlCol="0" anchor="t"/>
          <a:lstStyle/>
          <a:p>
            <a:pPr marL="177800" indent="-177800">
              <a:spcAft>
                <a:spcPts val="600"/>
              </a:spcAft>
              <a:buSzPct val="100000"/>
              <a:buChar char="•"/>
            </a:pPr>
            <a:r>
              <a:rPr lang="en-US" sz="1600" b="1" dirty="0">
                <a:solidFill>
                  <a:srgbClr val="1B2B38"/>
                </a:solidFill>
                <a:latin typeface="Calibri" pitchFamily="34" charset="0"/>
                <a:ea typeface="Calibri" pitchFamily="34" charset="-122"/>
                <a:cs typeface="Calibri" pitchFamily="34" charset="-120"/>
              </a:rPr>
              <a:t>Emergency is the primary bottleneck</a:t>
            </a:r>
            <a:r>
              <a:rPr lang="en-US" sz="1600" dirty="0">
                <a:solidFill>
                  <a:srgbClr val="1B2B38"/>
                </a:solidFill>
                <a:latin typeface="Calibri" pitchFamily="34" charset="0"/>
                <a:ea typeface="Calibri" pitchFamily="34" charset="-122"/>
                <a:cs typeface="Calibri" pitchFamily="34" charset="-120"/>
              </a:rPr>
              <a:t>: high intake and maximum resource saturation</a:t>
            </a:r>
            <a:endParaRPr lang="en-US" sz="1600" dirty="0"/>
          </a:p>
          <a:p>
            <a:pPr marL="177800" indent="-177800">
              <a:spcAft>
                <a:spcPts val="600"/>
              </a:spcAft>
              <a:buSzPct val="100000"/>
              <a:buChar char="•"/>
            </a:pPr>
            <a:r>
              <a:rPr lang="en-US" sz="1600" b="1" dirty="0">
                <a:solidFill>
                  <a:srgbClr val="1B2B38"/>
                </a:solidFill>
                <a:latin typeface="Calibri" pitchFamily="34" charset="0"/>
                <a:ea typeface="Calibri" pitchFamily="34" charset="-122"/>
                <a:cs typeface="Calibri" pitchFamily="34" charset="-120"/>
              </a:rPr>
              <a:t>Surgery and ICU hold beds longest</a:t>
            </a:r>
            <a:r>
              <a:rPr lang="en-US" sz="1600" dirty="0">
                <a:solidFill>
                  <a:srgbClr val="1B2B38"/>
                </a:solidFill>
                <a:latin typeface="Calibri" pitchFamily="34" charset="0"/>
                <a:ea typeface="Calibri" pitchFamily="34" charset="-122"/>
                <a:cs typeface="Calibri" pitchFamily="34" charset="-120"/>
              </a:rPr>
              <a:t> (ALOS near 8 days), restricting upstream discharges</a:t>
            </a:r>
            <a:endParaRPr lang="en-US" sz="1600" dirty="0"/>
          </a:p>
        </p:txBody>
      </p:sp>
      <p:sp>
        <p:nvSpPr>
          <p:cNvPr id="5" name="Takeaway card"/>
          <p:cNvSpPr/>
          <p:nvPr/>
        </p:nvSpPr>
        <p:spPr>
          <a:xfrm>
            <a:off x="548640" y="5806440"/>
            <a:ext cx="11091672" cy="685800"/>
          </a:xfrm>
          <a:prstGeom prst="roundRect">
            <a:avLst>
              <a:gd name="adj" fmla="val 13333"/>
            </a:avLst>
          </a:prstGeom>
          <a:solidFill>
            <a:srgbClr val="DDEFEE"/>
          </a:solidFill>
          <a:ln/>
        </p:spPr>
      </p:sp>
      <p:sp>
        <p:nvSpPr>
          <p:cNvPr id="6" name="Text 3"/>
          <p:cNvSpPr txBox="1"/>
          <p:nvPr/>
        </p:nvSpPr>
        <p:spPr>
          <a:xfrm>
            <a:off x="777240" y="5806440"/>
            <a:ext cx="10652760" cy="685800"/>
          </a:xfrm>
          <a:prstGeom prst="rect">
            <a:avLst/>
          </a:prstGeom>
          <a:noFill/>
          <a:ln/>
        </p:spPr>
        <p:txBody>
          <a:bodyPr wrap="square" lIns="0" tIns="0" rIns="0" bIns="0" rtlCol="0" anchor="ctr"/>
          <a:lstStyle/>
          <a:p>
            <a:pPr marL="0" indent="0">
              <a:buNone/>
            </a:pPr>
            <a:r>
              <a:rPr lang="en-US" sz="1500" b="1" dirty="0">
                <a:solidFill>
                  <a:srgbClr val="1C7C7D"/>
                </a:solidFill>
                <a:latin typeface="Calibri" pitchFamily="34" charset="0"/>
                <a:ea typeface="Calibri" pitchFamily="34" charset="-122"/>
                <a:cs typeface="Calibri" pitchFamily="34" charset="-120"/>
              </a:rPr>
              <a:t>Takeaway: </a:t>
            </a:r>
            <a:r>
              <a:rPr lang="en-US" sz="1500" dirty="0">
                <a:solidFill>
                  <a:srgbClr val="1B2B38"/>
                </a:solidFill>
                <a:latin typeface="Calibri" pitchFamily="34" charset="0"/>
                <a:ea typeface="Calibri" pitchFamily="34" charset="-122"/>
                <a:cs typeface="Calibri" pitchFamily="34" charset="-120"/>
              </a:rPr>
              <a:t>Long Surgery/ICU stays block Emergency transfers, driving boarding and diversions.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rgbClr val="0B2F4A"/>
                </a:solidFill>
                <a:latin typeface="Cambria" pitchFamily="34" charset="0"/>
                <a:ea typeface="Cambria" pitchFamily="34" charset="-122"/>
                <a:cs typeface="Cambria" pitchFamily="34" charset="-120"/>
              </a:rPr>
              <a:t>Data-Driven Interventions for Executive Leadership</a:t>
            </a:r>
            <a:endParaRPr lang="en-US" sz="3000" dirty="0"/>
          </a:p>
        </p:txBody>
      </p:sp>
      <p:sp>
        <p:nvSpPr>
          <p:cNvPr id="3" name="Phase 1"/>
          <p:cNvSpPr/>
          <p:nvPr/>
        </p:nvSpPr>
        <p:spPr>
          <a:xfrm>
            <a:off x="548640" y="1371600"/>
            <a:ext cx="3593592" cy="4206240"/>
          </a:xfrm>
          <a:prstGeom prst="roundRect">
            <a:avLst>
              <a:gd name="adj" fmla="val 3053"/>
            </a:avLst>
          </a:prstGeom>
          <a:solidFill>
            <a:srgbClr val="0B2F4A"/>
          </a:solidFill>
          <a:ln/>
          <a:effectLst>
            <a:outerShdw blurRad="76200" dist="25400" dir="5400000" algn="bl" rotWithShape="0">
              <a:srgbClr val="000000">
                <a:alpha val="12000"/>
              </a:srgbClr>
            </a:outerShdw>
          </a:effectLst>
        </p:spPr>
      </p:sp>
      <p:sp>
        <p:nvSpPr>
          <p:cNvPr id="4" name="Phase number"/>
          <p:cNvSpPr/>
          <p:nvPr/>
        </p:nvSpPr>
        <p:spPr>
          <a:xfrm>
            <a:off x="822960" y="1600200"/>
            <a:ext cx="548640" cy="548640"/>
          </a:xfrm>
          <a:prstGeom prst="ellipse">
            <a:avLst/>
          </a:prstGeom>
          <a:solidFill>
            <a:srgbClr val="1C7C7D"/>
          </a:solidFill>
          <a:ln/>
        </p:spPr>
      </p:sp>
      <p:sp>
        <p:nvSpPr>
          <p:cNvPr id="5" name="Text 3"/>
          <p:cNvSpPr txBox="1"/>
          <p:nvPr/>
        </p:nvSpPr>
        <p:spPr>
          <a:xfrm>
            <a:off x="822960" y="16002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1508760" y="1600200"/>
            <a:ext cx="2468880" cy="548640"/>
          </a:xfrm>
          <a:prstGeom prst="rect">
            <a:avLst/>
          </a:prstGeom>
          <a:noFill/>
          <a:ln/>
        </p:spPr>
        <p:txBody>
          <a:bodyPr wrap="square" lIns="0" tIns="0" rIns="0" bIns="0" rtlCol="0" anchor="ctr"/>
          <a:lstStyle/>
          <a:p>
            <a:pPr marL="0" indent="0">
              <a:buNone/>
            </a:pPr>
            <a:r>
              <a:rPr lang="en-US" sz="1400" b="1" dirty="0">
                <a:solidFill>
                  <a:srgbClr val="7FD6D2"/>
                </a:solidFill>
                <a:latin typeface="Calibri" pitchFamily="34" charset="0"/>
                <a:ea typeface="Calibri" pitchFamily="34" charset="-122"/>
                <a:cs typeface="Calibri" pitchFamily="34" charset="-120"/>
              </a:rPr>
              <a:t>IMMEDIATE  |  Days 1–30</a:t>
            </a:r>
            <a:endParaRPr lang="en-US" sz="1400" dirty="0"/>
          </a:p>
        </p:txBody>
      </p:sp>
      <p:sp>
        <p:nvSpPr>
          <p:cNvPr id="7" name="Text 5"/>
          <p:cNvSpPr txBox="1"/>
          <p:nvPr/>
        </p:nvSpPr>
        <p:spPr>
          <a:xfrm>
            <a:off x="822960" y="2423160"/>
            <a:ext cx="3063240" cy="822960"/>
          </a:xfrm>
          <a:prstGeom prst="rect">
            <a:avLst/>
          </a:prstGeom>
          <a:noFill/>
          <a:ln/>
        </p:spPr>
        <p:txBody>
          <a:bodyPr wrap="square" lIns="0" tIns="0" rIns="0" bIns="0" rtlCol="0" anchor="t"/>
          <a:lstStyle/>
          <a:p>
            <a:pPr marL="0" indent="0">
              <a:buNone/>
            </a:pPr>
            <a:r>
              <a:rPr lang="en-US" sz="2200" b="1" dirty="0">
                <a:solidFill>
                  <a:srgbClr val="FFFFFF"/>
                </a:solidFill>
                <a:latin typeface="Cambria" pitchFamily="34" charset="0"/>
                <a:ea typeface="Cambria" pitchFamily="34" charset="-122"/>
                <a:cs typeface="Cambria" pitchFamily="34" charset="-120"/>
              </a:rPr>
              <a:t>Dynamic Nurse Float Pool</a:t>
            </a:r>
            <a:endParaRPr lang="en-US" sz="2200" dirty="0"/>
          </a:p>
        </p:txBody>
      </p:sp>
      <p:sp>
        <p:nvSpPr>
          <p:cNvPr id="8" name="Text 6"/>
          <p:cNvSpPr txBox="1"/>
          <p:nvPr/>
        </p:nvSpPr>
        <p:spPr>
          <a:xfrm>
            <a:off x="822960" y="3291840"/>
            <a:ext cx="3063240" cy="2103120"/>
          </a:xfrm>
          <a:prstGeom prst="rect">
            <a:avLst/>
          </a:prstGeom>
          <a:noFill/>
          <a:ln/>
        </p:spPr>
        <p:txBody>
          <a:bodyPr wrap="square" lIns="0" tIns="0" rIns="0" bIns="0" rtlCol="0" anchor="t"/>
          <a:lstStyle/>
          <a:p>
            <a:pPr marL="0" indent="0">
              <a:buNone/>
            </a:pPr>
            <a:r>
              <a:rPr lang="en-US" sz="1500" dirty="0">
                <a:solidFill>
                  <a:srgbClr val="E3EDF3"/>
                </a:solidFill>
                <a:latin typeface="Calibri" pitchFamily="34" charset="0"/>
                <a:ea typeface="Calibri" pitchFamily="34" charset="-122"/>
                <a:cs typeface="Calibri" pitchFamily="34" charset="-120"/>
              </a:rPr>
              <a:t>Deploy flexible nurses to Emergency and ICU Friday–Sunday to absorb weekend surges (Saturday intake 15.4%).</a:t>
            </a:r>
            <a:endParaRPr lang="en-US" sz="1500" dirty="0"/>
          </a:p>
        </p:txBody>
      </p:sp>
      <p:sp>
        <p:nvSpPr>
          <p:cNvPr id="9" name="Phase 2"/>
          <p:cNvSpPr/>
          <p:nvPr/>
        </p:nvSpPr>
        <p:spPr>
          <a:xfrm>
            <a:off x="4297680" y="1371600"/>
            <a:ext cx="3593592" cy="4206240"/>
          </a:xfrm>
          <a:prstGeom prst="roundRect">
            <a:avLst>
              <a:gd name="adj" fmla="val 3053"/>
            </a:avLst>
          </a:prstGeom>
          <a:solidFill>
            <a:srgbClr val="F4F8FA"/>
          </a:solidFill>
          <a:ln/>
          <a:effectLst>
            <a:outerShdw blurRad="76200" dist="25400" dir="5400000" algn="bl" rotWithShape="0">
              <a:srgbClr val="000000">
                <a:alpha val="12000"/>
              </a:srgbClr>
            </a:outerShdw>
          </a:effectLst>
        </p:spPr>
      </p:sp>
      <p:sp>
        <p:nvSpPr>
          <p:cNvPr id="10" name="Phase number"/>
          <p:cNvSpPr/>
          <p:nvPr/>
        </p:nvSpPr>
        <p:spPr>
          <a:xfrm>
            <a:off x="4572000" y="1600200"/>
            <a:ext cx="548640" cy="548640"/>
          </a:xfrm>
          <a:prstGeom prst="ellipse">
            <a:avLst/>
          </a:prstGeom>
          <a:solidFill>
            <a:srgbClr val="1C7C7D"/>
          </a:solidFill>
          <a:ln/>
        </p:spPr>
      </p:sp>
      <p:sp>
        <p:nvSpPr>
          <p:cNvPr id="11" name="Text 9"/>
          <p:cNvSpPr txBox="1"/>
          <p:nvPr/>
        </p:nvSpPr>
        <p:spPr>
          <a:xfrm>
            <a:off x="4572000" y="16002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5257800" y="1600200"/>
            <a:ext cx="2468880" cy="548640"/>
          </a:xfrm>
          <a:prstGeom prst="rect">
            <a:avLst/>
          </a:prstGeom>
          <a:noFill/>
          <a:ln/>
        </p:spPr>
        <p:txBody>
          <a:bodyPr wrap="square" lIns="0" tIns="0" rIns="0" bIns="0" rtlCol="0" anchor="ctr"/>
          <a:lstStyle/>
          <a:p>
            <a:pPr marL="0" indent="0">
              <a:buNone/>
            </a:pPr>
            <a:r>
              <a:rPr lang="en-US" sz="1400" b="1" dirty="0">
                <a:solidFill>
                  <a:srgbClr val="1C7C7D"/>
                </a:solidFill>
                <a:latin typeface="Calibri" pitchFamily="34" charset="0"/>
                <a:ea typeface="Calibri" pitchFamily="34" charset="-122"/>
                <a:cs typeface="Calibri" pitchFamily="34" charset="-120"/>
              </a:rPr>
              <a:t>MID-TERM  |  Days 31–90</a:t>
            </a:r>
            <a:endParaRPr lang="en-US" sz="1400" dirty="0"/>
          </a:p>
        </p:txBody>
      </p:sp>
      <p:sp>
        <p:nvSpPr>
          <p:cNvPr id="13" name="Text 11"/>
          <p:cNvSpPr txBox="1"/>
          <p:nvPr/>
        </p:nvSpPr>
        <p:spPr>
          <a:xfrm>
            <a:off x="4572000" y="2423160"/>
            <a:ext cx="3063240" cy="822960"/>
          </a:xfrm>
          <a:prstGeom prst="rect">
            <a:avLst/>
          </a:prstGeom>
          <a:noFill/>
          <a:ln/>
        </p:spPr>
        <p:txBody>
          <a:bodyPr wrap="square" lIns="0" tIns="0" rIns="0" bIns="0" rtlCol="0" anchor="t"/>
          <a:lstStyle/>
          <a:p>
            <a:pPr marL="0" indent="0">
              <a:buNone/>
            </a:pPr>
            <a:r>
              <a:rPr lang="en-US" sz="2200" b="1" dirty="0">
                <a:solidFill>
                  <a:srgbClr val="0B2F4A"/>
                </a:solidFill>
                <a:latin typeface="Cambria" pitchFamily="34" charset="0"/>
                <a:ea typeface="Cambria" pitchFamily="34" charset="-122"/>
                <a:cs typeface="Cambria" pitchFamily="34" charset="-120"/>
              </a:rPr>
              <a:t>Rapid Discharge Rounds</a:t>
            </a:r>
            <a:endParaRPr lang="en-US" sz="2200" dirty="0"/>
          </a:p>
        </p:txBody>
      </p:sp>
      <p:sp>
        <p:nvSpPr>
          <p:cNvPr id="14" name="Text 12"/>
          <p:cNvSpPr txBox="1"/>
          <p:nvPr/>
        </p:nvSpPr>
        <p:spPr>
          <a:xfrm>
            <a:off x="4572000" y="3291840"/>
            <a:ext cx="3063240" cy="2103120"/>
          </a:xfrm>
          <a:prstGeom prst="rect">
            <a:avLst/>
          </a:prstGeom>
          <a:noFill/>
          <a:ln/>
        </p:spPr>
        <p:txBody>
          <a:bodyPr wrap="square" lIns="0" tIns="0" rIns="0" bIns="0" rtlCol="0" anchor="t"/>
          <a:lstStyle/>
          <a:p>
            <a:pPr marL="0" indent="0">
              <a:buNone/>
            </a:pPr>
            <a:r>
              <a:rPr lang="en-US" sz="1500" dirty="0">
                <a:solidFill>
                  <a:srgbClr val="1B2B38"/>
                </a:solidFill>
                <a:latin typeface="Calibri" pitchFamily="34" charset="0"/>
                <a:ea typeface="Calibri" pitchFamily="34" charset="-122"/>
                <a:cs typeface="Calibri" pitchFamily="34" charset="-120"/>
              </a:rPr>
              <a:t>Structured morning discharge rounds in Surgery and General Medicine to cut ALOS from 7.9 toward the 7.0-day target and free beds before afternoon intake.</a:t>
            </a:r>
            <a:endParaRPr lang="en-US" sz="1500" dirty="0"/>
          </a:p>
        </p:txBody>
      </p:sp>
      <p:sp>
        <p:nvSpPr>
          <p:cNvPr id="15" name="Phase 3"/>
          <p:cNvSpPr/>
          <p:nvPr/>
        </p:nvSpPr>
        <p:spPr>
          <a:xfrm>
            <a:off x="8046720" y="1371600"/>
            <a:ext cx="3593592" cy="4206240"/>
          </a:xfrm>
          <a:prstGeom prst="roundRect">
            <a:avLst>
              <a:gd name="adj" fmla="val 3053"/>
            </a:avLst>
          </a:prstGeom>
          <a:solidFill>
            <a:srgbClr val="F4F8FA"/>
          </a:solidFill>
          <a:ln/>
          <a:effectLst>
            <a:outerShdw blurRad="76200" dist="25400" dir="5400000" algn="bl" rotWithShape="0">
              <a:srgbClr val="000000">
                <a:alpha val="12000"/>
              </a:srgbClr>
            </a:outerShdw>
          </a:effectLst>
        </p:spPr>
      </p:sp>
      <p:sp>
        <p:nvSpPr>
          <p:cNvPr id="16" name="Phase number"/>
          <p:cNvSpPr/>
          <p:nvPr/>
        </p:nvSpPr>
        <p:spPr>
          <a:xfrm>
            <a:off x="8321040" y="1600200"/>
            <a:ext cx="548640" cy="548640"/>
          </a:xfrm>
          <a:prstGeom prst="ellipse">
            <a:avLst/>
          </a:prstGeom>
          <a:solidFill>
            <a:srgbClr val="1C7C7D"/>
          </a:solidFill>
          <a:ln/>
        </p:spPr>
      </p:sp>
      <p:sp>
        <p:nvSpPr>
          <p:cNvPr id="17" name="Text 15"/>
          <p:cNvSpPr txBox="1"/>
          <p:nvPr/>
        </p:nvSpPr>
        <p:spPr>
          <a:xfrm>
            <a:off x="8321040" y="16002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8" name="Text 16"/>
          <p:cNvSpPr txBox="1"/>
          <p:nvPr/>
        </p:nvSpPr>
        <p:spPr>
          <a:xfrm>
            <a:off x="9006840" y="1600200"/>
            <a:ext cx="2468880" cy="548640"/>
          </a:xfrm>
          <a:prstGeom prst="rect">
            <a:avLst/>
          </a:prstGeom>
          <a:noFill/>
          <a:ln/>
        </p:spPr>
        <p:txBody>
          <a:bodyPr wrap="square" lIns="0" tIns="0" rIns="0" bIns="0" rtlCol="0" anchor="ctr"/>
          <a:lstStyle/>
          <a:p>
            <a:pPr marL="0" indent="0">
              <a:buNone/>
            </a:pPr>
            <a:r>
              <a:rPr lang="en-US" sz="1400" b="1" dirty="0">
                <a:solidFill>
                  <a:srgbClr val="1C7C7D"/>
                </a:solidFill>
                <a:latin typeface="Calibri" pitchFamily="34" charset="0"/>
                <a:ea typeface="Calibri" pitchFamily="34" charset="-122"/>
                <a:cs typeface="Calibri" pitchFamily="34" charset="-120"/>
              </a:rPr>
              <a:t>STRATEGIC  |  Q3–Q4</a:t>
            </a:r>
            <a:endParaRPr lang="en-US" sz="1400" dirty="0"/>
          </a:p>
        </p:txBody>
      </p:sp>
      <p:sp>
        <p:nvSpPr>
          <p:cNvPr id="19" name="Text 17"/>
          <p:cNvSpPr txBox="1"/>
          <p:nvPr/>
        </p:nvSpPr>
        <p:spPr>
          <a:xfrm>
            <a:off x="8321040" y="2423160"/>
            <a:ext cx="3063240" cy="822960"/>
          </a:xfrm>
          <a:prstGeom prst="rect">
            <a:avLst/>
          </a:prstGeom>
          <a:noFill/>
          <a:ln/>
        </p:spPr>
        <p:txBody>
          <a:bodyPr wrap="square" lIns="0" tIns="0" rIns="0" bIns="0" rtlCol="0" anchor="t"/>
          <a:lstStyle/>
          <a:p>
            <a:pPr marL="0" indent="0">
              <a:buNone/>
            </a:pPr>
            <a:r>
              <a:rPr lang="en-US" sz="2200" b="1" dirty="0">
                <a:solidFill>
                  <a:srgbClr val="0B2F4A"/>
                </a:solidFill>
                <a:latin typeface="Cambria" pitchFamily="34" charset="0"/>
                <a:ea typeface="Cambria" pitchFamily="34" charset="-122"/>
                <a:cs typeface="Cambria" pitchFamily="34" charset="-120"/>
              </a:rPr>
              <a:t>Predictive Surge Scheduling</a:t>
            </a:r>
            <a:endParaRPr lang="en-US" sz="2200" dirty="0"/>
          </a:p>
        </p:txBody>
      </p:sp>
      <p:sp>
        <p:nvSpPr>
          <p:cNvPr id="20" name="Text 18"/>
          <p:cNvSpPr txBox="1"/>
          <p:nvPr/>
        </p:nvSpPr>
        <p:spPr>
          <a:xfrm>
            <a:off x="8321040" y="3291840"/>
            <a:ext cx="3063240" cy="2103120"/>
          </a:xfrm>
          <a:prstGeom prst="rect">
            <a:avLst/>
          </a:prstGeom>
          <a:noFill/>
          <a:ln/>
        </p:spPr>
        <p:txBody>
          <a:bodyPr wrap="square" lIns="0" tIns="0" rIns="0" bIns="0" rtlCol="0" anchor="t"/>
          <a:lstStyle/>
          <a:p>
            <a:pPr marL="0" indent="0">
              <a:buNone/>
            </a:pPr>
            <a:r>
              <a:rPr lang="en-US" sz="1500" dirty="0">
                <a:solidFill>
                  <a:srgbClr val="1B2B38"/>
                </a:solidFill>
                <a:latin typeface="Calibri" pitchFamily="34" charset="0"/>
                <a:ea typeface="Calibri" pitchFamily="34" charset="-122"/>
                <a:cs typeface="Calibri" pitchFamily="34" charset="-120"/>
              </a:rPr>
              <a:t>Feed flu and event surveillance into the automated roster to scale beds and physicians before surges hit.</a:t>
            </a:r>
            <a:endParaRPr lang="en-US" sz="1500" dirty="0"/>
          </a:p>
        </p:txBody>
      </p:sp>
      <p:sp>
        <p:nvSpPr>
          <p:cNvPr id="21" name="Takeaway card"/>
          <p:cNvSpPr/>
          <p:nvPr/>
        </p:nvSpPr>
        <p:spPr>
          <a:xfrm>
            <a:off x="548640" y="5806440"/>
            <a:ext cx="11091672" cy="685800"/>
          </a:xfrm>
          <a:prstGeom prst="roundRect">
            <a:avLst>
              <a:gd name="adj" fmla="val 13333"/>
            </a:avLst>
          </a:prstGeom>
          <a:solidFill>
            <a:srgbClr val="DDEFEE"/>
          </a:solidFill>
          <a:ln/>
        </p:spPr>
      </p:sp>
      <p:sp>
        <p:nvSpPr>
          <p:cNvPr id="22" name="Text 20"/>
          <p:cNvSpPr txBox="1"/>
          <p:nvPr/>
        </p:nvSpPr>
        <p:spPr>
          <a:xfrm>
            <a:off x="777240" y="5806440"/>
            <a:ext cx="10652760" cy="685800"/>
          </a:xfrm>
          <a:prstGeom prst="rect">
            <a:avLst/>
          </a:prstGeom>
          <a:noFill/>
          <a:ln/>
        </p:spPr>
        <p:txBody>
          <a:bodyPr wrap="square" lIns="0" tIns="0" rIns="0" bIns="0" rtlCol="0" anchor="ctr"/>
          <a:lstStyle/>
          <a:p>
            <a:pPr marL="0" indent="0">
              <a:buNone/>
            </a:pPr>
            <a:r>
              <a:rPr lang="en-US" sz="1500" b="1" dirty="0">
                <a:solidFill>
                  <a:srgbClr val="1C7C7D"/>
                </a:solidFill>
                <a:latin typeface="Calibri" pitchFamily="34" charset="0"/>
                <a:ea typeface="Calibri" pitchFamily="34" charset="-122"/>
                <a:cs typeface="Calibri" pitchFamily="34" charset="-120"/>
              </a:rPr>
              <a:t>Takeaway: </a:t>
            </a:r>
            <a:r>
              <a:rPr lang="en-US" sz="1500" dirty="0">
                <a:solidFill>
                  <a:srgbClr val="1B2B38"/>
                </a:solidFill>
                <a:latin typeface="Calibri" pitchFamily="34" charset="0"/>
                <a:ea typeface="Calibri" pitchFamily="34" charset="-122"/>
                <a:cs typeface="Calibri" pitchFamily="34" charset="-120"/>
              </a:rPr>
              <a:t>Cutting ALOS by 0.5–0.9 days in Surgery and ICU can bring occupancy back under 85% without new construction.</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F4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Summary: Driving Value Through Healthcare Analytics</a:t>
            </a:r>
            <a:endParaRPr lang="en-US" sz="3000" dirty="0"/>
          </a:p>
        </p:txBody>
      </p:sp>
      <p:sp>
        <p:nvSpPr>
          <p:cNvPr id="3" name="Deliverable 1"/>
          <p:cNvSpPr/>
          <p:nvPr/>
        </p:nvSpPr>
        <p:spPr>
          <a:xfrm>
            <a:off x="548640" y="1463040"/>
            <a:ext cx="3593592" cy="2194560"/>
          </a:xfrm>
          <a:prstGeom prst="roundRect">
            <a:avLst>
              <a:gd name="adj" fmla="val 5000"/>
            </a:avLst>
          </a:prstGeom>
          <a:solidFill>
            <a:srgbClr val="12425F"/>
          </a:solidFill>
          <a:ln/>
        </p:spPr>
      </p:sp>
      <p:sp>
        <p:nvSpPr>
          <p:cNvPr id="4" name="Text 2"/>
          <p:cNvSpPr txBox="1"/>
          <p:nvPr/>
        </p:nvSpPr>
        <p:spPr>
          <a:xfrm>
            <a:off x="822960" y="1691640"/>
            <a:ext cx="3063240" cy="822960"/>
          </a:xfrm>
          <a:prstGeom prst="rect">
            <a:avLst/>
          </a:prstGeom>
          <a:noFill/>
          <a:ln/>
        </p:spPr>
        <p:txBody>
          <a:bodyPr wrap="square" lIns="0" tIns="0" rIns="0" bIns="0" rtlCol="0" anchor="t"/>
          <a:lstStyle/>
          <a:p>
            <a:pPr marL="0" indent="0">
              <a:buNone/>
            </a:pPr>
            <a:r>
              <a:rPr lang="en-US" sz="2200" b="1" dirty="0">
                <a:solidFill>
                  <a:srgbClr val="7FD6D2"/>
                </a:solidFill>
                <a:latin typeface="Cambria" pitchFamily="34" charset="0"/>
                <a:ea typeface="Cambria" pitchFamily="34" charset="-122"/>
                <a:cs typeface="Cambria" pitchFamily="34" charset="-120"/>
              </a:rPr>
              <a:t>Reproducible Python ETL</a:t>
            </a:r>
            <a:endParaRPr lang="en-US" sz="2200" dirty="0"/>
          </a:p>
        </p:txBody>
      </p:sp>
      <p:sp>
        <p:nvSpPr>
          <p:cNvPr id="5" name="Text 3"/>
          <p:cNvSpPr txBox="1"/>
          <p:nvPr/>
        </p:nvSpPr>
        <p:spPr>
          <a:xfrm>
            <a:off x="822960" y="2560320"/>
            <a:ext cx="3063240" cy="91440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Milestone 1: automated star schema generation</a:t>
            </a:r>
            <a:endParaRPr lang="en-US" sz="1600" dirty="0"/>
          </a:p>
        </p:txBody>
      </p:sp>
      <p:sp>
        <p:nvSpPr>
          <p:cNvPr id="6" name="Deliverable 2"/>
          <p:cNvSpPr/>
          <p:nvPr/>
        </p:nvSpPr>
        <p:spPr>
          <a:xfrm>
            <a:off x="4297680" y="1463040"/>
            <a:ext cx="3593592" cy="2194560"/>
          </a:xfrm>
          <a:prstGeom prst="roundRect">
            <a:avLst>
              <a:gd name="adj" fmla="val 5000"/>
            </a:avLst>
          </a:prstGeom>
          <a:solidFill>
            <a:srgbClr val="12425F"/>
          </a:solidFill>
          <a:ln/>
        </p:spPr>
      </p:sp>
      <p:sp>
        <p:nvSpPr>
          <p:cNvPr id="7" name="Text 5"/>
          <p:cNvSpPr txBox="1"/>
          <p:nvPr/>
        </p:nvSpPr>
        <p:spPr>
          <a:xfrm>
            <a:off x="4572000" y="1691640"/>
            <a:ext cx="3063240" cy="822960"/>
          </a:xfrm>
          <a:prstGeom prst="rect">
            <a:avLst/>
          </a:prstGeom>
          <a:noFill/>
          <a:ln/>
        </p:spPr>
        <p:txBody>
          <a:bodyPr wrap="square" lIns="0" tIns="0" rIns="0" bIns="0" rtlCol="0" anchor="t"/>
          <a:lstStyle/>
          <a:p>
            <a:pPr marL="0" indent="0">
              <a:buNone/>
            </a:pPr>
            <a:r>
              <a:rPr lang="en-US" sz="2200" b="1" dirty="0">
                <a:solidFill>
                  <a:srgbClr val="7FD6D2"/>
                </a:solidFill>
                <a:latin typeface="Cambria" pitchFamily="34" charset="0"/>
                <a:ea typeface="Cambria" pitchFamily="34" charset="-122"/>
                <a:cs typeface="Cambria" pitchFamily="34" charset="-120"/>
              </a:rPr>
              <a:t>Validated KPI Framework</a:t>
            </a:r>
            <a:endParaRPr lang="en-US" sz="2200" dirty="0"/>
          </a:p>
        </p:txBody>
      </p:sp>
      <p:sp>
        <p:nvSpPr>
          <p:cNvPr id="8" name="Text 6"/>
          <p:cNvSpPr txBox="1"/>
          <p:nvPr/>
        </p:nvSpPr>
        <p:spPr>
          <a:xfrm>
            <a:off x="4572000" y="2560320"/>
            <a:ext cx="3063240" cy="91440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Milestone 2: 9 standard and novel metrics</a:t>
            </a:r>
            <a:endParaRPr lang="en-US" sz="1600" dirty="0"/>
          </a:p>
        </p:txBody>
      </p:sp>
      <p:sp>
        <p:nvSpPr>
          <p:cNvPr id="9" name="Deliverable 3"/>
          <p:cNvSpPr/>
          <p:nvPr/>
        </p:nvSpPr>
        <p:spPr>
          <a:xfrm>
            <a:off x="8046720" y="1463040"/>
            <a:ext cx="3593592" cy="2194560"/>
          </a:xfrm>
          <a:prstGeom prst="roundRect">
            <a:avLst>
              <a:gd name="adj" fmla="val 5000"/>
            </a:avLst>
          </a:prstGeom>
          <a:solidFill>
            <a:srgbClr val="12425F"/>
          </a:solidFill>
          <a:ln/>
        </p:spPr>
      </p:sp>
      <p:sp>
        <p:nvSpPr>
          <p:cNvPr id="10" name="Text 8"/>
          <p:cNvSpPr txBox="1"/>
          <p:nvPr/>
        </p:nvSpPr>
        <p:spPr>
          <a:xfrm>
            <a:off x="8321040" y="1691640"/>
            <a:ext cx="3063240" cy="822960"/>
          </a:xfrm>
          <a:prstGeom prst="rect">
            <a:avLst/>
          </a:prstGeom>
          <a:noFill/>
          <a:ln/>
        </p:spPr>
        <p:txBody>
          <a:bodyPr wrap="square" lIns="0" tIns="0" rIns="0" bIns="0" rtlCol="0" anchor="t"/>
          <a:lstStyle/>
          <a:p>
            <a:pPr marL="0" indent="0">
              <a:buNone/>
            </a:pPr>
            <a:r>
              <a:rPr lang="en-US" sz="2200" b="1" dirty="0">
                <a:solidFill>
                  <a:srgbClr val="7FD6D2"/>
                </a:solidFill>
                <a:latin typeface="Cambria" pitchFamily="34" charset="0"/>
                <a:ea typeface="Cambria" pitchFamily="34" charset="-122"/>
                <a:cs typeface="Cambria" pitchFamily="34" charset="-120"/>
              </a:rPr>
              <a:t>Interactive 3-Tier Storyboard</a:t>
            </a:r>
            <a:endParaRPr lang="en-US" sz="2200" dirty="0"/>
          </a:p>
        </p:txBody>
      </p:sp>
      <p:sp>
        <p:nvSpPr>
          <p:cNvPr id="11" name="Text 9"/>
          <p:cNvSpPr txBox="1"/>
          <p:nvPr/>
        </p:nvSpPr>
        <p:spPr>
          <a:xfrm>
            <a:off x="8321040" y="2560320"/>
            <a:ext cx="3063240" cy="91440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Synchronized navigation and role-based operational insights</a:t>
            </a:r>
            <a:endParaRPr lang="en-US" sz="1600" dirty="0"/>
          </a:p>
        </p:txBody>
      </p:sp>
      <p:sp>
        <p:nvSpPr>
          <p:cNvPr id="12" name="Text 10"/>
          <p:cNvSpPr txBox="1"/>
          <p:nvPr/>
        </p:nvSpPr>
        <p:spPr>
          <a:xfrm>
            <a:off x="548640" y="4114800"/>
            <a:ext cx="11064240" cy="822960"/>
          </a:xfrm>
          <a:prstGeom prst="rect">
            <a:avLst/>
          </a:prstGeom>
          <a:noFill/>
          <a:ln/>
        </p:spPr>
        <p:txBody>
          <a:bodyPr wrap="square" lIns="0" tIns="0" rIns="0" bIns="0" rtlCol="0" anchor="ctr"/>
          <a:lstStyle/>
          <a:p>
            <a:pPr marL="0" indent="0">
              <a:buNone/>
            </a:pPr>
            <a:r>
              <a:rPr lang="en-US" sz="2600" i="1" dirty="0">
                <a:solidFill>
                  <a:srgbClr val="FFFFFF"/>
                </a:solidFill>
                <a:latin typeface="Cambria" pitchFamily="34" charset="0"/>
                <a:ea typeface="Cambria" pitchFamily="34" charset="-122"/>
                <a:cs typeface="Cambria" pitchFamily="34" charset="-120"/>
              </a:rPr>
              <a:t>MedTrack transforms static healthcare reporting into proactive, actionable operational intelligence.</a:t>
            </a:r>
            <a:endParaRPr lang="en-US" sz="2600" dirty="0"/>
          </a:p>
        </p:txBody>
      </p:sp>
      <p:sp>
        <p:nvSpPr>
          <p:cNvPr id="13" name="Text 11"/>
          <p:cNvSpPr txBox="1"/>
          <p:nvPr/>
        </p:nvSpPr>
        <p:spPr>
          <a:xfrm>
            <a:off x="798807" y="5669280"/>
            <a:ext cx="11064240" cy="457200"/>
          </a:xfrm>
          <a:prstGeom prst="rect">
            <a:avLst/>
          </a:prstGeom>
          <a:noFill/>
          <a:ln/>
        </p:spPr>
        <p:txBody>
          <a:bodyPr wrap="square" lIns="0" tIns="0" rIns="0" bIns="0" rtlCol="0" anchor="ctr"/>
          <a:lstStyle/>
          <a:p>
            <a:r>
              <a:rPr lang="en-US" sz="1600" dirty="0">
                <a:solidFill>
                  <a:srgbClr val="CADCE8"/>
                </a:solidFill>
                <a:latin typeface="Calibri" pitchFamily="34" charset="0"/>
                <a:ea typeface="Calibri" pitchFamily="34" charset="-122"/>
                <a:cs typeface="Calibri" pitchFamily="34" charset="-120"/>
              </a:rPr>
              <a:t>Live workbook: https://public.tableau.com/app/profile/vikram.simha.m.k/viz/Infosys_17914708025670/</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1304</Words>
  <Application>Microsoft Office PowerPoint</Application>
  <PresentationFormat>Widescreen</PresentationFormat>
  <Paragraphs>182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MedTrack Hospital Performance Intelligence System</dc:title>
  <dc:subject>PptxGenJS Presentation</dc:subject>
  <dc:creator>PptxGenJS</dc:creator>
  <cp:lastModifiedBy>Vikram Simha</cp:lastModifiedBy>
  <cp:revision>2</cp:revision>
  <dcterms:created xsi:type="dcterms:W3CDTF">2026-10-08T14:46:22Z</dcterms:created>
  <dcterms:modified xsi:type="dcterms:W3CDTF">2026-10-08T14:50:14Z</dcterms:modified>
</cp:coreProperties>
</file>