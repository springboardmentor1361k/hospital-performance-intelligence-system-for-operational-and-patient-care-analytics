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Montserrat Bold" panose="020B0604020202020204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F3D">
                <a:alpha val="6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1200150"/>
            <a:ext cx="8572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20A6A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INFOSYS SPRINGBOARD INTERNSHIP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2286000"/>
            <a:ext cx="11620500" cy="19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4"/>
              </a:lnSpc>
            </a:pPr>
            <a:r>
              <a:rPr lang="en-US" sz="70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Hospital Performance</a:t>
            </a:r>
          </a:p>
          <a:p>
            <a:pPr algn="l">
              <a:lnSpc>
                <a:spcPts val="7454"/>
              </a:lnSpc>
            </a:pPr>
            <a:r>
              <a:rPr lang="en-US" sz="70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Intelligence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750" y="4486275"/>
            <a:ext cx="10001250" cy="54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7"/>
              </a:lnSpc>
            </a:pPr>
            <a:r>
              <a:rPr lang="en-US" sz="33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 Operational and Patient Care Analytics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7750" y="6953250"/>
            <a:ext cx="1143000" cy="66675"/>
            <a:chOff x="0" y="0"/>
            <a:chExt cx="1524000" cy="889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47750" y="7486650"/>
            <a:ext cx="7620000" cy="1092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2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Nandini K M</a:t>
            </a:r>
          </a:p>
          <a:p>
            <a:pPr algn="l">
              <a:lnSpc>
                <a:spcPts val="4355"/>
              </a:lnSpc>
            </a:pPr>
            <a:endParaRPr lang="en-US" sz="3299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71525"/>
            <a:ext cx="14287500" cy="72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4"/>
              </a:lnSpc>
            </a:pPr>
            <a:r>
              <a:rPr lang="en-US" sz="5299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29344" y="3251390"/>
            <a:ext cx="7000156" cy="5903790"/>
            <a:chOff x="0" y="0"/>
            <a:chExt cx="9333541" cy="7871721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333541" cy="7871721"/>
              <a:chOff x="0" y="0"/>
              <a:chExt cx="8509000" cy="717631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509000" cy="7176319"/>
              </a:xfrm>
              <a:custGeom>
                <a:avLst/>
                <a:gdLst/>
                <a:ahLst/>
                <a:cxnLst/>
                <a:rect l="l" t="t" r="r" b="b"/>
                <a:pathLst>
                  <a:path w="8509000" h="7176319">
                    <a:moveTo>
                      <a:pt x="0" y="0"/>
                    </a:moveTo>
                    <a:lnTo>
                      <a:pt x="8509000" y="0"/>
                    </a:lnTo>
                    <a:lnTo>
                      <a:pt x="8509000" y="7176319"/>
                    </a:lnTo>
                    <a:lnTo>
                      <a:pt x="0" y="7176319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8509000" cy="72429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17920" y="360770"/>
              <a:ext cx="6408103" cy="688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58"/>
                </a:lnSpc>
              </a:pPr>
              <a:r>
                <a:rPr lang="en-US" sz="3113" b="1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PURPOSE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7920" y="1314676"/>
              <a:ext cx="8358395" cy="3463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95"/>
                </a:lnSpc>
              </a:pPr>
              <a:r>
                <a:rPr lang="en-US" sz="3935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Analyze admissions, patient stays, revenue and payer categories in one coherent analytical view.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67625" y="3429000"/>
            <a:ext cx="2952750" cy="2000250"/>
            <a:chOff x="0" y="0"/>
            <a:chExt cx="3937000" cy="2667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37000" cy="2667000"/>
            </a:xfrm>
            <a:custGeom>
              <a:avLst/>
              <a:gdLst/>
              <a:ahLst/>
              <a:cxnLst/>
              <a:rect l="l" t="t" r="r" b="b"/>
              <a:pathLst>
                <a:path w="3937000" h="266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601452"/>
                  </a:lnTo>
                  <a:cubicBezTo>
                    <a:pt x="3937000" y="2618836"/>
                    <a:pt x="3930094" y="2635509"/>
                    <a:pt x="3917801" y="2647801"/>
                  </a:cubicBezTo>
                  <a:cubicBezTo>
                    <a:pt x="3905509" y="2660094"/>
                    <a:pt x="3888836" y="2667000"/>
                    <a:pt x="3871452" y="2667000"/>
                  </a:cubicBezTo>
                  <a:lnTo>
                    <a:pt x="65548" y="2667000"/>
                  </a:lnTo>
                  <a:cubicBezTo>
                    <a:pt x="48164" y="2667000"/>
                    <a:pt x="31491" y="2660094"/>
                    <a:pt x="19199" y="2647801"/>
                  </a:cubicBezTo>
                  <a:cubicBezTo>
                    <a:pt x="6906" y="2635509"/>
                    <a:pt x="0" y="2618836"/>
                    <a:pt x="0" y="2601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081F3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3937000" cy="265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8"/>
                </a:lnSpc>
              </a:pPr>
              <a:r>
                <a:rPr lang="en-US" sz="26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HOSPITAL</a:t>
              </a:r>
            </a:p>
            <a:p>
              <a:pPr algn="ctr">
                <a:lnSpc>
                  <a:spcPts val="3018"/>
                </a:lnSpc>
              </a:pPr>
              <a:r>
                <a:rPr lang="en-US" sz="26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DATA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858500" y="2288641"/>
            <a:ext cx="6784098" cy="5723122"/>
            <a:chOff x="0" y="0"/>
            <a:chExt cx="9045464" cy="763083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9045464" cy="7630830"/>
              <a:chOff x="0" y="0"/>
              <a:chExt cx="8509000" cy="717826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509000" cy="7178264"/>
              </a:xfrm>
              <a:custGeom>
                <a:avLst/>
                <a:gdLst/>
                <a:ahLst/>
                <a:cxnLst/>
                <a:rect l="l" t="t" r="r" b="b"/>
                <a:pathLst>
                  <a:path w="8509000" h="7178264">
                    <a:moveTo>
                      <a:pt x="0" y="0"/>
                    </a:moveTo>
                    <a:lnTo>
                      <a:pt x="8509000" y="0"/>
                    </a:lnTo>
                    <a:lnTo>
                      <a:pt x="8509000" y="7178264"/>
                    </a:lnTo>
                    <a:lnTo>
                      <a:pt x="0" y="7178264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66675"/>
                <a:ext cx="8509000" cy="72449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87663" y="357396"/>
              <a:ext cx="5944162" cy="655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71"/>
                </a:lnSpc>
              </a:pPr>
              <a:r>
                <a:rPr lang="en-US" sz="3051" b="1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OBJECTIVE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7663" y="1269099"/>
              <a:ext cx="7753255" cy="33634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80"/>
                </a:lnSpc>
              </a:pPr>
              <a:r>
                <a:rPr lang="en-US" sz="3848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Support data-driven hospital management decisions through interactive dashboards.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7429500" y="4476750"/>
            <a:ext cx="238125" cy="0"/>
          </a:xfrm>
          <a:prstGeom prst="line">
            <a:avLst/>
          </a:prstGeom>
          <a:ln w="47625" cap="rnd">
            <a:solidFill>
              <a:srgbClr val="20A6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H="1">
            <a:off x="10572750" y="4476750"/>
            <a:ext cx="47625" cy="0"/>
          </a:xfrm>
          <a:prstGeom prst="line">
            <a:avLst/>
          </a:prstGeom>
          <a:ln w="47625" cap="rnd">
            <a:solidFill>
              <a:srgbClr val="20A6A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71525"/>
            <a:ext cx="14287500" cy="7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9"/>
              </a:lnSpc>
            </a:pPr>
            <a:r>
              <a:rPr lang="en-US" sz="5799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Features: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2714625"/>
            <a:ext cx="3667125" cy="2445258"/>
            <a:chOff x="0" y="0"/>
            <a:chExt cx="4889500" cy="326034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4889500" cy="3260344"/>
              <a:chOff x="0" y="0"/>
              <a:chExt cx="4889500" cy="326034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89500" cy="3260344"/>
              </a:xfrm>
              <a:custGeom>
                <a:avLst/>
                <a:gdLst/>
                <a:ahLst/>
                <a:cxnLst/>
                <a:rect l="l" t="t" r="r" b="b"/>
                <a:pathLst>
                  <a:path w="4889500" h="3260344">
                    <a:moveTo>
                      <a:pt x="0" y="0"/>
                    </a:moveTo>
                    <a:lnTo>
                      <a:pt x="4889500" y="0"/>
                    </a:lnTo>
                    <a:lnTo>
                      <a:pt x="4889500" y="3260344"/>
                    </a:lnTo>
                    <a:lnTo>
                      <a:pt x="0" y="3260344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89500" cy="3298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81000" y="374650"/>
              <a:ext cx="1016000" cy="5888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2674" b="1">
                  <a:solidFill>
                    <a:srgbClr val="20A6A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1000" y="1287357"/>
              <a:ext cx="4127500" cy="1165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5"/>
                </a:lnSpc>
              </a:pPr>
              <a:r>
                <a:rPr lang="en-US" sz="30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Admission</a:t>
              </a:r>
            </a:p>
            <a:p>
              <a:pPr algn="l">
                <a:lnSpc>
                  <a:spcPts val="3415"/>
                </a:lnSpc>
              </a:pPr>
              <a:r>
                <a:rPr lang="en-US" sz="30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analysis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048250" y="2714625"/>
            <a:ext cx="3667125" cy="2270379"/>
            <a:chOff x="0" y="0"/>
            <a:chExt cx="4889500" cy="302717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889500" cy="3027172"/>
              <a:chOff x="0" y="0"/>
              <a:chExt cx="4889500" cy="302717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889500" cy="3027172"/>
              </a:xfrm>
              <a:custGeom>
                <a:avLst/>
                <a:gdLst/>
                <a:ahLst/>
                <a:cxnLst/>
                <a:rect l="l" t="t" r="r" b="b"/>
                <a:pathLst>
                  <a:path w="4889500" h="3027172">
                    <a:moveTo>
                      <a:pt x="0" y="0"/>
                    </a:moveTo>
                    <a:lnTo>
                      <a:pt x="4889500" y="0"/>
                    </a:lnTo>
                    <a:lnTo>
                      <a:pt x="4889500" y="3027172"/>
                    </a:lnTo>
                    <a:lnTo>
                      <a:pt x="0" y="3027172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4889500" cy="30747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81000" y="393700"/>
              <a:ext cx="1016000" cy="494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84"/>
                </a:lnSpc>
              </a:pPr>
              <a:r>
                <a:rPr lang="en-US" sz="2274" b="1">
                  <a:solidFill>
                    <a:srgbClr val="20A6A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000" y="1212004"/>
              <a:ext cx="4127500" cy="1007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67"/>
                </a:lnSpc>
              </a:pPr>
              <a:r>
                <a:rPr lang="en-US" sz="26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Length-of-stay</a:t>
              </a:r>
            </a:p>
            <a:p>
              <a:pPr algn="l">
                <a:lnSpc>
                  <a:spcPts val="2967"/>
                </a:lnSpc>
              </a:pPr>
              <a:r>
                <a:rPr lang="en-US" sz="26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analysis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048750" y="2714625"/>
            <a:ext cx="3667125" cy="2270379"/>
            <a:chOff x="0" y="0"/>
            <a:chExt cx="4889500" cy="302717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4889500" cy="3027172"/>
              <a:chOff x="0" y="0"/>
              <a:chExt cx="4889500" cy="302717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889500" cy="3027172"/>
              </a:xfrm>
              <a:custGeom>
                <a:avLst/>
                <a:gdLst/>
                <a:ahLst/>
                <a:cxnLst/>
                <a:rect l="l" t="t" r="r" b="b"/>
                <a:pathLst>
                  <a:path w="4889500" h="3027172">
                    <a:moveTo>
                      <a:pt x="0" y="0"/>
                    </a:moveTo>
                    <a:lnTo>
                      <a:pt x="4889500" y="0"/>
                    </a:lnTo>
                    <a:lnTo>
                      <a:pt x="4889500" y="3027172"/>
                    </a:lnTo>
                    <a:lnTo>
                      <a:pt x="0" y="3027172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4889500" cy="30747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1000" y="393700"/>
              <a:ext cx="1016000" cy="494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84"/>
                </a:lnSpc>
              </a:pPr>
              <a:r>
                <a:rPr lang="en-US" sz="2274" b="1">
                  <a:solidFill>
                    <a:srgbClr val="20A6A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1000" y="1212004"/>
              <a:ext cx="4127500" cy="1007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67"/>
                </a:lnSpc>
              </a:pPr>
              <a:r>
                <a:rPr lang="en-US" sz="26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Revenue</a:t>
              </a:r>
            </a:p>
            <a:p>
              <a:pPr algn="l">
                <a:lnSpc>
                  <a:spcPts val="2967"/>
                </a:lnSpc>
              </a:pPr>
              <a:r>
                <a:rPr lang="en-US" sz="26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analysis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049250" y="2714625"/>
            <a:ext cx="3667125" cy="2326005"/>
            <a:chOff x="0" y="0"/>
            <a:chExt cx="4889500" cy="310134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4889500" cy="3101340"/>
              <a:chOff x="0" y="0"/>
              <a:chExt cx="4889500" cy="310134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889500" cy="3101340"/>
              </a:xfrm>
              <a:custGeom>
                <a:avLst/>
                <a:gdLst/>
                <a:ahLst/>
                <a:cxnLst/>
                <a:rect l="l" t="t" r="r" b="b"/>
                <a:pathLst>
                  <a:path w="4889500" h="3101340">
                    <a:moveTo>
                      <a:pt x="0" y="0"/>
                    </a:moveTo>
                    <a:lnTo>
                      <a:pt x="4889500" y="0"/>
                    </a:lnTo>
                    <a:lnTo>
                      <a:pt x="4889500" y="3101340"/>
                    </a:lnTo>
                    <a:lnTo>
                      <a:pt x="0" y="310134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4889500" cy="31489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381000" y="374650"/>
              <a:ext cx="1016000" cy="535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24"/>
                </a:lnSpc>
              </a:pPr>
              <a:r>
                <a:rPr lang="en-US" sz="2374" b="1">
                  <a:solidFill>
                    <a:srgbClr val="20A6A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1000" y="1234017"/>
              <a:ext cx="4127500" cy="1059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7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Payer mix</a:t>
              </a:r>
            </a:p>
            <a:p>
              <a:pPr algn="l">
                <a:lnSpc>
                  <a:spcPts val="3079"/>
                </a:lnSpc>
              </a:pPr>
              <a:r>
                <a:rPr lang="en-US" sz="27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analysis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428875" y="5429250"/>
            <a:ext cx="4762500" cy="2362581"/>
            <a:chOff x="0" y="0"/>
            <a:chExt cx="6350000" cy="3150108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350000" cy="3150108"/>
              <a:chOff x="0" y="0"/>
              <a:chExt cx="6350000" cy="315010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350000" cy="3150108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150108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150108"/>
                    </a:lnTo>
                    <a:lnTo>
                      <a:pt x="0" y="3150108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57150"/>
                <a:ext cx="6350000" cy="32072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81000" y="384175"/>
              <a:ext cx="1016000" cy="548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4"/>
                </a:lnSpc>
              </a:pPr>
              <a:r>
                <a:rPr lang="en-US" sz="2474" b="1">
                  <a:solidFill>
                    <a:srgbClr val="20A6A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1000" y="1265556"/>
              <a:ext cx="5588000" cy="1076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8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Specialty-wise</a:t>
              </a:r>
            </a:p>
            <a:p>
              <a:pPr algn="l">
                <a:lnSpc>
                  <a:spcPts val="3191"/>
                </a:lnSpc>
              </a:pPr>
              <a:r>
                <a:rPr lang="en-US" sz="28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performance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24750" y="5429250"/>
            <a:ext cx="4762500" cy="2326005"/>
            <a:chOff x="0" y="0"/>
            <a:chExt cx="6350000" cy="310134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6350000" cy="3101340"/>
              <a:chOff x="0" y="0"/>
              <a:chExt cx="6350000" cy="310134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350000" cy="310134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10134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101340"/>
                    </a:lnTo>
                    <a:lnTo>
                      <a:pt x="0" y="310134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6350000" cy="31489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381000" y="374650"/>
              <a:ext cx="1016000" cy="535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24"/>
                </a:lnSpc>
              </a:pPr>
              <a:r>
                <a:rPr lang="en-US" sz="2374" b="1">
                  <a:solidFill>
                    <a:srgbClr val="20A6A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1000" y="1234017"/>
              <a:ext cx="5588000" cy="1059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7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Interactive</a:t>
              </a:r>
            </a:p>
            <a:p>
              <a:pPr algn="l">
                <a:lnSpc>
                  <a:spcPts val="3079"/>
                </a:lnSpc>
              </a:pPr>
              <a:r>
                <a:rPr lang="en-US" sz="27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filters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62000"/>
            <a:ext cx="1428750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5499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Stack: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2762250"/>
            <a:ext cx="5048250" cy="2478405"/>
            <a:chOff x="0" y="0"/>
            <a:chExt cx="6731000" cy="330454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731000" cy="3304540"/>
              <a:chOff x="0" y="0"/>
              <a:chExt cx="6731000" cy="3304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731000" cy="330454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454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4540"/>
                    </a:lnTo>
                    <a:lnTo>
                      <a:pt x="0" y="330454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6731000" cy="33521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33400" y="555625"/>
              <a:ext cx="5969000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319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Python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3400" y="1406525"/>
              <a:ext cx="5969000" cy="99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5"/>
                </a:lnSpc>
              </a:pPr>
              <a:r>
                <a:rPr lang="en-US" sz="2299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Data processing and analysis — usage subject to confirmation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77000" y="2762250"/>
            <a:ext cx="5048250" cy="2564892"/>
            <a:chOff x="0" y="0"/>
            <a:chExt cx="6731000" cy="3419856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731000" cy="3419856"/>
              <a:chOff x="0" y="0"/>
              <a:chExt cx="6731000" cy="341985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731000" cy="3419856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419856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19856"/>
                    </a:lnTo>
                    <a:lnTo>
                      <a:pt x="0" y="3419856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731000" cy="34674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33400" y="555625"/>
              <a:ext cx="5969000" cy="635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339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Pandas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3400" y="1449705"/>
              <a:ext cx="5969000" cy="106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Python data manipulation library — confirm in project files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06250" y="2762250"/>
            <a:ext cx="5048250" cy="2518029"/>
            <a:chOff x="0" y="0"/>
            <a:chExt cx="6731000" cy="335737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731000" cy="3357372"/>
              <a:chOff x="0" y="0"/>
              <a:chExt cx="6731000" cy="335737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731000" cy="3357372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57372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57372"/>
                    </a:lnTo>
                    <a:lnTo>
                      <a:pt x="0" y="3357372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6731000" cy="3414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33400" y="565150"/>
              <a:ext cx="5969000" cy="6692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359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Excel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3400" y="1483359"/>
              <a:ext cx="5969000" cy="580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3"/>
                </a:lnSpc>
              </a:pPr>
              <a:r>
                <a:rPr lang="en-US" sz="2699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Initial exploration and cleaning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7750" y="5619750"/>
            <a:ext cx="5048250" cy="2831211"/>
            <a:chOff x="0" y="0"/>
            <a:chExt cx="6731000" cy="3774948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731000" cy="3774948"/>
              <a:chOff x="0" y="0"/>
              <a:chExt cx="6731000" cy="377494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731000" cy="3774948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774948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774948"/>
                    </a:lnTo>
                    <a:lnTo>
                      <a:pt x="0" y="3774948"/>
                    </a:lnTo>
                    <a:close/>
                  </a:path>
                </a:pathLst>
              </a:custGeom>
              <a:solidFill>
                <a:srgbClr val="D9E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57150"/>
                <a:ext cx="6731000" cy="38320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533400" y="555625"/>
              <a:ext cx="5969000" cy="6203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4"/>
                </a:lnSpc>
              </a:pPr>
              <a:r>
                <a:rPr lang="en-US" sz="329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Tableau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3400" y="1434465"/>
              <a:ext cx="5969000" cy="1046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7"/>
                </a:lnSpc>
              </a:pPr>
              <a:r>
                <a:rPr lang="en-US" sz="2399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Dashboard development and visualization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0" y="5619750"/>
            <a:ext cx="5048250" cy="2478405"/>
            <a:chOff x="0" y="0"/>
            <a:chExt cx="6731000" cy="330454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731000" cy="3304540"/>
              <a:chOff x="0" y="0"/>
              <a:chExt cx="6731000" cy="330454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731000" cy="330454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454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4540"/>
                    </a:lnTo>
                    <a:lnTo>
                      <a:pt x="0" y="330454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6731000" cy="33521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533400" y="555625"/>
              <a:ext cx="5969000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319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Git / GitHub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3400" y="1406525"/>
              <a:ext cx="5969000" cy="99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5"/>
                </a:lnSpc>
              </a:pPr>
              <a:r>
                <a:rPr lang="en-US" sz="2299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Version control and collaboration — confirm repository usage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62000"/>
            <a:ext cx="1428750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Analytics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952625"/>
            <a:ext cx="685800" cy="57150"/>
            <a:chOff x="0" y="0"/>
            <a:chExt cx="9144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4400" cy="76200"/>
            </a:xfrm>
            <a:custGeom>
              <a:avLst/>
              <a:gdLst/>
              <a:ahLst/>
              <a:cxnLst/>
              <a:rect l="l" t="t" r="r" b="b"/>
              <a:pathLst>
                <a:path w="914400" h="762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144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4095750"/>
            <a:ext cx="2381250" cy="1428750"/>
            <a:chOff x="0" y="0"/>
            <a:chExt cx="3175000" cy="190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823720"/>
                  </a:lnTo>
                  <a:cubicBezTo>
                    <a:pt x="3175000" y="1845277"/>
                    <a:pt x="3166437" y="1865951"/>
                    <a:pt x="3151194" y="1881194"/>
                  </a:cubicBezTo>
                  <a:cubicBezTo>
                    <a:pt x="3135951" y="1896437"/>
                    <a:pt x="3115277" y="1905000"/>
                    <a:pt x="3093720" y="1905000"/>
                  </a:cubicBezTo>
                  <a:lnTo>
                    <a:pt x="81280" y="1905000"/>
                  </a:lnTo>
                  <a:cubicBezTo>
                    <a:pt x="59723" y="1905000"/>
                    <a:pt x="39049" y="1896437"/>
                    <a:pt x="23806" y="1881194"/>
                  </a:cubicBezTo>
                  <a:cubicBezTo>
                    <a:pt x="8563" y="1865951"/>
                    <a:pt x="0" y="1845277"/>
                    <a:pt x="0" y="1823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676B8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17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Hospital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Datasets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3048000" y="4810125"/>
            <a:ext cx="428625" cy="0"/>
          </a:xfrm>
          <a:prstGeom prst="line">
            <a:avLst/>
          </a:prstGeom>
          <a:ln w="38100" cap="rnd">
            <a:solidFill>
              <a:srgbClr val="D9EDF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619500" y="4095750"/>
            <a:ext cx="2381250" cy="1428750"/>
            <a:chOff x="0" y="0"/>
            <a:chExt cx="3175000" cy="190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823720"/>
                  </a:lnTo>
                  <a:cubicBezTo>
                    <a:pt x="3175000" y="1845277"/>
                    <a:pt x="3166437" y="1865951"/>
                    <a:pt x="3151194" y="1881194"/>
                  </a:cubicBezTo>
                  <a:cubicBezTo>
                    <a:pt x="3135951" y="1896437"/>
                    <a:pt x="3115277" y="1905000"/>
                    <a:pt x="3093720" y="1905000"/>
                  </a:cubicBezTo>
                  <a:lnTo>
                    <a:pt x="81280" y="1905000"/>
                  </a:lnTo>
                  <a:cubicBezTo>
                    <a:pt x="59723" y="1905000"/>
                    <a:pt x="39049" y="1896437"/>
                    <a:pt x="23806" y="1881194"/>
                  </a:cubicBezTo>
                  <a:cubicBezTo>
                    <a:pt x="8563" y="1865951"/>
                    <a:pt x="0" y="1845277"/>
                    <a:pt x="0" y="1823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676B8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17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Cleaning &amp;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Preparation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6000750" y="4810125"/>
            <a:ext cx="428625" cy="0"/>
          </a:xfrm>
          <a:prstGeom prst="line">
            <a:avLst/>
          </a:prstGeom>
          <a:ln w="38100" cap="rnd">
            <a:solidFill>
              <a:srgbClr val="D9EDF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6572250" y="4095750"/>
            <a:ext cx="2381250" cy="1428750"/>
            <a:chOff x="0" y="0"/>
            <a:chExt cx="3175000" cy="190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823720"/>
                  </a:lnTo>
                  <a:cubicBezTo>
                    <a:pt x="3175000" y="1845277"/>
                    <a:pt x="3166437" y="1865951"/>
                    <a:pt x="3151194" y="1881194"/>
                  </a:cubicBezTo>
                  <a:cubicBezTo>
                    <a:pt x="3135951" y="1896437"/>
                    <a:pt x="3115277" y="1905000"/>
                    <a:pt x="3093720" y="1905000"/>
                  </a:cubicBezTo>
                  <a:lnTo>
                    <a:pt x="81280" y="1905000"/>
                  </a:lnTo>
                  <a:cubicBezTo>
                    <a:pt x="59723" y="1905000"/>
                    <a:pt x="39049" y="1896437"/>
                    <a:pt x="23806" y="1881194"/>
                  </a:cubicBezTo>
                  <a:cubicBezTo>
                    <a:pt x="8563" y="1865951"/>
                    <a:pt x="0" y="1845277"/>
                    <a:pt x="0" y="1823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676B8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17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Data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Analysis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8953500" y="4810125"/>
            <a:ext cx="428625" cy="0"/>
          </a:xfrm>
          <a:prstGeom prst="line">
            <a:avLst/>
          </a:prstGeom>
          <a:ln w="38100" cap="rnd">
            <a:solidFill>
              <a:srgbClr val="D9EDF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9525000" y="4095750"/>
            <a:ext cx="2381250" cy="1428750"/>
            <a:chOff x="0" y="0"/>
            <a:chExt cx="3175000" cy="190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823720"/>
                  </a:lnTo>
                  <a:cubicBezTo>
                    <a:pt x="3175000" y="1845277"/>
                    <a:pt x="3166437" y="1865951"/>
                    <a:pt x="3151194" y="1881194"/>
                  </a:cubicBezTo>
                  <a:cubicBezTo>
                    <a:pt x="3135951" y="1896437"/>
                    <a:pt x="3115277" y="1905000"/>
                    <a:pt x="3093720" y="1905000"/>
                  </a:cubicBezTo>
                  <a:lnTo>
                    <a:pt x="81280" y="1905000"/>
                  </a:lnTo>
                  <a:cubicBezTo>
                    <a:pt x="59723" y="1905000"/>
                    <a:pt x="39049" y="1896437"/>
                    <a:pt x="23806" y="1881194"/>
                  </a:cubicBezTo>
                  <a:cubicBezTo>
                    <a:pt x="8563" y="1865951"/>
                    <a:pt x="0" y="1845277"/>
                    <a:pt x="0" y="1823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676B8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17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Tableau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Visualization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1906250" y="4810125"/>
            <a:ext cx="428625" cy="0"/>
          </a:xfrm>
          <a:prstGeom prst="line">
            <a:avLst/>
          </a:prstGeom>
          <a:ln w="38100" cap="rnd">
            <a:solidFill>
              <a:srgbClr val="D9EDF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2477750" y="4095750"/>
            <a:ext cx="2381250" cy="1428750"/>
            <a:chOff x="0" y="0"/>
            <a:chExt cx="3175000" cy="190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823720"/>
                  </a:lnTo>
                  <a:cubicBezTo>
                    <a:pt x="3175000" y="1845277"/>
                    <a:pt x="3166437" y="1865951"/>
                    <a:pt x="3151194" y="1881194"/>
                  </a:cubicBezTo>
                  <a:cubicBezTo>
                    <a:pt x="3135951" y="1896437"/>
                    <a:pt x="3115277" y="1905000"/>
                    <a:pt x="3093720" y="1905000"/>
                  </a:cubicBezTo>
                  <a:lnTo>
                    <a:pt x="81280" y="1905000"/>
                  </a:lnTo>
                  <a:cubicBezTo>
                    <a:pt x="59723" y="1905000"/>
                    <a:pt x="39049" y="1896437"/>
                    <a:pt x="23806" y="1881194"/>
                  </a:cubicBezTo>
                  <a:cubicBezTo>
                    <a:pt x="8563" y="1865951"/>
                    <a:pt x="0" y="1845277"/>
                    <a:pt x="0" y="1823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676B8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17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Interactive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Dashboards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4859000" y="4810125"/>
            <a:ext cx="428625" cy="0"/>
          </a:xfrm>
          <a:prstGeom prst="line">
            <a:avLst/>
          </a:prstGeom>
          <a:ln w="38100" cap="rnd">
            <a:solidFill>
              <a:srgbClr val="D9EDF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5430500" y="4095750"/>
            <a:ext cx="2381250" cy="1428750"/>
            <a:chOff x="0" y="0"/>
            <a:chExt cx="3175000" cy="1905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75000" cy="1905000"/>
            </a:xfrm>
            <a:custGeom>
              <a:avLst/>
              <a:gdLst/>
              <a:ahLst/>
              <a:cxnLst/>
              <a:rect l="l" t="t" r="r" b="b"/>
              <a:pathLst>
                <a:path w="3175000" h="190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823720"/>
                  </a:lnTo>
                  <a:cubicBezTo>
                    <a:pt x="3175000" y="1845277"/>
                    <a:pt x="3166437" y="1865951"/>
                    <a:pt x="3151194" y="1881194"/>
                  </a:cubicBezTo>
                  <a:cubicBezTo>
                    <a:pt x="3135951" y="1896437"/>
                    <a:pt x="3115277" y="1905000"/>
                    <a:pt x="3093720" y="1905000"/>
                  </a:cubicBezTo>
                  <a:lnTo>
                    <a:pt x="81280" y="1905000"/>
                  </a:lnTo>
                  <a:cubicBezTo>
                    <a:pt x="59723" y="1905000"/>
                    <a:pt x="39049" y="1896437"/>
                    <a:pt x="23806" y="1881194"/>
                  </a:cubicBezTo>
                  <a:cubicBezTo>
                    <a:pt x="8563" y="1865951"/>
                    <a:pt x="0" y="1845277"/>
                    <a:pt x="0" y="1823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3175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Performance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Insights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62000"/>
            <a:ext cx="1428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4"/>
              </a:lnSpc>
            </a:pPr>
            <a:r>
              <a:rPr lang="en-US" sz="5099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Process: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952625"/>
            <a:ext cx="685800" cy="57150"/>
            <a:chOff x="0" y="0"/>
            <a:chExt cx="9144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4400" cy="76200"/>
            </a:xfrm>
            <a:custGeom>
              <a:avLst/>
              <a:gdLst/>
              <a:ahLst/>
              <a:cxnLst/>
              <a:rect l="l" t="t" r="r" b="b"/>
              <a:pathLst>
                <a:path w="914400" h="762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144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2667000"/>
            <a:ext cx="7715250" cy="819150"/>
            <a:chOff x="0" y="0"/>
            <a:chExt cx="10287000" cy="10922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92200" cy="10922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1676B8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254000" y="177800"/>
              <a:ext cx="889000" cy="902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40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4000" y="317500"/>
              <a:ext cx="8763000" cy="695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r>
                <a:rPr lang="en-US" sz="327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Understand the dataset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3000" y="4286250"/>
            <a:ext cx="7715250" cy="819150"/>
            <a:chOff x="0" y="0"/>
            <a:chExt cx="10287000" cy="10922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92200" cy="10922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1676B8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54000" y="187325"/>
              <a:ext cx="8890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24000" y="327025"/>
              <a:ext cx="8763000" cy="571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30"/>
                </a:lnSpc>
              </a:pPr>
              <a:r>
                <a:rPr lang="en-US" sz="267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Inspect quality and missing values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5905500"/>
            <a:ext cx="7715250" cy="819150"/>
            <a:chOff x="0" y="0"/>
            <a:chExt cx="10287000" cy="10922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92200" cy="10922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1676B8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254000" y="177800"/>
              <a:ext cx="889000" cy="858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</a:pPr>
              <a:r>
                <a:rPr lang="en-US" sz="38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24000" y="327025"/>
              <a:ext cx="8763000" cy="651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8"/>
                </a:lnSpc>
              </a:pPr>
              <a:r>
                <a:rPr lang="en-US" sz="307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Clean and prepare for analysis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7524750"/>
            <a:ext cx="7715250" cy="819150"/>
            <a:chOff x="0" y="0"/>
            <a:chExt cx="10287000" cy="10922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92200" cy="10922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1676B8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54000" y="177800"/>
              <a:ext cx="889000" cy="836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24000" y="317500"/>
              <a:ext cx="8763000" cy="638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6"/>
                </a:lnSpc>
              </a:pPr>
              <a:r>
                <a:rPr lang="en-US" sz="297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Analyze relevant hospital metrics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15500" y="2667000"/>
            <a:ext cx="7715250" cy="819150"/>
            <a:chOff x="0" y="0"/>
            <a:chExt cx="10287000" cy="10922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092200" cy="10922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1676B8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54000" y="187325"/>
              <a:ext cx="8890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4000" y="327025"/>
              <a:ext cx="8763000" cy="571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30"/>
                </a:lnSpc>
              </a:pPr>
              <a:r>
                <a:rPr lang="en-US" sz="267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Develop Tableau worksheets and dashboards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15500" y="4286250"/>
            <a:ext cx="7715250" cy="819150"/>
            <a:chOff x="0" y="0"/>
            <a:chExt cx="10287000" cy="10922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92200" cy="10922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1676B8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54000" y="177800"/>
              <a:ext cx="889000" cy="836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24000" y="317500"/>
              <a:ext cx="8763000" cy="638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6"/>
                </a:lnSpc>
              </a:pPr>
              <a:r>
                <a:rPr lang="en-US" sz="297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Add interactive filters and KPI cards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715500" y="5905500"/>
            <a:ext cx="7715250" cy="819150"/>
            <a:chOff x="0" y="0"/>
            <a:chExt cx="10287000" cy="10922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092200" cy="10922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20A6A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254000" y="187325"/>
              <a:ext cx="88900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24000" y="327025"/>
              <a:ext cx="8763000" cy="571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30"/>
                </a:lnSpc>
              </a:pPr>
              <a:r>
                <a:rPr lang="en-US" sz="267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Review dashboards and prepare presentation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62000"/>
            <a:ext cx="1428750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4999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 &amp; Considerations 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952625"/>
            <a:ext cx="685800" cy="57150"/>
            <a:chOff x="0" y="0"/>
            <a:chExt cx="9144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4400" cy="76200"/>
            </a:xfrm>
            <a:custGeom>
              <a:avLst/>
              <a:gdLst/>
              <a:ahLst/>
              <a:cxnLst/>
              <a:rect l="l" t="t" r="r" b="b"/>
              <a:pathLst>
                <a:path w="914400" h="762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144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8750" y="2181225"/>
            <a:ext cx="4762500" cy="56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9"/>
              </a:lnSpc>
            </a:pPr>
            <a:r>
              <a:rPr lang="en-US" sz="3349" b="1">
                <a:solidFill>
                  <a:srgbClr val="20A6A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CHALLENGE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20250" y="2190750"/>
            <a:ext cx="6191250" cy="44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 b="1">
                <a:solidFill>
                  <a:srgbClr val="20A6A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APPROACH / CONSIDERATION</a:t>
            </a:r>
          </a:p>
        </p:txBody>
      </p:sp>
      <p:sp>
        <p:nvSpPr>
          <p:cNvPr id="8" name="AutoShape 8"/>
          <p:cNvSpPr/>
          <p:nvPr/>
        </p:nvSpPr>
        <p:spPr>
          <a:xfrm>
            <a:off x="8572500" y="2476500"/>
            <a:ext cx="0" cy="6858000"/>
          </a:xfrm>
          <a:prstGeom prst="line">
            <a:avLst/>
          </a:prstGeom>
          <a:ln w="19050" cap="flat">
            <a:solidFill>
              <a:srgbClr val="C9D9E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47750" y="2714625"/>
            <a:ext cx="16192500" cy="990600"/>
            <a:chOff x="0" y="0"/>
            <a:chExt cx="21590000" cy="13208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8636000" cy="1320800"/>
              <a:chOff x="0" y="0"/>
              <a:chExt cx="8636000" cy="1320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636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8636000" h="13208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636000" cy="135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08000" y="342900"/>
              <a:ext cx="7239000" cy="638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6"/>
                </a:lnSpc>
              </a:pPr>
              <a:r>
                <a:rPr lang="en-US" sz="2974" b="1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Missing values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0922000" y="0"/>
              <a:ext cx="10668000" cy="1320800"/>
              <a:chOff x="0" y="0"/>
              <a:chExt cx="10668000" cy="1320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668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13208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668000" cy="135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1430000" y="342900"/>
              <a:ext cx="8763000" cy="6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28"/>
                </a:lnSpc>
              </a:pPr>
              <a:r>
                <a:rPr lang="en-US" sz="282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Inspection and imputation considerations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7750" y="4048125"/>
            <a:ext cx="16192500" cy="990600"/>
            <a:chOff x="0" y="0"/>
            <a:chExt cx="21590000" cy="13208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8636000" cy="1320800"/>
              <a:chOff x="0" y="0"/>
              <a:chExt cx="8636000" cy="1320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636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8636000" h="13208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8636000" cy="1377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08000" y="342900"/>
              <a:ext cx="7239000" cy="672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0"/>
                </a:lnSpc>
              </a:pPr>
              <a:r>
                <a:rPr lang="en-US" sz="3174" b="1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Inconsistent fields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922000" y="0"/>
              <a:ext cx="10668000" cy="1320800"/>
              <a:chOff x="0" y="0"/>
              <a:chExt cx="10668000" cy="1320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0668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13208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10668000" cy="1377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430000" y="352425"/>
              <a:ext cx="8763000" cy="640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2"/>
                </a:lnSpc>
              </a:pPr>
              <a:r>
                <a:rPr lang="en-US" sz="302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Data standardization efforts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7750" y="5381625"/>
            <a:ext cx="16192500" cy="990600"/>
            <a:chOff x="0" y="0"/>
            <a:chExt cx="21590000" cy="13208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636000" cy="1320800"/>
              <a:chOff x="0" y="0"/>
              <a:chExt cx="8636000" cy="1320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636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8636000" h="13208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8636000" cy="1377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508000" y="352425"/>
              <a:ext cx="7239000" cy="651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8"/>
                </a:lnSpc>
              </a:pPr>
              <a:r>
                <a:rPr lang="en-US" sz="3074" b="1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Selecting useful KPIs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0922000" y="0"/>
              <a:ext cx="10668000" cy="1320800"/>
              <a:chOff x="0" y="0"/>
              <a:chExt cx="10668000" cy="1320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668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13208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57150"/>
                <a:ext cx="10668000" cy="1377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1430000" y="342900"/>
              <a:ext cx="8763000" cy="626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60"/>
                </a:lnSpc>
              </a:pPr>
              <a:r>
                <a:rPr lang="en-US" sz="292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Alignment with project objectives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47750" y="6715125"/>
            <a:ext cx="16192500" cy="990600"/>
            <a:chOff x="0" y="0"/>
            <a:chExt cx="21590000" cy="13208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8636000" cy="1320800"/>
              <a:chOff x="0" y="0"/>
              <a:chExt cx="8636000" cy="1320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636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8636000" h="13208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57150"/>
                <a:ext cx="8636000" cy="1377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508000" y="342900"/>
              <a:ext cx="7239000" cy="718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54"/>
                </a:lnSpc>
              </a:pPr>
              <a:r>
                <a:rPr lang="en-US" sz="3374" b="1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Choosing chart types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0922000" y="0"/>
              <a:ext cx="10668000" cy="1320800"/>
              <a:chOff x="0" y="0"/>
              <a:chExt cx="10668000" cy="1320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0668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13208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57150"/>
                <a:ext cx="10668000" cy="1377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1430000" y="342900"/>
              <a:ext cx="8763000" cy="6837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6"/>
                </a:lnSpc>
              </a:pPr>
              <a:r>
                <a:rPr lang="en-US" sz="322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Visual clarity and dashboard usability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47750" y="8048625"/>
            <a:ext cx="16192500" cy="990600"/>
            <a:chOff x="0" y="0"/>
            <a:chExt cx="21590000" cy="13208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8636000" cy="1320800"/>
              <a:chOff x="0" y="0"/>
              <a:chExt cx="8636000" cy="1320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636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8636000" h="13208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57150"/>
                <a:ext cx="8636000" cy="1377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508000" y="342900"/>
              <a:ext cx="7239000" cy="672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0"/>
                </a:lnSpc>
              </a:pPr>
              <a:r>
                <a:rPr lang="en-US" sz="3174" b="1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Layout &amp; interactivity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0922000" y="0"/>
              <a:ext cx="10668000" cy="1320800"/>
              <a:chOff x="0" y="0"/>
              <a:chExt cx="10668000" cy="1320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0668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13208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D9E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57150"/>
                <a:ext cx="10668000" cy="1377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1430000" y="352425"/>
              <a:ext cx="8763000" cy="640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2"/>
                </a:lnSpc>
              </a:pPr>
              <a:r>
                <a:rPr lang="en-US" sz="3024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User-friendly filter design considerations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1952625"/>
            <a:ext cx="685800" cy="57150"/>
            <a:chOff x="0" y="0"/>
            <a:chExt cx="914400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4400" cy="76200"/>
            </a:xfrm>
            <a:custGeom>
              <a:avLst/>
              <a:gdLst/>
              <a:ahLst/>
              <a:cxnLst/>
              <a:rect l="l" t="t" r="r" b="b"/>
              <a:pathLst>
                <a:path w="914400" h="762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144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7750" y="2476500"/>
            <a:ext cx="11525250" cy="6667500"/>
            <a:chOff x="0" y="0"/>
            <a:chExt cx="15367000" cy="8890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5367000" cy="8890000"/>
              <a:chOff x="0" y="0"/>
              <a:chExt cx="15367000" cy="889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5367000" cy="8890000"/>
              </a:xfrm>
              <a:custGeom>
                <a:avLst/>
                <a:gdLst/>
                <a:ahLst/>
                <a:cxnLst/>
                <a:rect l="l" t="t" r="r" b="b"/>
                <a:pathLst>
                  <a:path w="15367000" h="8890000">
                    <a:moveTo>
                      <a:pt x="0" y="0"/>
                    </a:moveTo>
                    <a:lnTo>
                      <a:pt x="15367000" y="0"/>
                    </a:lnTo>
                    <a:lnTo>
                      <a:pt x="15367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5367000" cy="892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905000" y="3121025"/>
              <a:ext cx="11557000" cy="128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9"/>
                </a:lnSpc>
              </a:pPr>
              <a:r>
                <a:rPr lang="en-US" sz="3225" b="1">
                  <a:solidFill>
                    <a:srgbClr val="5C718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EXECUTIVE TABLEAU DASHBOARD</a:t>
              </a:r>
            </a:p>
            <a:p>
              <a:pPr algn="ctr">
                <a:lnSpc>
                  <a:spcPts val="3869"/>
                </a:lnSpc>
              </a:pPr>
              <a:r>
                <a:rPr lang="en-US" sz="3225" b="1">
                  <a:solidFill>
                    <a:srgbClr val="5C718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SCREENSHOT PLACEHOLDER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0" y="7854950"/>
              <a:ext cx="138430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7"/>
                </a:lnSpc>
              </a:pPr>
              <a:r>
                <a:rPr lang="en-US" sz="1725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Replace this frame with verified project dashboard content.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39750" y="2524125"/>
            <a:ext cx="3905250" cy="838200"/>
            <a:chOff x="0" y="0"/>
            <a:chExt cx="5207000" cy="1117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07000" cy="1117600"/>
            </a:xfrm>
            <a:custGeom>
              <a:avLst/>
              <a:gdLst/>
              <a:ahLst/>
              <a:cxnLst/>
              <a:rect l="l" t="t" r="r" b="b"/>
              <a:pathLst>
                <a:path w="5207000" h="1117600">
                  <a:moveTo>
                    <a:pt x="49561" y="0"/>
                  </a:moveTo>
                  <a:lnTo>
                    <a:pt x="5157439" y="0"/>
                  </a:lnTo>
                  <a:cubicBezTo>
                    <a:pt x="5170583" y="0"/>
                    <a:pt x="5183189" y="5222"/>
                    <a:pt x="5192484" y="14516"/>
                  </a:cubicBezTo>
                  <a:cubicBezTo>
                    <a:pt x="5201779" y="23811"/>
                    <a:pt x="5207000" y="36417"/>
                    <a:pt x="5207000" y="49561"/>
                  </a:cubicBezTo>
                  <a:lnTo>
                    <a:pt x="5207000" y="1068039"/>
                  </a:lnTo>
                  <a:cubicBezTo>
                    <a:pt x="5207000" y="1081183"/>
                    <a:pt x="5201779" y="1093789"/>
                    <a:pt x="5192484" y="1103084"/>
                  </a:cubicBezTo>
                  <a:cubicBezTo>
                    <a:pt x="5183189" y="1112378"/>
                    <a:pt x="5170583" y="1117600"/>
                    <a:pt x="5157439" y="1117600"/>
                  </a:cubicBezTo>
                  <a:lnTo>
                    <a:pt x="49561" y="1117600"/>
                  </a:lnTo>
                  <a:cubicBezTo>
                    <a:pt x="36417" y="1117600"/>
                    <a:pt x="23811" y="1112378"/>
                    <a:pt x="14516" y="1103084"/>
                  </a:cubicBezTo>
                  <a:cubicBezTo>
                    <a:pt x="5222" y="1093789"/>
                    <a:pt x="0" y="1081183"/>
                    <a:pt x="0" y="1068039"/>
                  </a:cubicBezTo>
                  <a:lnTo>
                    <a:pt x="0" y="49561"/>
                  </a:lnTo>
                  <a:cubicBezTo>
                    <a:pt x="0" y="36417"/>
                    <a:pt x="5222" y="23811"/>
                    <a:pt x="14516" y="14516"/>
                  </a:cubicBezTo>
                  <a:cubicBezTo>
                    <a:pt x="23811" y="5222"/>
                    <a:pt x="36417" y="0"/>
                    <a:pt x="49561" y="0"/>
                  </a:cubicBez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5207000" cy="110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Admissions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39750" y="3629025"/>
            <a:ext cx="3905250" cy="838200"/>
            <a:chOff x="0" y="0"/>
            <a:chExt cx="5207000" cy="1117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07000" cy="1117600"/>
            </a:xfrm>
            <a:custGeom>
              <a:avLst/>
              <a:gdLst/>
              <a:ahLst/>
              <a:cxnLst/>
              <a:rect l="l" t="t" r="r" b="b"/>
              <a:pathLst>
                <a:path w="5207000" h="1117600">
                  <a:moveTo>
                    <a:pt x="49561" y="0"/>
                  </a:moveTo>
                  <a:lnTo>
                    <a:pt x="5157439" y="0"/>
                  </a:lnTo>
                  <a:cubicBezTo>
                    <a:pt x="5170583" y="0"/>
                    <a:pt x="5183189" y="5222"/>
                    <a:pt x="5192484" y="14516"/>
                  </a:cubicBezTo>
                  <a:cubicBezTo>
                    <a:pt x="5201779" y="23811"/>
                    <a:pt x="5207000" y="36417"/>
                    <a:pt x="5207000" y="49561"/>
                  </a:cubicBezTo>
                  <a:lnTo>
                    <a:pt x="5207000" y="1068039"/>
                  </a:lnTo>
                  <a:cubicBezTo>
                    <a:pt x="5207000" y="1081183"/>
                    <a:pt x="5201779" y="1093789"/>
                    <a:pt x="5192484" y="1103084"/>
                  </a:cubicBezTo>
                  <a:cubicBezTo>
                    <a:pt x="5183189" y="1112378"/>
                    <a:pt x="5170583" y="1117600"/>
                    <a:pt x="5157439" y="1117600"/>
                  </a:cubicBezTo>
                  <a:lnTo>
                    <a:pt x="49561" y="1117600"/>
                  </a:lnTo>
                  <a:cubicBezTo>
                    <a:pt x="36417" y="1117600"/>
                    <a:pt x="23811" y="1112378"/>
                    <a:pt x="14516" y="1103084"/>
                  </a:cubicBezTo>
                  <a:cubicBezTo>
                    <a:pt x="5222" y="1093789"/>
                    <a:pt x="0" y="1081183"/>
                    <a:pt x="0" y="1068039"/>
                  </a:cubicBezTo>
                  <a:lnTo>
                    <a:pt x="0" y="49561"/>
                  </a:lnTo>
                  <a:cubicBezTo>
                    <a:pt x="0" y="36417"/>
                    <a:pt x="5222" y="23811"/>
                    <a:pt x="14516" y="14516"/>
                  </a:cubicBezTo>
                  <a:cubicBezTo>
                    <a:pt x="23811" y="5222"/>
                    <a:pt x="36417" y="0"/>
                    <a:pt x="49561" y="0"/>
                  </a:cubicBezTo>
                  <a:close/>
                </a:path>
              </a:pathLst>
            </a:custGeom>
            <a:solidFill>
              <a:srgbClr val="081F3D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5207000" cy="110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Average revenue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39750" y="4733925"/>
            <a:ext cx="3905250" cy="838200"/>
            <a:chOff x="0" y="0"/>
            <a:chExt cx="5207000" cy="1117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07000" cy="1117600"/>
            </a:xfrm>
            <a:custGeom>
              <a:avLst/>
              <a:gdLst/>
              <a:ahLst/>
              <a:cxnLst/>
              <a:rect l="l" t="t" r="r" b="b"/>
              <a:pathLst>
                <a:path w="5207000" h="1117600">
                  <a:moveTo>
                    <a:pt x="49561" y="0"/>
                  </a:moveTo>
                  <a:lnTo>
                    <a:pt x="5157439" y="0"/>
                  </a:lnTo>
                  <a:cubicBezTo>
                    <a:pt x="5170583" y="0"/>
                    <a:pt x="5183189" y="5222"/>
                    <a:pt x="5192484" y="14516"/>
                  </a:cubicBezTo>
                  <a:cubicBezTo>
                    <a:pt x="5201779" y="23811"/>
                    <a:pt x="5207000" y="36417"/>
                    <a:pt x="5207000" y="49561"/>
                  </a:cubicBezTo>
                  <a:lnTo>
                    <a:pt x="5207000" y="1068039"/>
                  </a:lnTo>
                  <a:cubicBezTo>
                    <a:pt x="5207000" y="1081183"/>
                    <a:pt x="5201779" y="1093789"/>
                    <a:pt x="5192484" y="1103084"/>
                  </a:cubicBezTo>
                  <a:cubicBezTo>
                    <a:pt x="5183189" y="1112378"/>
                    <a:pt x="5170583" y="1117600"/>
                    <a:pt x="5157439" y="1117600"/>
                  </a:cubicBezTo>
                  <a:lnTo>
                    <a:pt x="49561" y="1117600"/>
                  </a:lnTo>
                  <a:cubicBezTo>
                    <a:pt x="36417" y="1117600"/>
                    <a:pt x="23811" y="1112378"/>
                    <a:pt x="14516" y="1103084"/>
                  </a:cubicBezTo>
                  <a:cubicBezTo>
                    <a:pt x="5222" y="1093789"/>
                    <a:pt x="0" y="1081183"/>
                    <a:pt x="0" y="1068039"/>
                  </a:cubicBezTo>
                  <a:lnTo>
                    <a:pt x="0" y="49561"/>
                  </a:lnTo>
                  <a:cubicBezTo>
                    <a:pt x="0" y="36417"/>
                    <a:pt x="5222" y="23811"/>
                    <a:pt x="14516" y="14516"/>
                  </a:cubicBezTo>
                  <a:cubicBezTo>
                    <a:pt x="23811" y="5222"/>
                    <a:pt x="36417" y="0"/>
                    <a:pt x="49561" y="0"/>
                  </a:cubicBezTo>
                  <a:close/>
                </a:path>
              </a:pathLst>
            </a:custGeom>
            <a:solidFill>
              <a:srgbClr val="081F3D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5207000" cy="110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Average length of stay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9750" y="5838825"/>
            <a:ext cx="3905250" cy="838200"/>
            <a:chOff x="0" y="0"/>
            <a:chExt cx="5207000" cy="1117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07000" cy="1117600"/>
            </a:xfrm>
            <a:custGeom>
              <a:avLst/>
              <a:gdLst/>
              <a:ahLst/>
              <a:cxnLst/>
              <a:rect l="l" t="t" r="r" b="b"/>
              <a:pathLst>
                <a:path w="5207000" h="1117600">
                  <a:moveTo>
                    <a:pt x="49561" y="0"/>
                  </a:moveTo>
                  <a:lnTo>
                    <a:pt x="5157439" y="0"/>
                  </a:lnTo>
                  <a:cubicBezTo>
                    <a:pt x="5170583" y="0"/>
                    <a:pt x="5183189" y="5222"/>
                    <a:pt x="5192484" y="14516"/>
                  </a:cubicBezTo>
                  <a:cubicBezTo>
                    <a:pt x="5201779" y="23811"/>
                    <a:pt x="5207000" y="36417"/>
                    <a:pt x="5207000" y="49561"/>
                  </a:cubicBezTo>
                  <a:lnTo>
                    <a:pt x="5207000" y="1068039"/>
                  </a:lnTo>
                  <a:cubicBezTo>
                    <a:pt x="5207000" y="1081183"/>
                    <a:pt x="5201779" y="1093789"/>
                    <a:pt x="5192484" y="1103084"/>
                  </a:cubicBezTo>
                  <a:cubicBezTo>
                    <a:pt x="5183189" y="1112378"/>
                    <a:pt x="5170583" y="1117600"/>
                    <a:pt x="5157439" y="1117600"/>
                  </a:cubicBezTo>
                  <a:lnTo>
                    <a:pt x="49561" y="1117600"/>
                  </a:lnTo>
                  <a:cubicBezTo>
                    <a:pt x="36417" y="1117600"/>
                    <a:pt x="23811" y="1112378"/>
                    <a:pt x="14516" y="1103084"/>
                  </a:cubicBezTo>
                  <a:cubicBezTo>
                    <a:pt x="5222" y="1093789"/>
                    <a:pt x="0" y="1081183"/>
                    <a:pt x="0" y="1068039"/>
                  </a:cubicBezTo>
                  <a:lnTo>
                    <a:pt x="0" y="49561"/>
                  </a:lnTo>
                  <a:cubicBezTo>
                    <a:pt x="0" y="36417"/>
                    <a:pt x="5222" y="23811"/>
                    <a:pt x="14516" y="14516"/>
                  </a:cubicBezTo>
                  <a:cubicBezTo>
                    <a:pt x="23811" y="5222"/>
                    <a:pt x="36417" y="0"/>
                    <a:pt x="49561" y="0"/>
                  </a:cubicBezTo>
                  <a:close/>
                </a:path>
              </a:pathLst>
            </a:custGeom>
            <a:solidFill>
              <a:srgbClr val="081F3D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5207000" cy="110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Monthly trends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239750" y="6943725"/>
            <a:ext cx="3905250" cy="838200"/>
            <a:chOff x="0" y="0"/>
            <a:chExt cx="5207000" cy="1117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207000" cy="1117600"/>
            </a:xfrm>
            <a:custGeom>
              <a:avLst/>
              <a:gdLst/>
              <a:ahLst/>
              <a:cxnLst/>
              <a:rect l="l" t="t" r="r" b="b"/>
              <a:pathLst>
                <a:path w="5207000" h="1117600">
                  <a:moveTo>
                    <a:pt x="49561" y="0"/>
                  </a:moveTo>
                  <a:lnTo>
                    <a:pt x="5157439" y="0"/>
                  </a:lnTo>
                  <a:cubicBezTo>
                    <a:pt x="5170583" y="0"/>
                    <a:pt x="5183189" y="5222"/>
                    <a:pt x="5192484" y="14516"/>
                  </a:cubicBezTo>
                  <a:cubicBezTo>
                    <a:pt x="5201779" y="23811"/>
                    <a:pt x="5207000" y="36417"/>
                    <a:pt x="5207000" y="49561"/>
                  </a:cubicBezTo>
                  <a:lnTo>
                    <a:pt x="5207000" y="1068039"/>
                  </a:lnTo>
                  <a:cubicBezTo>
                    <a:pt x="5207000" y="1081183"/>
                    <a:pt x="5201779" y="1093789"/>
                    <a:pt x="5192484" y="1103084"/>
                  </a:cubicBezTo>
                  <a:cubicBezTo>
                    <a:pt x="5183189" y="1112378"/>
                    <a:pt x="5170583" y="1117600"/>
                    <a:pt x="5157439" y="1117600"/>
                  </a:cubicBezTo>
                  <a:lnTo>
                    <a:pt x="49561" y="1117600"/>
                  </a:lnTo>
                  <a:cubicBezTo>
                    <a:pt x="36417" y="1117600"/>
                    <a:pt x="23811" y="1112378"/>
                    <a:pt x="14516" y="1103084"/>
                  </a:cubicBezTo>
                  <a:cubicBezTo>
                    <a:pt x="5222" y="1093789"/>
                    <a:pt x="0" y="1081183"/>
                    <a:pt x="0" y="1068039"/>
                  </a:cubicBezTo>
                  <a:lnTo>
                    <a:pt x="0" y="49561"/>
                  </a:lnTo>
                  <a:cubicBezTo>
                    <a:pt x="0" y="36417"/>
                    <a:pt x="5222" y="23811"/>
                    <a:pt x="14516" y="14516"/>
                  </a:cubicBezTo>
                  <a:cubicBezTo>
                    <a:pt x="23811" y="5222"/>
                    <a:pt x="36417" y="0"/>
                    <a:pt x="49561" y="0"/>
                  </a:cubicBezTo>
                  <a:close/>
                </a:path>
              </a:pathLst>
            </a:custGeom>
            <a:solidFill>
              <a:srgbClr val="081F3D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5207000" cy="110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Specialty performance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239750" y="8048625"/>
            <a:ext cx="3905250" cy="838200"/>
            <a:chOff x="0" y="0"/>
            <a:chExt cx="5207000" cy="1117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07000" cy="1117600"/>
            </a:xfrm>
            <a:custGeom>
              <a:avLst/>
              <a:gdLst/>
              <a:ahLst/>
              <a:cxnLst/>
              <a:rect l="l" t="t" r="r" b="b"/>
              <a:pathLst>
                <a:path w="5207000" h="1117600">
                  <a:moveTo>
                    <a:pt x="49561" y="0"/>
                  </a:moveTo>
                  <a:lnTo>
                    <a:pt x="5157439" y="0"/>
                  </a:lnTo>
                  <a:cubicBezTo>
                    <a:pt x="5170583" y="0"/>
                    <a:pt x="5183189" y="5222"/>
                    <a:pt x="5192484" y="14516"/>
                  </a:cubicBezTo>
                  <a:cubicBezTo>
                    <a:pt x="5201779" y="23811"/>
                    <a:pt x="5207000" y="36417"/>
                    <a:pt x="5207000" y="49561"/>
                  </a:cubicBezTo>
                  <a:lnTo>
                    <a:pt x="5207000" y="1068039"/>
                  </a:lnTo>
                  <a:cubicBezTo>
                    <a:pt x="5207000" y="1081183"/>
                    <a:pt x="5201779" y="1093789"/>
                    <a:pt x="5192484" y="1103084"/>
                  </a:cubicBezTo>
                  <a:cubicBezTo>
                    <a:pt x="5183189" y="1112378"/>
                    <a:pt x="5170583" y="1117600"/>
                    <a:pt x="5157439" y="1117600"/>
                  </a:cubicBezTo>
                  <a:lnTo>
                    <a:pt x="49561" y="1117600"/>
                  </a:lnTo>
                  <a:cubicBezTo>
                    <a:pt x="36417" y="1117600"/>
                    <a:pt x="23811" y="1112378"/>
                    <a:pt x="14516" y="1103084"/>
                  </a:cubicBezTo>
                  <a:cubicBezTo>
                    <a:pt x="5222" y="1093789"/>
                    <a:pt x="0" y="1081183"/>
                    <a:pt x="0" y="1068039"/>
                  </a:cubicBezTo>
                  <a:lnTo>
                    <a:pt x="0" y="49561"/>
                  </a:lnTo>
                  <a:cubicBezTo>
                    <a:pt x="0" y="36417"/>
                    <a:pt x="5222" y="23811"/>
                    <a:pt x="14516" y="14516"/>
                  </a:cubicBezTo>
                  <a:cubicBezTo>
                    <a:pt x="23811" y="5222"/>
                    <a:pt x="36417" y="0"/>
                    <a:pt x="49561" y="0"/>
                  </a:cubicBezTo>
                  <a:close/>
                </a:path>
              </a:pathLst>
            </a:custGeom>
            <a:solidFill>
              <a:srgbClr val="081F3D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5207000" cy="110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Payer mix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268097" y="1415415"/>
            <a:ext cx="12889642" cy="8053440"/>
          </a:xfrm>
          <a:custGeom>
            <a:avLst/>
            <a:gdLst/>
            <a:ahLst/>
            <a:cxnLst/>
            <a:rect l="l" t="t" r="r" b="b"/>
            <a:pathLst>
              <a:path w="12889642" h="8053440">
                <a:moveTo>
                  <a:pt x="0" y="0"/>
                </a:moveTo>
                <a:lnTo>
                  <a:pt x="12889643" y="0"/>
                </a:lnTo>
                <a:lnTo>
                  <a:pt x="12889643" y="8053440"/>
                </a:lnTo>
                <a:lnTo>
                  <a:pt x="0" y="8053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" t="-10172" r="-37132" b="-2094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28700" y="495300"/>
            <a:ext cx="1428750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Executive Overview :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1952625"/>
            <a:ext cx="685800" cy="57150"/>
            <a:chOff x="0" y="0"/>
            <a:chExt cx="914400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4400" cy="76200"/>
            </a:xfrm>
            <a:custGeom>
              <a:avLst/>
              <a:gdLst/>
              <a:ahLst/>
              <a:cxnLst/>
              <a:rect l="l" t="t" r="r" b="b"/>
              <a:pathLst>
                <a:path w="914400" h="762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144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7750" y="2476500"/>
            <a:ext cx="11049000" cy="6667500"/>
            <a:chOff x="0" y="0"/>
            <a:chExt cx="14732000" cy="8890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4732000" cy="8890000"/>
              <a:chOff x="0" y="0"/>
              <a:chExt cx="14732000" cy="889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732000" cy="8890000"/>
              </a:xfrm>
              <a:custGeom>
                <a:avLst/>
                <a:gdLst/>
                <a:ahLst/>
                <a:cxnLst/>
                <a:rect l="l" t="t" r="r" b="b"/>
                <a:pathLst>
                  <a:path w="14732000" h="8890000">
                    <a:moveTo>
                      <a:pt x="0" y="0"/>
                    </a:moveTo>
                    <a:lnTo>
                      <a:pt x="14732000" y="0"/>
                    </a:lnTo>
                    <a:lnTo>
                      <a:pt x="14732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732000" cy="892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524000" y="3117850"/>
              <a:ext cx="11684000" cy="1471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15"/>
                </a:lnSpc>
              </a:pPr>
              <a:r>
                <a:rPr lang="en-US" sz="3225" b="1">
                  <a:solidFill>
                    <a:srgbClr val="5C718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PATIENT ANALYTICS</a:t>
              </a:r>
            </a:p>
            <a:p>
              <a:pPr algn="ctr">
                <a:lnSpc>
                  <a:spcPts val="4515"/>
                </a:lnSpc>
              </a:pPr>
              <a:r>
                <a:rPr lang="en-US" sz="3225" b="1">
                  <a:solidFill>
                    <a:srgbClr val="5C718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PLACEHOLDER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73000" y="2857500"/>
            <a:ext cx="4667250" cy="1571625"/>
            <a:chOff x="0" y="0"/>
            <a:chExt cx="6223000" cy="20955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223000" cy="2095500"/>
              <a:chOff x="0" y="0"/>
              <a:chExt cx="6223000" cy="2095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223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6223000" h="2095500">
                    <a:moveTo>
                      <a:pt x="0" y="0"/>
                    </a:moveTo>
                    <a:lnTo>
                      <a:pt x="6223000" y="0"/>
                    </a:lnTo>
                    <a:lnTo>
                      <a:pt x="62230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66675"/>
                <a:ext cx="6223000" cy="2162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08000" y="384175"/>
              <a:ext cx="4953000" cy="393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Patient-related patterns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8000" y="971550"/>
              <a:ext cx="4953000" cy="36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Describe only after chart verification.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73000" y="4857750"/>
            <a:ext cx="4667250" cy="1629537"/>
            <a:chOff x="0" y="0"/>
            <a:chExt cx="6223000" cy="2172716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223000" cy="2172716"/>
              <a:chOff x="0" y="0"/>
              <a:chExt cx="6223000" cy="217271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223000" cy="2172716"/>
              </a:xfrm>
              <a:custGeom>
                <a:avLst/>
                <a:gdLst/>
                <a:ahLst/>
                <a:cxnLst/>
                <a:rect l="l" t="t" r="r" b="b"/>
                <a:pathLst>
                  <a:path w="6223000" h="2172716">
                    <a:moveTo>
                      <a:pt x="0" y="0"/>
                    </a:moveTo>
                    <a:lnTo>
                      <a:pt x="6223000" y="0"/>
                    </a:lnTo>
                    <a:lnTo>
                      <a:pt x="6223000" y="2172716"/>
                    </a:lnTo>
                    <a:lnTo>
                      <a:pt x="0" y="2172716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6223000" cy="22203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9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08000" y="384175"/>
              <a:ext cx="4953000" cy="436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4"/>
                </a:lnSpc>
              </a:pPr>
              <a:r>
                <a:rPr lang="en-US" sz="229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Specialty comparisons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8000" y="1005205"/>
              <a:ext cx="4953000" cy="408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40"/>
                </a:lnSpc>
              </a:pPr>
              <a:r>
                <a:rPr lang="en-US" sz="1924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Use actual specialty views.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573000" y="6858000"/>
            <a:ext cx="4667250" cy="1571625"/>
            <a:chOff x="0" y="0"/>
            <a:chExt cx="6223000" cy="20955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6223000" cy="2095500"/>
              <a:chOff x="0" y="0"/>
              <a:chExt cx="6223000" cy="2095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223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6223000" h="2095500">
                    <a:moveTo>
                      <a:pt x="0" y="0"/>
                    </a:moveTo>
                    <a:lnTo>
                      <a:pt x="6223000" y="0"/>
                    </a:lnTo>
                    <a:lnTo>
                      <a:pt x="62230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D9E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6223000" cy="213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08000" y="384175"/>
              <a:ext cx="4953000" cy="393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Length-of-stay analysis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8000" y="971550"/>
              <a:ext cx="4953000" cy="745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5C718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Summarize verified distributions or trends.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349555" y="1263816"/>
            <a:ext cx="12223445" cy="7880184"/>
          </a:xfrm>
          <a:custGeom>
            <a:avLst/>
            <a:gdLst/>
            <a:ahLst/>
            <a:cxnLst/>
            <a:rect l="l" t="t" r="r" b="b"/>
            <a:pathLst>
              <a:path w="12223445" h="7880184">
                <a:moveTo>
                  <a:pt x="0" y="0"/>
                </a:moveTo>
                <a:lnTo>
                  <a:pt x="12223445" y="0"/>
                </a:lnTo>
                <a:lnTo>
                  <a:pt x="12223445" y="7880184"/>
                </a:lnTo>
                <a:lnTo>
                  <a:pt x="0" y="788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7" t="-962" r="-26895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28700" y="375285"/>
            <a:ext cx="1428750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Patient Analytics 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0" y="2476500"/>
            <a:ext cx="12096750" cy="6667500"/>
            <a:chOff x="0" y="0"/>
            <a:chExt cx="16129000" cy="8890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6129000" cy="8890000"/>
              <a:chOff x="0" y="0"/>
              <a:chExt cx="16129000" cy="889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129000" cy="88900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88900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6129000" cy="892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905000" y="3054350"/>
              <a:ext cx="12319000" cy="1471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15"/>
                </a:lnSpc>
              </a:pPr>
              <a:r>
                <a:rPr lang="en-US" sz="3225" b="1">
                  <a:solidFill>
                    <a:srgbClr val="5C718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FINANCIAL TABLEAU DASHBOARD</a:t>
              </a:r>
            </a:p>
            <a:p>
              <a:pPr algn="ctr">
                <a:lnSpc>
                  <a:spcPts val="4515"/>
                </a:lnSpc>
              </a:pPr>
              <a:r>
                <a:rPr lang="en-US" sz="3225" b="1">
                  <a:solidFill>
                    <a:srgbClr val="5C718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SCREENSHOT PLACEHOLDER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2952750"/>
            <a:ext cx="3429000" cy="1238250"/>
            <a:chOff x="0" y="0"/>
            <a:chExt cx="4572000" cy="165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0" cy="1651000"/>
            </a:xfrm>
            <a:custGeom>
              <a:avLst/>
              <a:gdLst/>
              <a:ahLst/>
              <a:cxnLst/>
              <a:rect l="l" t="t" r="r" b="b"/>
              <a:pathLst>
                <a:path w="4572000" h="1651000">
                  <a:moveTo>
                    <a:pt x="56444" y="0"/>
                  </a:moveTo>
                  <a:lnTo>
                    <a:pt x="4515555" y="0"/>
                  </a:lnTo>
                  <a:cubicBezTo>
                    <a:pt x="4530525" y="0"/>
                    <a:pt x="4544882" y="5947"/>
                    <a:pt x="4555468" y="16532"/>
                  </a:cubicBezTo>
                  <a:cubicBezTo>
                    <a:pt x="4566053" y="27118"/>
                    <a:pt x="4572000" y="41474"/>
                    <a:pt x="4572000" y="56444"/>
                  </a:cubicBezTo>
                  <a:lnTo>
                    <a:pt x="4572000" y="1594556"/>
                  </a:lnTo>
                  <a:cubicBezTo>
                    <a:pt x="4572000" y="1609526"/>
                    <a:pt x="4566053" y="1623882"/>
                    <a:pt x="4555468" y="1634468"/>
                  </a:cubicBezTo>
                  <a:cubicBezTo>
                    <a:pt x="4544882" y="1645053"/>
                    <a:pt x="4530525" y="1651000"/>
                    <a:pt x="4515555" y="1651000"/>
                  </a:cubicBezTo>
                  <a:lnTo>
                    <a:pt x="56444" y="1651000"/>
                  </a:lnTo>
                  <a:cubicBezTo>
                    <a:pt x="41474" y="1651000"/>
                    <a:pt x="27118" y="1645053"/>
                    <a:pt x="16532" y="1634468"/>
                  </a:cubicBezTo>
                  <a:cubicBezTo>
                    <a:pt x="5947" y="1623882"/>
                    <a:pt x="0" y="1609526"/>
                    <a:pt x="0" y="1594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081F3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4572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4"/>
                </a:lnSpc>
              </a:pPr>
              <a:r>
                <a:rPr lang="en-US" sz="2899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Revenue trends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7750" y="4762500"/>
            <a:ext cx="3429000" cy="1238250"/>
            <a:chOff x="0" y="0"/>
            <a:chExt cx="4572000" cy="165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72000" cy="1651000"/>
            </a:xfrm>
            <a:custGeom>
              <a:avLst/>
              <a:gdLst/>
              <a:ahLst/>
              <a:cxnLst/>
              <a:rect l="l" t="t" r="r" b="b"/>
              <a:pathLst>
                <a:path w="4572000" h="1651000">
                  <a:moveTo>
                    <a:pt x="56444" y="0"/>
                  </a:moveTo>
                  <a:lnTo>
                    <a:pt x="4515555" y="0"/>
                  </a:lnTo>
                  <a:cubicBezTo>
                    <a:pt x="4530525" y="0"/>
                    <a:pt x="4544882" y="5947"/>
                    <a:pt x="4555468" y="16532"/>
                  </a:cubicBezTo>
                  <a:cubicBezTo>
                    <a:pt x="4566053" y="27118"/>
                    <a:pt x="4572000" y="41474"/>
                    <a:pt x="4572000" y="56444"/>
                  </a:cubicBezTo>
                  <a:lnTo>
                    <a:pt x="4572000" y="1594556"/>
                  </a:lnTo>
                  <a:cubicBezTo>
                    <a:pt x="4572000" y="1609526"/>
                    <a:pt x="4566053" y="1623882"/>
                    <a:pt x="4555468" y="1634468"/>
                  </a:cubicBezTo>
                  <a:cubicBezTo>
                    <a:pt x="4544882" y="1645053"/>
                    <a:pt x="4530525" y="1651000"/>
                    <a:pt x="4515555" y="1651000"/>
                  </a:cubicBezTo>
                  <a:lnTo>
                    <a:pt x="56444" y="1651000"/>
                  </a:lnTo>
                  <a:cubicBezTo>
                    <a:pt x="41474" y="1651000"/>
                    <a:pt x="27118" y="1645053"/>
                    <a:pt x="16532" y="1634468"/>
                  </a:cubicBezTo>
                  <a:cubicBezTo>
                    <a:pt x="5947" y="1623882"/>
                    <a:pt x="0" y="1609526"/>
                    <a:pt x="0" y="1594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4572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799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Payer mix insights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6572250"/>
            <a:ext cx="3429000" cy="1238250"/>
            <a:chOff x="0" y="0"/>
            <a:chExt cx="4572000" cy="1651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2000" cy="1651000"/>
            </a:xfrm>
            <a:custGeom>
              <a:avLst/>
              <a:gdLst/>
              <a:ahLst/>
              <a:cxnLst/>
              <a:rect l="l" t="t" r="r" b="b"/>
              <a:pathLst>
                <a:path w="4572000" h="1651000">
                  <a:moveTo>
                    <a:pt x="56444" y="0"/>
                  </a:moveTo>
                  <a:lnTo>
                    <a:pt x="4515555" y="0"/>
                  </a:lnTo>
                  <a:cubicBezTo>
                    <a:pt x="4530525" y="0"/>
                    <a:pt x="4544882" y="5947"/>
                    <a:pt x="4555468" y="16532"/>
                  </a:cubicBezTo>
                  <a:cubicBezTo>
                    <a:pt x="4566053" y="27118"/>
                    <a:pt x="4572000" y="41474"/>
                    <a:pt x="4572000" y="56444"/>
                  </a:cubicBezTo>
                  <a:lnTo>
                    <a:pt x="4572000" y="1594556"/>
                  </a:lnTo>
                  <a:cubicBezTo>
                    <a:pt x="4572000" y="1609526"/>
                    <a:pt x="4566053" y="1623882"/>
                    <a:pt x="4555468" y="1634468"/>
                  </a:cubicBezTo>
                  <a:cubicBezTo>
                    <a:pt x="4544882" y="1645053"/>
                    <a:pt x="4530525" y="1651000"/>
                    <a:pt x="4515555" y="1651000"/>
                  </a:cubicBezTo>
                  <a:lnTo>
                    <a:pt x="56444" y="1651000"/>
                  </a:lnTo>
                  <a:cubicBezTo>
                    <a:pt x="41474" y="1651000"/>
                    <a:pt x="27118" y="1645053"/>
                    <a:pt x="16532" y="1634468"/>
                  </a:cubicBezTo>
                  <a:cubicBezTo>
                    <a:pt x="5947" y="1623882"/>
                    <a:pt x="0" y="1609526"/>
                    <a:pt x="0" y="1594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081F3D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4572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399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Specialty-related financial analysis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4577844" y="1415415"/>
            <a:ext cx="13710156" cy="8093497"/>
          </a:xfrm>
          <a:custGeom>
            <a:avLst/>
            <a:gdLst/>
            <a:ahLst/>
            <a:cxnLst/>
            <a:rect l="l" t="t" r="r" b="b"/>
            <a:pathLst>
              <a:path w="13710156" h="8093497">
                <a:moveTo>
                  <a:pt x="0" y="0"/>
                </a:moveTo>
                <a:lnTo>
                  <a:pt x="13710156" y="0"/>
                </a:lnTo>
                <a:lnTo>
                  <a:pt x="13710156" y="8093497"/>
                </a:lnTo>
                <a:lnTo>
                  <a:pt x="0" y="8093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77" r="-17037" b="-325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52837" y="375285"/>
            <a:ext cx="1428750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Financial Performance 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62000"/>
            <a:ext cx="1428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4"/>
              </a:lnSpc>
            </a:pPr>
            <a:r>
              <a:rPr lang="en-US" sz="50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Measurable Impact 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2619375"/>
            <a:ext cx="7524750" cy="5910098"/>
            <a:chOff x="0" y="0"/>
            <a:chExt cx="10033000" cy="7880131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033000" cy="7880131"/>
              <a:chOff x="0" y="0"/>
              <a:chExt cx="10033000" cy="7880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033000" cy="7880131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7880131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7880131"/>
                    </a:lnTo>
                    <a:lnTo>
                      <a:pt x="0" y="7880131"/>
                    </a:lnTo>
                    <a:close/>
                  </a:path>
                </a:pathLst>
              </a:custGeom>
              <a:solidFill>
                <a:srgbClr val="1676B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033000" cy="7918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09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08000" y="396875"/>
              <a:ext cx="86360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1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VERIFIED PROJECT KPIs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8000" y="1253490"/>
              <a:ext cx="8636000" cy="5581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15313" lvl="1" indent="-307657" algn="l">
                <a:lnSpc>
                  <a:spcPts val="4844"/>
                </a:lnSpc>
                <a:buFont typeface="Arial"/>
                <a:buChar char="•"/>
              </a:pPr>
              <a:r>
                <a:rPr lang="en-US" sz="2849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Total Admissions: 500</a:t>
              </a:r>
            </a:p>
            <a:p>
              <a:pPr marL="615313" lvl="1" indent="-307657" algn="l">
                <a:lnSpc>
                  <a:spcPts val="4844"/>
                </a:lnSpc>
                <a:buFont typeface="Arial"/>
                <a:buChar char="•"/>
              </a:pPr>
              <a:r>
                <a:rPr lang="en-US" sz="2849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Average Length of Stay: Approximately 1.28 days</a:t>
              </a:r>
            </a:p>
            <a:p>
              <a:pPr marL="615313" lvl="1" indent="-307657" algn="l">
                <a:lnSpc>
                  <a:spcPts val="4844"/>
                </a:lnSpc>
                <a:buFont typeface="Arial"/>
                <a:buChar char="•"/>
              </a:pPr>
              <a:r>
                <a:rPr lang="en-US" sz="2849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Average Revenue per Admission: Approximately ₹17,047</a:t>
              </a:r>
            </a:p>
            <a:p>
              <a:pPr marL="615313" lvl="1" indent="-307657" algn="l">
                <a:lnSpc>
                  <a:spcPts val="4844"/>
                </a:lnSpc>
                <a:buFont typeface="Arial"/>
                <a:buChar char="•"/>
              </a:pPr>
              <a:r>
                <a:rPr lang="en-US" sz="2849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Total Revenue: ₹85,23,364</a:t>
              </a:r>
            </a:p>
            <a:p>
              <a:pPr algn="l">
                <a:lnSpc>
                  <a:spcPts val="4844"/>
                </a:lnSpc>
              </a:pPr>
              <a:endParaRPr lang="en-US" sz="284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20250" y="2524125"/>
            <a:ext cx="7620000" cy="6092191"/>
            <a:chOff x="0" y="0"/>
            <a:chExt cx="10160000" cy="812292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160000" cy="8122921"/>
              <a:chOff x="0" y="0"/>
              <a:chExt cx="10160000" cy="812292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160000" cy="8122921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8122921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8122921"/>
                    </a:lnTo>
                    <a:lnTo>
                      <a:pt x="0" y="8122921"/>
                    </a:lnTo>
                    <a:close/>
                  </a:path>
                </a:pathLst>
              </a:custGeom>
              <a:solidFill>
                <a:srgbClr val="081F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10160000" cy="81800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08000" y="387350"/>
              <a:ext cx="8636000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 b="1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PROJECT CAPABILITIES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8000" y="1357631"/>
              <a:ext cx="8890000" cy="3427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2699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Easier data exploration</a:t>
              </a:r>
            </a:p>
            <a:p>
              <a:pPr algn="l">
                <a:lnSpc>
                  <a:spcPts val="4184"/>
                </a:lnSpc>
              </a:pPr>
              <a:r>
                <a:rPr lang="en-US" sz="2699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Clearer, concise reporting</a:t>
              </a:r>
            </a:p>
            <a:p>
              <a:pPr algn="l">
                <a:lnSpc>
                  <a:spcPts val="4184"/>
                </a:lnSpc>
              </a:pPr>
              <a:r>
                <a:rPr lang="en-US" sz="2699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Faster access to summaries</a:t>
              </a:r>
            </a:p>
            <a:p>
              <a:pPr algn="l">
                <a:lnSpc>
                  <a:spcPts val="4184"/>
                </a:lnSpc>
              </a:pPr>
              <a:r>
                <a:rPr lang="en-US" sz="2699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Greater visibility into operational and patient-care metrics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71525"/>
            <a:ext cx="14287500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5199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Enhancements 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2714625"/>
            <a:ext cx="16192500" cy="1131570"/>
            <a:chOff x="0" y="0"/>
            <a:chExt cx="21590000" cy="150876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1590000" cy="1508760"/>
              <a:chOff x="0" y="0"/>
              <a:chExt cx="21590000" cy="150876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1590000" cy="1508760"/>
              </a:xfrm>
              <a:custGeom>
                <a:avLst/>
                <a:gdLst/>
                <a:ahLst/>
                <a:cxnLst/>
                <a:rect l="l" t="t" r="r" b="b"/>
                <a:pathLst>
                  <a:path w="21590000" h="150876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508760"/>
                    </a:lnTo>
                    <a:lnTo>
                      <a:pt x="0" y="150876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1590000" cy="15468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09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71500" y="279400"/>
              <a:ext cx="4318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9"/>
                </a:lnSpc>
              </a:pPr>
              <a:r>
                <a:rPr lang="en-US" sz="1649" b="1" spc="131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FUTURE ENHANCEMENT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1500" y="789940"/>
              <a:ext cx="18034000" cy="471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Automated data refresh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50" y="4000500"/>
            <a:ext cx="16192500" cy="1169035"/>
            <a:chOff x="0" y="0"/>
            <a:chExt cx="21590000" cy="155871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1590000" cy="1558713"/>
              <a:chOff x="0" y="0"/>
              <a:chExt cx="21590000" cy="15587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1590000" cy="1558713"/>
              </a:xfrm>
              <a:custGeom>
                <a:avLst/>
                <a:gdLst/>
                <a:ahLst/>
                <a:cxnLst/>
                <a:rect l="l" t="t" r="r" b="b"/>
                <a:pathLst>
                  <a:path w="21590000" h="1558713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558713"/>
                    </a:lnTo>
                    <a:lnTo>
                      <a:pt x="0" y="1558713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21590000" cy="16063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71500" y="279400"/>
              <a:ext cx="4318000" cy="385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49"/>
                </a:lnSpc>
              </a:pPr>
              <a:r>
                <a:rPr lang="en-US" sz="1749" b="1" spc="139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FUTURE ENHANCEMENT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1500" y="811954"/>
              <a:ext cx="180340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6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Predictive admission and revenue analysis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7750" y="5286375"/>
            <a:ext cx="16192500" cy="1224915"/>
            <a:chOff x="0" y="0"/>
            <a:chExt cx="21590000" cy="163322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1590000" cy="1633220"/>
              <a:chOff x="0" y="0"/>
              <a:chExt cx="21590000" cy="163322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1590000" cy="1633220"/>
              </a:xfrm>
              <a:custGeom>
                <a:avLst/>
                <a:gdLst/>
                <a:ahLst/>
                <a:cxnLst/>
                <a:rect l="l" t="t" r="r" b="b"/>
                <a:pathLst>
                  <a:path w="21590000" h="163322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633220"/>
                    </a:lnTo>
                    <a:lnTo>
                      <a:pt x="0" y="163322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21590000" cy="16903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71500" y="269875"/>
              <a:ext cx="4318000" cy="438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49" b="1" spc="155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FUTURE ENHANCEMENT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1500" y="865506"/>
              <a:ext cx="18034000" cy="520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Alerts for unusual trends or anomalies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7750" y="6572250"/>
            <a:ext cx="16192500" cy="1169035"/>
            <a:chOff x="0" y="0"/>
            <a:chExt cx="21590000" cy="1558713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21590000" cy="1558713"/>
              <a:chOff x="0" y="0"/>
              <a:chExt cx="21590000" cy="155871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1590000" cy="1558713"/>
              </a:xfrm>
              <a:custGeom>
                <a:avLst/>
                <a:gdLst/>
                <a:ahLst/>
                <a:cxnLst/>
                <a:rect l="l" t="t" r="r" b="b"/>
                <a:pathLst>
                  <a:path w="21590000" h="1558713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558713"/>
                    </a:lnTo>
                    <a:lnTo>
                      <a:pt x="0" y="1558713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21590000" cy="16063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571500" y="279400"/>
              <a:ext cx="4318000" cy="385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49"/>
                </a:lnSpc>
              </a:pPr>
              <a:r>
                <a:rPr lang="en-US" sz="1749" b="1" spc="139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FUTURE ENHANCEMENT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1500" y="811954"/>
              <a:ext cx="180340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6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Additional interactive filters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47750" y="7858125"/>
            <a:ext cx="16192500" cy="1224915"/>
            <a:chOff x="0" y="0"/>
            <a:chExt cx="21590000" cy="163322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21590000" cy="1633220"/>
              <a:chOff x="0" y="0"/>
              <a:chExt cx="21590000" cy="163322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1590000" cy="1633220"/>
              </a:xfrm>
              <a:custGeom>
                <a:avLst/>
                <a:gdLst/>
                <a:ahLst/>
                <a:cxnLst/>
                <a:rect l="l" t="t" r="r" b="b"/>
                <a:pathLst>
                  <a:path w="21590000" h="163322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633220"/>
                    </a:lnTo>
                    <a:lnTo>
                      <a:pt x="0" y="1633220"/>
                    </a:lnTo>
                    <a:close/>
                  </a:path>
                </a:pathLst>
              </a:custGeom>
              <a:solidFill>
                <a:srgbClr val="D9E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57150"/>
                <a:ext cx="21590000" cy="16903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571500" y="269875"/>
              <a:ext cx="4318000" cy="438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49" b="1" spc="155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FUTURE ENHANCEMENT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1500" y="865506"/>
              <a:ext cx="18034000" cy="520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49" b="1">
                  <a:solidFill>
                    <a:srgbClr val="102A4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Secure integration with hospital data systems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62000"/>
            <a:ext cx="1428750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102A4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Team, Q&amp;A &amp; Video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3886200"/>
            <a:ext cx="5143500" cy="4305299"/>
            <a:chOff x="0" y="0"/>
            <a:chExt cx="6858000" cy="442806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858000" cy="4428069"/>
              <a:chOff x="0" y="0"/>
              <a:chExt cx="6858000" cy="442806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858000" cy="4428069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4428069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4428069"/>
                    </a:lnTo>
                    <a:lnTo>
                      <a:pt x="0" y="4428069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57150"/>
                <a:ext cx="6858000" cy="44852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08000" y="387350"/>
              <a:ext cx="6350000" cy="622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TEAM MEMBERS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8000" y="1363134"/>
              <a:ext cx="6350000" cy="831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02"/>
                </a:lnSpc>
              </a:pPr>
              <a:r>
                <a:rPr lang="en-US" sz="3549" b="1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NAME:NANDINI K 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77050" y="2394183"/>
            <a:ext cx="10382250" cy="4000500"/>
            <a:chOff x="0" y="0"/>
            <a:chExt cx="13843000" cy="5334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843000" cy="5334000"/>
              <a:chOff x="0" y="0"/>
              <a:chExt cx="13843000" cy="5334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3843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13843000" h="5334000">
                    <a:moveTo>
                      <a:pt x="0" y="0"/>
                    </a:moveTo>
                    <a:lnTo>
                      <a:pt x="13843000" y="0"/>
                    </a:lnTo>
                    <a:lnTo>
                      <a:pt x="1384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D9E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3843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08000" y="406400"/>
              <a:ext cx="10414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20A6A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LIKELY QUESTIONS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5636" y="1270903"/>
              <a:ext cx="10795000" cy="1776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How was data cleaning handled?</a:t>
              </a:r>
            </a:p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Which tools were most useful?</a:t>
              </a:r>
            </a:p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02A4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How were dashboard designs chosen?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77125" y="1047750"/>
            <a:ext cx="3333750" cy="3333750"/>
            <a:chOff x="0" y="0"/>
            <a:chExt cx="4445000" cy="444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000" cy="4445000"/>
            </a:xfrm>
            <a:custGeom>
              <a:avLst/>
              <a:gdLst/>
              <a:ahLst/>
              <a:cxnLst/>
              <a:rect l="l" t="t" r="r" b="b"/>
              <a:pathLst>
                <a:path w="4445000" h="4445000">
                  <a:moveTo>
                    <a:pt x="2222500" y="0"/>
                  </a:moveTo>
                  <a:cubicBezTo>
                    <a:pt x="3449953" y="0"/>
                    <a:pt x="4445000" y="995047"/>
                    <a:pt x="4445000" y="2222500"/>
                  </a:cubicBezTo>
                  <a:cubicBezTo>
                    <a:pt x="4445000" y="3449953"/>
                    <a:pt x="3449953" y="4445000"/>
                    <a:pt x="2222500" y="4445000"/>
                  </a:cubicBezTo>
                  <a:cubicBezTo>
                    <a:pt x="995047" y="4445000"/>
                    <a:pt x="0" y="3449953"/>
                    <a:pt x="0" y="2222500"/>
                  </a:cubicBezTo>
                  <a:cubicBezTo>
                    <a:pt x="0" y="995047"/>
                    <a:pt x="995047" y="0"/>
                    <a:pt x="2222500" y="0"/>
                  </a:cubicBezTo>
                  <a:close/>
                </a:path>
              </a:pathLst>
            </a:custGeom>
            <a:solidFill>
              <a:srgbClr val="1676B8">
                <a:alpha val="3176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809750" y="2133600"/>
            <a:ext cx="1466850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24250" y="3886200"/>
            <a:ext cx="11239500" cy="39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25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With gratitude to Infosys Springboard, the project mentor, and the audience.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715250" y="6572250"/>
            <a:ext cx="2857500" cy="57150"/>
            <a:chOff x="0" y="0"/>
            <a:chExt cx="3810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00" cy="76200"/>
            </a:xfrm>
            <a:custGeom>
              <a:avLst/>
              <a:gdLst/>
              <a:ahLst/>
              <a:cxnLst/>
              <a:rect l="l" t="t" r="r" b="b"/>
              <a:pathLst>
                <a:path w="3810000" h="76200">
                  <a:moveTo>
                    <a:pt x="0" y="0"/>
                  </a:moveTo>
                  <a:lnTo>
                    <a:pt x="3810000" y="0"/>
                  </a:lnTo>
                  <a:lnTo>
                    <a:pt x="381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0A6A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8100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14600" y="7353300"/>
            <a:ext cx="114300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D9EDF7"/>
                </a:solidFill>
                <a:latin typeface="Source Sans 3"/>
                <a:ea typeface="Source Sans 3"/>
                <a:cs typeface="Source Sans 3"/>
                <a:sym typeface="Source Sans 3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428</Words>
  <Application>Microsoft Office PowerPoint</Application>
  <PresentationFormat>Custom</PresentationFormat>
  <Paragraphs>140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Source Sans 3 Bold</vt:lpstr>
      <vt:lpstr>Source Sans 3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Analytics Internship</dc:title>
  <cp:lastModifiedBy>Nandini K M</cp:lastModifiedBy>
  <cp:revision>2</cp:revision>
  <dcterms:created xsi:type="dcterms:W3CDTF">2006-08-16T00:00:00Z</dcterms:created>
  <dcterms:modified xsi:type="dcterms:W3CDTF">2026-10-12T16:22:59Z</dcterms:modified>
  <dc:identifier>DAHXx4ch4L8</dc:identifier>
</cp:coreProperties>
</file>