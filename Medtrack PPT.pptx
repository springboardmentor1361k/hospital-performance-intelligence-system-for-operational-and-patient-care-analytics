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Rows</c:v>
                </c:pt>
              </c:strCache>
            </c:strRef>
          </c:tx>
          <c:spPr>
            <a:solidFill>
              <a:srgbClr val="1B7F86"/>
            </a:solidFill>
            <a:effectLst/>
          </c:spPr>
          <c:invertIfNegative val="0"/>
          <c:dLbls>
            <c:numFmt formatCode="#,##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Sheet1!$A$2:$A$8</c:f>
              <c:multiLvlStrCache>
                <c:ptCount val="7"/>
                <c:lvl>
                  <c:pt idx="0">
                    <c:v>billing_detail</c:v>
                  </c:pt>
                  <c:pt idx="1">
                    <c:v>prescription</c:v>
                  </c:pt>
                  <c:pt idx="2">
                    <c:v>patient_diagnostic</c:v>
                  </c:pt>
                  <c:pt idx="3">
                    <c:v>admission</c:v>
                  </c:pt>
                  <c:pt idx="4">
                    <c:v>billing</c:v>
                  </c:pt>
                  <c:pt idx="5">
                    <c:v>patient</c:v>
                  </c:pt>
                  <c:pt idx="6">
                    <c:v>patient_insurance</c:v>
                  </c:pt>
                </c:lvl>
              </c:multiLvlStrCache>
            </c:multiLvlStrRef>
          </c:cat>
          <c:val>
            <c:numRef>
              <c:f>Sheet1!$B$2:$B$8</c:f>
              <c:numCache>
                <c:formatCode>General</c:formatCode>
                <c:ptCount val="7"/>
                <c:pt idx="0">
                  <c:v>112402</c:v>
                </c:pt>
                <c:pt idx="1">
                  <c:v>73109</c:v>
                </c:pt>
                <c:pt idx="2">
                  <c:v>63269</c:v>
                </c:pt>
                <c:pt idx="3">
                  <c:v>45000</c:v>
                </c:pt>
                <c:pt idx="4">
                  <c:v>45000</c:v>
                </c:pt>
                <c:pt idx="5">
                  <c:v>30000</c:v>
                </c:pt>
                <c:pt idx="6">
                  <c:v>21617</c:v>
                </c:pt>
              </c:numCache>
            </c:numRef>
          </c:val>
        </c:ser>
        <c:dLbls>
          <c:numFmt formatCode="#,##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Admissions</c:v>
                </c:pt>
              </c:strCache>
            </c:strRef>
          </c:tx>
          <c:spPr>
            <a:solidFill>
              <a:srgbClr val="3D5A8A"/>
            </a:solidFill>
            <a:effectLst/>
          </c:spPr>
          <c:invertIfNegative val="0"/>
          <c:dLbls>
            <c:numFmt formatCode="#,##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Surgery</c:v>
                  </c:pt>
                  <c:pt idx="1">
                    <c:v>Emergency</c:v>
                  </c:pt>
                  <c:pt idx="2">
                    <c:v>Pediatrics</c:v>
                  </c:pt>
                  <c:pt idx="3">
                    <c:v>Int. Medicine</c:v>
                  </c:pt>
                  <c:pt idx="4">
                    <c:v>Orthopedics</c:v>
                  </c:pt>
                  <c:pt idx="5">
                    <c:v>ICU</c:v>
                  </c:pt>
                </c:lvl>
              </c:multiLvlStrCache>
            </c:multiLvlStrRef>
          </c:cat>
          <c:val>
            <c:numRef>
              <c:f>Sheet1!$B$2:$B$7</c:f>
              <c:numCache>
                <c:formatCode>General</c:formatCode>
                <c:ptCount val="6"/>
                <c:pt idx="0">
                  <c:v>10126</c:v>
                </c:pt>
                <c:pt idx="1">
                  <c:v>8777</c:v>
                </c:pt>
                <c:pt idx="2">
                  <c:v>8438</c:v>
                </c:pt>
                <c:pt idx="3">
                  <c:v>7695</c:v>
                </c:pt>
                <c:pt idx="4">
                  <c:v>5924</c:v>
                </c:pt>
                <c:pt idx="5">
                  <c:v>4040</c:v>
                </c:pt>
              </c:numCache>
            </c:numRef>
          </c:val>
        </c:ser>
        <c:dLbls>
          <c:numFmt formatCode="#,##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E07B5F"/>
            </a:solidFill>
            <a:effectLst/>
          </c:spPr>
          <c:invertIfNegative val="0"/>
          <c:dLbls>
            <c:numFmt formatCode="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Orthopedics</c:v>
                  </c:pt>
                  <c:pt idx="1">
                    <c:v>Emergency</c:v>
                  </c:pt>
                  <c:pt idx="2">
                    <c:v>Pediatrics</c:v>
                  </c:pt>
                  <c:pt idx="3">
                    <c:v>Surgery</c:v>
                  </c:pt>
                  <c:pt idx="4">
                    <c:v>Int. Medicine</c:v>
                  </c:pt>
                  <c:pt idx="5">
                    <c:v>ICU</c:v>
                  </c:pt>
                </c:lvl>
              </c:multiLvlStrCache>
            </c:multiLvlStrRef>
          </c:cat>
          <c:val>
            <c:numRef>
              <c:f>Sheet1!$B$2:$B$7</c:f>
              <c:numCache>
                <c:formatCode>General</c:formatCode>
                <c:ptCount val="6"/>
                <c:pt idx="0">
                  <c:v>75.9</c:v>
                </c:pt>
                <c:pt idx="1">
                  <c:v>56.9</c:v>
                </c:pt>
                <c:pt idx="2">
                  <c:v>56.4</c:v>
                </c:pt>
                <c:pt idx="3">
                  <c:v>46.4</c:v>
                </c:pt>
                <c:pt idx="4">
                  <c:v>46</c:v>
                </c:pt>
                <c:pt idx="5">
                  <c:v>35.5</c:v>
                </c:pt>
              </c:numCache>
            </c:numRef>
          </c:val>
        </c:ser>
        <c:dLbls>
          <c:numFmt formatCode="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LOS</c:v>
                </c:pt>
              </c:strCache>
            </c:strRef>
          </c:tx>
          <c:spPr>
            <a:solidFill>
              <a:srgbClr val="1B7F86"/>
            </a:solidFill>
            <a:effectLst/>
          </c:spPr>
          <c:invertIfNegative val="0"/>
          <c:dLbls>
            <c:numFmt formatCode="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Surgery</c:v>
                  </c:pt>
                  <c:pt idx="1">
                    <c:v>Emergency</c:v>
                  </c:pt>
                  <c:pt idx="2">
                    <c:v>Pediatrics</c:v>
                  </c:pt>
                  <c:pt idx="3">
                    <c:v>Int. Medicine</c:v>
                  </c:pt>
                  <c:pt idx="4">
                    <c:v>Orthopedics</c:v>
                  </c:pt>
                  <c:pt idx="5">
                    <c:v>ICU</c:v>
                  </c:pt>
                </c:lvl>
              </c:multiLvlStrCache>
            </c:multiLvlStrRef>
          </c:cat>
          <c:val>
            <c:numRef>
              <c:f>Sheet1!$B$2:$B$7</c:f>
              <c:numCache>
                <c:formatCode>General</c:formatCode>
                <c:ptCount val="6"/>
                <c:pt idx="0">
                  <c:v>4.67</c:v>
                </c:pt>
                <c:pt idx="1">
                  <c:v>4.69</c:v>
                </c:pt>
                <c:pt idx="2">
                  <c:v>4.69</c:v>
                </c:pt>
                <c:pt idx="3">
                  <c:v>4.66</c:v>
                </c:pt>
                <c:pt idx="4">
                  <c:v>4.68</c:v>
                </c:pt>
                <c:pt idx="5">
                  <c:v>9.98</c:v>
                </c:pt>
              </c:numCache>
            </c:numRef>
          </c:val>
        </c:ser>
        <c:dLbls>
          <c:numFmt formatCode="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Readmission</c:v>
                </c:pt>
              </c:strCache>
            </c:strRef>
          </c:tx>
          <c:spPr>
            <a:solidFill>
              <a:srgbClr val="3D5A8A"/>
            </a:solidFill>
            <a:effectLst/>
          </c:spPr>
          <c:invertIfNegative val="0"/>
          <c:dLbls>
            <c:numFmt formatCode="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Sheet1!$A$2:$A$7</c:f>
              <c:multiLvlStrCache>
                <c:ptCount val="6"/>
                <c:lvl>
                  <c:pt idx="0">
                    <c:v>Ortho</c:v>
                  </c:pt>
                  <c:pt idx="1">
                    <c:v>Emerg.</c:v>
                  </c:pt>
                  <c:pt idx="2">
                    <c:v>Pedia.</c:v>
                  </c:pt>
                  <c:pt idx="3">
                    <c:v>Surgery</c:v>
                  </c:pt>
                  <c:pt idx="4">
                    <c:v>Int. Med.</c:v>
                  </c:pt>
                  <c:pt idx="5">
                    <c:v>ICU</c:v>
                  </c:pt>
                </c:lvl>
              </c:multiLvlStrCache>
            </c:multiLvlStrRef>
          </c:cat>
          <c:val>
            <c:numRef>
              <c:f>Sheet1!$B$2:$B$7</c:f>
              <c:numCache>
                <c:formatCode>General</c:formatCode>
                <c:ptCount val="6"/>
                <c:pt idx="0">
                  <c:v>1.94</c:v>
                </c:pt>
                <c:pt idx="1">
                  <c:v>2.2</c:v>
                </c:pt>
                <c:pt idx="2">
                  <c:v>2.2</c:v>
                </c:pt>
                <c:pt idx="3">
                  <c:v>2.18</c:v>
                </c:pt>
                <c:pt idx="4">
                  <c:v>2.3</c:v>
                </c:pt>
                <c:pt idx="5">
                  <c:v>2.33</c:v>
                </c:pt>
              </c:numCache>
            </c:numRef>
          </c:val>
        </c:ser>
        <c:dLbls>
          <c:numFmt formatCode="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Findings</c:v>
                </c:pt>
              </c:strCache>
            </c:strRef>
          </c:tx>
          <c:spPr>
            <a:solidFill>
              <a:schemeClr val="accent1"/>
            </a:solidFill>
            <a:ln w="9525" cap="flat">
              <a:solidFill>
                <a:srgbClr val="F9F9F9"/>
              </a:solidFill>
              <a:prstDash val="solid"/>
              <a:round/>
            </a:ln>
            <a:effectLst/>
          </c:spPr>
          <c:dPt>
            <c:idx val="0"/>
            <c:bubble3D val="0"/>
            <c:spPr>
              <a:solidFill>
                <a:srgbClr val="E07B5F"/>
              </a:solidFill>
              <a:effectLst/>
            </c:spPr>
          </c:dPt>
          <c:dPt>
            <c:idx val="1"/>
            <c:bubble3D val="0"/>
            <c:spPr>
              <a:solidFill>
                <a:srgbClr val="EBC99A"/>
              </a:solidFill>
              <a:effectLst/>
            </c:spPr>
          </c:dPt>
          <c:dPt>
            <c:idx val="2"/>
            <c:bubble3D val="0"/>
            <c:spPr>
              <a:solidFill>
                <a:srgbClr val="1B7F86"/>
              </a:solidFill>
              <a:effectLst/>
            </c:spPr>
          </c:dPt>
          <c:dPt>
            <c:idx val="3"/>
            <c:bubble3D val="0"/>
            <c:spPr>
              <a:solidFill>
                <a:srgbClr val="3D5A8A"/>
              </a:solidFill>
              <a:effectLst/>
            </c:spPr>
          </c:dPt>
          <c:dLbls>
            <c:dLbl>
              <c:idx val="0"/>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3"/>
              <c:numFmt formatCode="General"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Calibri"/>
                  </a:defRPr>
                </a:pPr>
              </a:p>
            </c:txPr>
            <c:showLegendKey val="0"/>
            <c:showVal val="0"/>
            <c:showCatName val="1"/>
            <c:showSerName val="0"/>
            <c:showPercent val="1"/>
            <c:showBubbleSize val="0"/>
            <c:showLeaderLines val="0"/>
          </c:dLbls>
          <c:cat>
            <c:strRef>
              <c:f>Sheet1!$A$2:$A$5</c:f>
              <c:strCache>
                <c:ptCount val="4"/>
                <c:pt idx="0">
                  <c:v>High</c:v>
                </c:pt>
                <c:pt idx="1">
                  <c:v>Medium</c:v>
                </c:pt>
                <c:pt idx="2">
                  <c:v>Low</c:v>
                </c:pt>
                <c:pt idx="3">
                  <c:v>Info</c:v>
                </c:pt>
              </c:strCache>
            </c:strRef>
          </c:cat>
          <c:val>
            <c:numRef>
              <c:f>Sheet1!$B$2:$B$5</c:f>
              <c:numCache>
                <c:ptCount val="4"/>
                <c:pt idx="0">
                  <c:v>3</c:v>
                </c:pt>
                <c:pt idx="1">
                  <c:v>5</c:v>
                </c:pt>
                <c:pt idx="2">
                  <c:v>2</c:v>
                </c:pt>
                <c:pt idx="3">
                  <c:v>1</c:v>
                </c:pt>
              </c:numCache>
            </c:numRef>
          </c:val>
        </c:ser>
        <c:firstSliceAng val="0"/>
        <c:holeSize val="55"/>
      </c:doughnutChart>
      <c:spPr>
        <a:noFill/>
        <a:ln>
          <a:noFill/>
        </a:ln>
        <a:effectLst/>
      </c:spPr>
    </c:plotArea>
    <c:legend>
      <c:legendPos val="r"/>
      <c:overlay val="0"/>
      <c:txPr>
        <a:bodyPr/>
        <a:lstStyle/>
        <a:p>
          <a:pPr>
            <a:defRPr sz="1000">
              <a:solidFill>
                <a:srgbClr val="33415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This is my portfolio for MedTrack_DV, covering four milestones: clean the data, plan the dashboards, analyze departments, and verify data integrity. The theme is getting from raw hospital data to dashboards the team can trust.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map of the four milestones. M1 cleaned the data, M2 designed the storyboards, M3 analyzed departments, M4 tested keys and relationships. Each one builds on the last.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Milestone 1 covered all 19 tables: 45,000 admissions and 30,000 patients. I standardized IDs, converted dates to YYYY-MM-DD, labeled text gaps as Unknown, and left ID gaps blank so joins are not corrupted. No exact duplicates were found; repeated transactions are legitimate and were kept.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Nothing was lost in cleaning: zero rows removed. billing_detail is the largest table at 112,402 rows. The 67,402 blank reference IDs are intentional. The three final-pass corrections were reverting a text fill in reference_id, restoring ICU and HR acronyms, and fixing Govt / Private casing.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dashboards, each answering one question: what is happening in the hospital, what is happening with patients, and how efficiently are resources used.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dashboard follows the same five-step flow: purpose, KPIs, charts, filters, interactions. Filters include year, admission date, department, ward, admission type and disease. Clicking a department cross-filters related charts.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Surgery is the busiest department with 10,126 admissions, but Orthopedics has the highest efficiency score at 75.9. ICU has the lowest score at 35.5. Total admissions equal total discharges at 45,000.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standout is ICU: average stay is 9.98 days versus about 4.7 everywhere else. Readmission rates are tightly grouped between roughly 1.9% and 2.3%, and average bed occupancy sits between 24% and 28%.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19 primary keys and 23 foreign keys passed with zero orphans, and 13 relationship checks passed. The 11 business-logic findings are split by severity: 3 High, 5 Medium, 2 Low, 1 Info.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High findings need team decisions. Bill totals differ from line-item sums in 44,998 of 45,000 bills. 44,894 bills fall outside the admission window. All admissions are Discharged, yet 270 beds show Occupied. Next step: agree on one official revenue column and confirm handling with dashboard owners.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Summary: clean data, a clear storyline and verified keys give the team dashboards it can trust. Future work is to resolve the High findings, add real-time data and automate the data checks.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chart" Target="../charts/chart1.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chart" Target="../charts/chart6.xml"/><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0" y="-1371600"/>
            <a:ext cx="5120640" cy="5120640"/>
          </a:xfrm>
          <a:prstGeom prst="ellipse">
            <a:avLst/>
          </a:prstGeom>
          <a:solidFill>
            <a:srgbClr val="1B7F86">
              <a:alpha val="60000"/>
            </a:srgbClr>
          </a:solidFill>
          <a:ln w="12700">
            <a:solidFill>
              <a:srgbClr val="1B7F86">
                <a:alpha val="60000"/>
              </a:srgbClr>
            </a:solidFill>
            <a:prstDash val="solid"/>
          </a:ln>
        </p:spPr>
        <p:txBody>
          <a:bodyPr/>
          <a:p/>
        </p:txBody>
      </p:sp>
      <p:sp>
        <p:nvSpPr>
          <p:cNvPr id="3" name="Shape 1"/>
          <p:cNvSpPr/>
          <p:nvPr/>
        </p:nvSpPr>
        <p:spPr>
          <a:xfrm>
            <a:off x="7132320" y="2377440"/>
            <a:ext cx="3657600" cy="3657600"/>
          </a:xfrm>
          <a:prstGeom prst="ellipse">
            <a:avLst/>
          </a:prstGeom>
          <a:solidFill>
            <a:srgbClr val="E07B5F">
              <a:alpha val="45000"/>
            </a:srgbClr>
          </a:solidFill>
          <a:ln w="12700">
            <a:solidFill>
              <a:srgbClr val="E07B5F">
                <a:alpha val="45000"/>
              </a:srgbClr>
            </a:solidFill>
            <a:prstDash val="solid"/>
          </a:ln>
        </p:spPr>
        <p:txBody>
          <a:bodyPr/>
          <a:p/>
        </p:txBody>
      </p:sp>
      <p:sp>
        <p:nvSpPr>
          <p:cNvPr id="6" name="Text 4"/>
          <p:cNvSpPr txBox="1"/>
          <p:nvPr/>
        </p:nvSpPr>
        <p:spPr>
          <a:xfrm>
            <a:off x="640080" y="1234440"/>
            <a:ext cx="54864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MedTrack_DV</a:t>
            </a:r>
            <a:endParaRPr lang="en-US" sz="5400" dirty="0"/>
          </a:p>
        </p:txBody>
      </p:sp>
      <p:sp>
        <p:nvSpPr>
          <p:cNvPr id="7" name="Text 5"/>
          <p:cNvSpPr txBox="1"/>
          <p:nvPr/>
        </p:nvSpPr>
        <p:spPr>
          <a:xfrm>
            <a:off x="640080" y="2194560"/>
            <a:ext cx="5029200" cy="457200"/>
          </a:xfrm>
          <a:prstGeom prst="rect">
            <a:avLst/>
          </a:prstGeom>
          <a:noFill/>
          <a:ln/>
        </p:spPr>
        <p:txBody>
          <a:bodyPr wrap="square" lIns="0" tIns="0" rIns="0" bIns="0" rtlCol="0" anchor="ctr"/>
          <a:lstStyle/>
          <a:p>
            <a:pPr indent="0" marL="0">
              <a:buNone/>
            </a:pPr>
            <a:r>
              <a:rPr lang="en-US" sz="1900" dirty="0">
                <a:solidFill>
                  <a:srgbClr val="CBD5E1"/>
                </a:solidFill>
                <a:latin typeface="Calibri" pitchFamily="34" charset="0"/>
                <a:ea typeface="Calibri" pitchFamily="34" charset="-122"/>
                <a:cs typeface="Calibri" pitchFamily="34" charset="-120"/>
              </a:rPr>
              <a:t>From clean data to trusted dashboards</a:t>
            </a:r>
            <a:endParaRPr lang="en-US" sz="1900" dirty="0"/>
          </a:p>
        </p:txBody>
      </p:sp>
      <p:sp>
        <p:nvSpPr>
          <p:cNvPr id="8" name="Shape 6"/>
          <p:cNvSpPr/>
          <p:nvPr/>
        </p:nvSpPr>
        <p:spPr>
          <a:xfrm>
            <a:off x="640080" y="2788920"/>
            <a:ext cx="1097280" cy="54864"/>
          </a:xfrm>
          <a:prstGeom prst="rect">
            <a:avLst/>
          </a:prstGeom>
          <a:solidFill>
            <a:srgbClr val="EBC99A"/>
          </a:solidFill>
          <a:ln w="12700">
            <a:solidFill>
              <a:srgbClr val="EBC99A"/>
            </a:solidFill>
            <a:prstDash val="solid"/>
          </a:ln>
        </p:spPr>
        <p:txBody>
          <a:bodyPr/>
          <a:p/>
        </p:txBody>
      </p:sp>
      <p:sp>
        <p:nvSpPr>
          <p:cNvPr id="9" name="Shape 7"/>
          <p:cNvSpPr/>
          <p:nvPr/>
        </p:nvSpPr>
        <p:spPr>
          <a:xfrm>
            <a:off x="640080" y="3383280"/>
            <a:ext cx="1325880" cy="868680"/>
          </a:xfrm>
          <a:prstGeom prst="roundRect">
            <a:avLst>
              <a:gd name="adj" fmla="val 10526"/>
            </a:avLst>
          </a:prstGeom>
          <a:solidFill>
            <a:srgbClr val="FFFFFF">
              <a:alpha val="10000"/>
            </a:srgbClr>
          </a:solidFill>
          <a:ln w="12700">
            <a:solidFill>
              <a:srgbClr val="FFFFFF">
                <a:alpha val="30000"/>
              </a:srgbClr>
            </a:solidFill>
            <a:prstDash val="solid"/>
          </a:ln>
        </p:spPr>
        <p:txBody>
          <a:bodyPr/>
          <a:p/>
        </p:txBody>
      </p:sp>
      <p:sp>
        <p:nvSpPr>
          <p:cNvPr id="10" name="Shape 8"/>
          <p:cNvSpPr/>
          <p:nvPr/>
        </p:nvSpPr>
        <p:spPr>
          <a:xfrm>
            <a:off x="749808" y="3520440"/>
            <a:ext cx="384048" cy="384048"/>
          </a:xfrm>
          <a:prstGeom prst="ellipse">
            <a:avLst/>
          </a:prstGeom>
          <a:solidFill>
            <a:srgbClr val="1B7F86"/>
          </a:solidFill>
          <a:ln w="12700">
            <a:solidFill>
              <a:srgbClr val="1B7F86"/>
            </a:solidFill>
            <a:prstDash val="solid"/>
          </a:ln>
        </p:spPr>
        <p:txBody>
          <a:bodyPr/>
          <a:p/>
        </p:txBody>
      </p:sp>
      <p:pic>
        <p:nvPicPr>
          <p:cNvPr id="11" name="Image 0" descr="preencoded.png">    </p:cNvPr>
          <p:cNvPicPr>
            <a:picLocks noChangeAspect="1"/>
          </p:cNvPicPr>
          <p:nvPr/>
        </p:nvPicPr>
        <p:blipFill>
          <a:blip r:embed="rId2"/>
          <a:stretch>
            <a:fillRect/>
          </a:stretch>
        </p:blipFill>
        <p:spPr>
          <a:xfrm>
            <a:off x="845820" y="3616452"/>
            <a:ext cx="192024" cy="192024"/>
          </a:xfrm>
          <a:prstGeom prst="rect">
            <a:avLst/>
          </a:prstGeom>
        </p:spPr>
      </p:pic>
      <p:sp>
        <p:nvSpPr>
          <p:cNvPr id="12" name="Text 9"/>
          <p:cNvSpPr txBox="1"/>
          <p:nvPr/>
        </p:nvSpPr>
        <p:spPr>
          <a:xfrm>
            <a:off x="1207008" y="3493008"/>
            <a:ext cx="731520" cy="228600"/>
          </a:xfrm>
          <a:prstGeom prst="rect">
            <a:avLst/>
          </a:prstGeom>
          <a:noFill/>
          <a:ln/>
        </p:spPr>
        <p:txBody>
          <a:bodyPr wrap="square" lIns="0" tIns="0" rIns="0" bIns="0" rtlCol="0" anchor="ctr"/>
          <a:lstStyle/>
          <a:p>
            <a:pPr indent="0" marL="0">
              <a:buNone/>
            </a:pPr>
            <a:r>
              <a:rPr lang="en-US" sz="1000" b="1" dirty="0">
                <a:solidFill>
                  <a:srgbClr val="EBC99A"/>
                </a:solidFill>
                <a:latin typeface="Calibri" pitchFamily="34" charset="0"/>
                <a:ea typeface="Calibri" pitchFamily="34" charset="-122"/>
                <a:cs typeface="Calibri" pitchFamily="34" charset="-120"/>
              </a:rPr>
              <a:t>M1</a:t>
            </a:r>
            <a:endParaRPr lang="en-US" sz="1000" dirty="0"/>
          </a:p>
        </p:txBody>
      </p:sp>
      <p:sp>
        <p:nvSpPr>
          <p:cNvPr id="13" name="Text 10"/>
          <p:cNvSpPr txBox="1"/>
          <p:nvPr/>
        </p:nvSpPr>
        <p:spPr>
          <a:xfrm>
            <a:off x="1207008" y="3703320"/>
            <a:ext cx="731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Clean</a:t>
            </a:r>
            <a:endParaRPr lang="en-US" sz="1300" dirty="0"/>
          </a:p>
        </p:txBody>
      </p:sp>
      <p:sp>
        <p:nvSpPr>
          <p:cNvPr id="14" name="Shape 11"/>
          <p:cNvSpPr/>
          <p:nvPr/>
        </p:nvSpPr>
        <p:spPr>
          <a:xfrm>
            <a:off x="2103120" y="3383280"/>
            <a:ext cx="1325880" cy="868680"/>
          </a:xfrm>
          <a:prstGeom prst="roundRect">
            <a:avLst>
              <a:gd name="adj" fmla="val 10526"/>
            </a:avLst>
          </a:prstGeom>
          <a:solidFill>
            <a:srgbClr val="FFFFFF">
              <a:alpha val="10000"/>
            </a:srgbClr>
          </a:solidFill>
          <a:ln w="12700">
            <a:solidFill>
              <a:srgbClr val="FFFFFF">
                <a:alpha val="30000"/>
              </a:srgbClr>
            </a:solidFill>
            <a:prstDash val="solid"/>
          </a:ln>
        </p:spPr>
        <p:txBody>
          <a:bodyPr/>
          <a:p/>
        </p:txBody>
      </p:sp>
      <p:sp>
        <p:nvSpPr>
          <p:cNvPr id="15" name="Shape 12"/>
          <p:cNvSpPr/>
          <p:nvPr/>
        </p:nvSpPr>
        <p:spPr>
          <a:xfrm>
            <a:off x="2212848" y="3520440"/>
            <a:ext cx="384048" cy="384048"/>
          </a:xfrm>
          <a:prstGeom prst="ellipse">
            <a:avLst/>
          </a:prstGeom>
          <a:solidFill>
            <a:srgbClr val="E07B5F"/>
          </a:solidFill>
          <a:ln w="12700">
            <a:solidFill>
              <a:srgbClr val="E07B5F"/>
            </a:solidFill>
            <a:prstDash val="solid"/>
          </a:ln>
        </p:spPr>
        <p:txBody>
          <a:bodyPr/>
          <a:p/>
        </p:txBody>
      </p:sp>
      <p:pic>
        <p:nvPicPr>
          <p:cNvPr id="16" name="Image 1" descr="preencoded.png">    </p:cNvPr>
          <p:cNvPicPr>
            <a:picLocks noChangeAspect="1"/>
          </p:cNvPicPr>
          <p:nvPr/>
        </p:nvPicPr>
        <p:blipFill>
          <a:blip r:embed="rId3"/>
          <a:stretch>
            <a:fillRect/>
          </a:stretch>
        </p:blipFill>
        <p:spPr>
          <a:xfrm>
            <a:off x="2308860" y="3616452"/>
            <a:ext cx="192024" cy="192024"/>
          </a:xfrm>
          <a:prstGeom prst="rect">
            <a:avLst/>
          </a:prstGeom>
        </p:spPr>
      </p:pic>
      <p:sp>
        <p:nvSpPr>
          <p:cNvPr id="17" name="Text 13"/>
          <p:cNvSpPr txBox="1"/>
          <p:nvPr/>
        </p:nvSpPr>
        <p:spPr>
          <a:xfrm>
            <a:off x="2670048" y="3493008"/>
            <a:ext cx="731520" cy="228600"/>
          </a:xfrm>
          <a:prstGeom prst="rect">
            <a:avLst/>
          </a:prstGeom>
          <a:noFill/>
          <a:ln/>
        </p:spPr>
        <p:txBody>
          <a:bodyPr wrap="square" lIns="0" tIns="0" rIns="0" bIns="0" rtlCol="0" anchor="ctr"/>
          <a:lstStyle/>
          <a:p>
            <a:pPr indent="0" marL="0">
              <a:buNone/>
            </a:pPr>
            <a:r>
              <a:rPr lang="en-US" sz="1000" b="1" dirty="0">
                <a:solidFill>
                  <a:srgbClr val="EBC99A"/>
                </a:solidFill>
                <a:latin typeface="Calibri" pitchFamily="34" charset="0"/>
                <a:ea typeface="Calibri" pitchFamily="34" charset="-122"/>
                <a:cs typeface="Calibri" pitchFamily="34" charset="-120"/>
              </a:rPr>
              <a:t>M2</a:t>
            </a:r>
            <a:endParaRPr lang="en-US" sz="1000" dirty="0"/>
          </a:p>
        </p:txBody>
      </p:sp>
      <p:sp>
        <p:nvSpPr>
          <p:cNvPr id="18" name="Text 14"/>
          <p:cNvSpPr txBox="1"/>
          <p:nvPr/>
        </p:nvSpPr>
        <p:spPr>
          <a:xfrm>
            <a:off x="2670048" y="3703320"/>
            <a:ext cx="731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19" name="Shape 15"/>
          <p:cNvSpPr/>
          <p:nvPr/>
        </p:nvSpPr>
        <p:spPr>
          <a:xfrm>
            <a:off x="3566160" y="3383280"/>
            <a:ext cx="1325880" cy="868680"/>
          </a:xfrm>
          <a:prstGeom prst="roundRect">
            <a:avLst>
              <a:gd name="adj" fmla="val 10526"/>
            </a:avLst>
          </a:prstGeom>
          <a:solidFill>
            <a:srgbClr val="FFFFFF">
              <a:alpha val="10000"/>
            </a:srgbClr>
          </a:solidFill>
          <a:ln w="12700">
            <a:solidFill>
              <a:srgbClr val="FFFFFF">
                <a:alpha val="30000"/>
              </a:srgbClr>
            </a:solidFill>
            <a:prstDash val="solid"/>
          </a:ln>
        </p:spPr>
        <p:txBody>
          <a:bodyPr/>
          <a:p/>
        </p:txBody>
      </p:sp>
      <p:sp>
        <p:nvSpPr>
          <p:cNvPr id="20" name="Shape 16"/>
          <p:cNvSpPr/>
          <p:nvPr/>
        </p:nvSpPr>
        <p:spPr>
          <a:xfrm>
            <a:off x="3675888" y="3520440"/>
            <a:ext cx="384048" cy="384048"/>
          </a:xfrm>
          <a:prstGeom prst="ellipse">
            <a:avLst/>
          </a:prstGeom>
          <a:solidFill>
            <a:srgbClr val="3D5A8A"/>
          </a:solidFill>
          <a:ln w="12700">
            <a:solidFill>
              <a:srgbClr val="3D5A8A"/>
            </a:solidFill>
            <a:prstDash val="solid"/>
          </a:ln>
        </p:spPr>
        <p:txBody>
          <a:bodyPr/>
          <a:p/>
        </p:txBody>
      </p:sp>
      <p:pic>
        <p:nvPicPr>
          <p:cNvPr id="21" name="Image 2" descr="preencoded.png">    </p:cNvPr>
          <p:cNvPicPr>
            <a:picLocks noChangeAspect="1"/>
          </p:cNvPicPr>
          <p:nvPr/>
        </p:nvPicPr>
        <p:blipFill>
          <a:blip r:embed="rId4"/>
          <a:stretch>
            <a:fillRect/>
          </a:stretch>
        </p:blipFill>
        <p:spPr>
          <a:xfrm>
            <a:off x="3771900" y="3616452"/>
            <a:ext cx="192024" cy="192024"/>
          </a:xfrm>
          <a:prstGeom prst="rect">
            <a:avLst/>
          </a:prstGeom>
        </p:spPr>
      </p:pic>
      <p:sp>
        <p:nvSpPr>
          <p:cNvPr id="22" name="Text 17"/>
          <p:cNvSpPr txBox="1"/>
          <p:nvPr/>
        </p:nvSpPr>
        <p:spPr>
          <a:xfrm>
            <a:off x="4133088" y="3493008"/>
            <a:ext cx="731520" cy="228600"/>
          </a:xfrm>
          <a:prstGeom prst="rect">
            <a:avLst/>
          </a:prstGeom>
          <a:noFill/>
          <a:ln/>
        </p:spPr>
        <p:txBody>
          <a:bodyPr wrap="square" lIns="0" tIns="0" rIns="0" bIns="0" rtlCol="0" anchor="ctr"/>
          <a:lstStyle/>
          <a:p>
            <a:pPr indent="0" marL="0">
              <a:buNone/>
            </a:pPr>
            <a:r>
              <a:rPr lang="en-US" sz="1000" b="1" dirty="0">
                <a:solidFill>
                  <a:srgbClr val="EBC99A"/>
                </a:solidFill>
                <a:latin typeface="Calibri" pitchFamily="34" charset="0"/>
                <a:ea typeface="Calibri" pitchFamily="34" charset="-122"/>
                <a:cs typeface="Calibri" pitchFamily="34" charset="-120"/>
              </a:rPr>
              <a:t>M3</a:t>
            </a:r>
            <a:endParaRPr lang="en-US" sz="1000" dirty="0"/>
          </a:p>
        </p:txBody>
      </p:sp>
      <p:sp>
        <p:nvSpPr>
          <p:cNvPr id="23" name="Text 18"/>
          <p:cNvSpPr txBox="1"/>
          <p:nvPr/>
        </p:nvSpPr>
        <p:spPr>
          <a:xfrm>
            <a:off x="4133088" y="3703320"/>
            <a:ext cx="731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Analyze</a:t>
            </a:r>
            <a:endParaRPr lang="en-US" sz="1300" dirty="0"/>
          </a:p>
        </p:txBody>
      </p:sp>
      <p:sp>
        <p:nvSpPr>
          <p:cNvPr id="24" name="Shape 19"/>
          <p:cNvSpPr/>
          <p:nvPr/>
        </p:nvSpPr>
        <p:spPr>
          <a:xfrm>
            <a:off x="5029200" y="3383280"/>
            <a:ext cx="1325880" cy="868680"/>
          </a:xfrm>
          <a:prstGeom prst="roundRect">
            <a:avLst>
              <a:gd name="adj" fmla="val 10526"/>
            </a:avLst>
          </a:prstGeom>
          <a:solidFill>
            <a:srgbClr val="FFFFFF">
              <a:alpha val="10000"/>
            </a:srgbClr>
          </a:solidFill>
          <a:ln w="12700">
            <a:solidFill>
              <a:srgbClr val="FFFFFF">
                <a:alpha val="30000"/>
              </a:srgbClr>
            </a:solidFill>
            <a:prstDash val="solid"/>
          </a:ln>
        </p:spPr>
        <p:txBody>
          <a:bodyPr/>
          <a:p/>
        </p:txBody>
      </p:sp>
      <p:sp>
        <p:nvSpPr>
          <p:cNvPr id="25" name="Shape 20"/>
          <p:cNvSpPr/>
          <p:nvPr/>
        </p:nvSpPr>
        <p:spPr>
          <a:xfrm>
            <a:off x="5138928" y="3520440"/>
            <a:ext cx="384048" cy="384048"/>
          </a:xfrm>
          <a:prstGeom prst="ellipse">
            <a:avLst/>
          </a:prstGeom>
          <a:solidFill>
            <a:srgbClr val="8B5E83"/>
          </a:solidFill>
          <a:ln w="12700">
            <a:solidFill>
              <a:srgbClr val="8B5E83"/>
            </a:solidFill>
            <a:prstDash val="solid"/>
          </a:ln>
        </p:spPr>
        <p:txBody>
          <a:bodyPr/>
          <a:p/>
        </p:txBody>
      </p:sp>
      <p:pic>
        <p:nvPicPr>
          <p:cNvPr id="26" name="Image 3" descr="preencoded.png">    </p:cNvPr>
          <p:cNvPicPr>
            <a:picLocks noChangeAspect="1"/>
          </p:cNvPicPr>
          <p:nvPr/>
        </p:nvPicPr>
        <p:blipFill>
          <a:blip r:embed="rId5"/>
          <a:stretch>
            <a:fillRect/>
          </a:stretch>
        </p:blipFill>
        <p:spPr>
          <a:xfrm>
            <a:off x="5234940" y="3616452"/>
            <a:ext cx="192024" cy="192024"/>
          </a:xfrm>
          <a:prstGeom prst="rect">
            <a:avLst/>
          </a:prstGeom>
        </p:spPr>
      </p:pic>
      <p:sp>
        <p:nvSpPr>
          <p:cNvPr id="27" name="Text 21"/>
          <p:cNvSpPr txBox="1"/>
          <p:nvPr/>
        </p:nvSpPr>
        <p:spPr>
          <a:xfrm>
            <a:off x="5596128" y="3493008"/>
            <a:ext cx="731520" cy="228600"/>
          </a:xfrm>
          <a:prstGeom prst="rect">
            <a:avLst/>
          </a:prstGeom>
          <a:noFill/>
          <a:ln/>
        </p:spPr>
        <p:txBody>
          <a:bodyPr wrap="square" lIns="0" tIns="0" rIns="0" bIns="0" rtlCol="0" anchor="ctr"/>
          <a:lstStyle/>
          <a:p>
            <a:pPr indent="0" marL="0">
              <a:buNone/>
            </a:pPr>
            <a:r>
              <a:rPr lang="en-US" sz="1000" b="1" dirty="0">
                <a:solidFill>
                  <a:srgbClr val="EBC99A"/>
                </a:solidFill>
                <a:latin typeface="Calibri" pitchFamily="34" charset="0"/>
                <a:ea typeface="Calibri" pitchFamily="34" charset="-122"/>
                <a:cs typeface="Calibri" pitchFamily="34" charset="-120"/>
              </a:rPr>
              <a:t>M4</a:t>
            </a:r>
            <a:endParaRPr lang="en-US" sz="1000" dirty="0"/>
          </a:p>
        </p:txBody>
      </p:sp>
      <p:sp>
        <p:nvSpPr>
          <p:cNvPr id="28" name="Text 22"/>
          <p:cNvSpPr txBox="1"/>
          <p:nvPr/>
        </p:nvSpPr>
        <p:spPr>
          <a:xfrm>
            <a:off x="5596128" y="3703320"/>
            <a:ext cx="7315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29" name="Text 23"/>
          <p:cNvSpPr txBox="1"/>
          <p:nvPr/>
        </p:nvSpPr>
        <p:spPr>
          <a:xfrm>
            <a:off x="640080" y="4526280"/>
            <a:ext cx="365760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Jayanth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7498080" y="-914400"/>
            <a:ext cx="2560320" cy="2560320"/>
          </a:xfrm>
          <a:prstGeom prst="ellipse">
            <a:avLst/>
          </a:prstGeom>
          <a:solidFill>
            <a:srgbClr val="1B7F86">
              <a:alpha val="12000"/>
            </a:srgbClr>
          </a:solidFill>
          <a:ln w="12700">
            <a:solidFill>
              <a:srgbClr val="1B7F86">
                <a:alpha val="12000"/>
              </a:srgbClr>
            </a:solidFill>
            <a:prstDash val="solid"/>
          </a:ln>
        </p:spPr>
      </p:sp>
      <p:sp>
        <p:nvSpPr>
          <p:cNvPr id="3" name="Shape 1"/>
          <p:cNvSpPr/>
          <p:nvPr/>
        </p:nvSpPr>
        <p:spPr>
          <a:xfrm>
            <a:off x="8229600" y="182880"/>
            <a:ext cx="1280160" cy="1280160"/>
          </a:xfrm>
          <a:prstGeom prst="ellipse">
            <a:avLst/>
          </a:prstGeom>
          <a:solidFill>
            <a:srgbClr val="E07B5F">
              <a:alpha val="15000"/>
            </a:srgbClr>
          </a:solidFill>
          <a:ln w="12700">
            <a:solidFill>
              <a:srgbClr val="E07B5F">
                <a:alpha val="15000"/>
              </a:srgbClr>
            </a:solidFill>
            <a:prstDash val="solid"/>
          </a:ln>
        </p:spPr>
      </p:sp>
      <p:sp>
        <p:nvSpPr>
          <p:cNvPr id="4" name="Shape 2"/>
          <p:cNvSpPr/>
          <p:nvPr/>
        </p:nvSpPr>
        <p:spPr>
          <a:xfrm>
            <a:off x="457200" y="274320"/>
            <a:ext cx="1371600" cy="256032"/>
          </a:xfrm>
          <a:prstGeom prst="roundRect">
            <a:avLst>
              <a:gd name="adj" fmla="val 50000"/>
            </a:avLst>
          </a:prstGeom>
          <a:solidFill>
            <a:srgbClr val="1B7F86"/>
          </a:solidFill>
          <a:ln w="12700">
            <a:solidFill>
              <a:srgbClr val="1B7F86"/>
            </a:solidFill>
            <a:prstDash val="solid"/>
          </a:ln>
        </p:spPr>
      </p:sp>
      <p:sp>
        <p:nvSpPr>
          <p:cNvPr id="5" name="Text 3"/>
          <p:cNvSpPr txBox="1"/>
          <p:nvPr/>
        </p:nvSpPr>
        <p:spPr>
          <a:xfrm>
            <a:off x="457200" y="274320"/>
            <a:ext cx="1371600" cy="256032"/>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OVERVIEW</a:t>
            </a:r>
            <a:endParaRPr lang="en-US" sz="950" dirty="0"/>
          </a:p>
        </p:txBody>
      </p:sp>
      <p:sp>
        <p:nvSpPr>
          <p:cNvPr id="6" name="Text 4"/>
          <p:cNvSpPr txBox="1"/>
          <p:nvPr/>
        </p:nvSpPr>
        <p:spPr>
          <a:xfrm>
            <a:off x="457200" y="621792"/>
            <a:ext cx="7315200" cy="502920"/>
          </a:xfrm>
          <a:prstGeom prst="rect">
            <a:avLst/>
          </a:prstGeom>
          <a:noFill/>
          <a:ln/>
        </p:spPr>
        <p:txBody>
          <a:bodyPr wrap="square" lIns="0" tIns="0" rIns="0" bIns="0" rtlCol="0" anchor="ctr"/>
          <a:lstStyle/>
          <a:p>
            <a:pPr indent="0" marL="0">
              <a:buNone/>
            </a:pPr>
            <a:r>
              <a:rPr lang="en-US" sz="2800" b="1" dirty="0">
                <a:solidFill>
                  <a:srgbClr val="0C3B5E"/>
                </a:solidFill>
                <a:latin typeface="Calibri" pitchFamily="34" charset="0"/>
                <a:ea typeface="Calibri" pitchFamily="34" charset="-122"/>
                <a:cs typeface="Calibri" pitchFamily="34" charset="-120"/>
              </a:rPr>
              <a:t>My Journey</a:t>
            </a:r>
            <a:endParaRPr lang="en-US" sz="2800" dirty="0"/>
          </a:p>
        </p:txBody>
      </p:sp>
      <p:sp>
        <p:nvSpPr>
          <p:cNvPr id="7" name="Text 5"/>
          <p:cNvSpPr txBox="1"/>
          <p:nvPr/>
        </p:nvSpPr>
        <p:spPr>
          <a:xfrm>
            <a:off x="457200" y="1115568"/>
            <a:ext cx="73152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Four milestones, one story of reliable hospital data</a:t>
            </a:r>
            <a:endParaRPr lang="en-US" sz="1300" dirty="0"/>
          </a:p>
        </p:txBody>
      </p:sp>
      <p:sp>
        <p:nvSpPr>
          <p:cNvPr id="8" name="Text 6"/>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9" name="Shape 7"/>
          <p:cNvSpPr/>
          <p:nvPr/>
        </p:nvSpPr>
        <p:spPr>
          <a:xfrm>
            <a:off x="1005840" y="1892808"/>
            <a:ext cx="7132320" cy="45720"/>
          </a:xfrm>
          <a:prstGeom prst="rect">
            <a:avLst/>
          </a:prstGeom>
          <a:solidFill>
            <a:srgbClr val="CBD5E1"/>
          </a:solidFill>
          <a:ln w="12700">
            <a:solidFill>
              <a:srgbClr val="CBD5E1"/>
            </a:solidFill>
            <a:prstDash val="solid"/>
          </a:ln>
        </p:spPr>
      </p:sp>
      <p:sp>
        <p:nvSpPr>
          <p:cNvPr id="10" name="Shape 8"/>
          <p:cNvSpPr/>
          <p:nvPr/>
        </p:nvSpPr>
        <p:spPr>
          <a:xfrm>
            <a:off x="1188720" y="1600200"/>
            <a:ext cx="594360" cy="594360"/>
          </a:xfrm>
          <a:prstGeom prst="ellipse">
            <a:avLst/>
          </a:prstGeom>
          <a:solidFill>
            <a:srgbClr val="1B7F86"/>
          </a:solidFill>
          <a:ln w="12700">
            <a:solidFill>
              <a:srgbClr val="1B7F86"/>
            </a:solidFill>
            <a:prstDash val="solid"/>
          </a:ln>
        </p:spPr>
      </p:sp>
      <p:pic>
        <p:nvPicPr>
          <p:cNvPr id="11" name="Image 0" descr="preencoded.png">    </p:cNvPr>
          <p:cNvPicPr>
            <a:picLocks noChangeAspect="1"/>
          </p:cNvPicPr>
          <p:nvPr/>
        </p:nvPicPr>
        <p:blipFill>
          <a:blip r:embed="rId1"/>
          <a:stretch>
            <a:fillRect/>
          </a:stretch>
        </p:blipFill>
        <p:spPr>
          <a:xfrm>
            <a:off x="1337310" y="1748790"/>
            <a:ext cx="297180" cy="297180"/>
          </a:xfrm>
          <a:prstGeom prst="rect">
            <a:avLst/>
          </a:prstGeom>
        </p:spPr>
      </p:pic>
      <p:sp>
        <p:nvSpPr>
          <p:cNvPr id="12" name="Shape 9"/>
          <p:cNvSpPr/>
          <p:nvPr/>
        </p:nvSpPr>
        <p:spPr>
          <a:xfrm>
            <a:off x="457200" y="2423160"/>
            <a:ext cx="1920240" cy="210312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3" name="Text 10"/>
          <p:cNvSpPr txBox="1"/>
          <p:nvPr/>
        </p:nvSpPr>
        <p:spPr>
          <a:xfrm>
            <a:off x="640080" y="2560320"/>
            <a:ext cx="1554480" cy="274320"/>
          </a:xfrm>
          <a:prstGeom prst="rect">
            <a:avLst/>
          </a:prstGeom>
          <a:noFill/>
          <a:ln/>
        </p:spPr>
        <p:txBody>
          <a:bodyPr wrap="square" lIns="0" tIns="0" rIns="0" bIns="0" rtlCol="0" anchor="ctr"/>
          <a:lstStyle/>
          <a:p>
            <a:pPr indent="0" marL="0">
              <a:buNone/>
            </a:pPr>
            <a:r>
              <a:rPr lang="en-US" sz="2000" b="1" dirty="0">
                <a:solidFill>
                  <a:srgbClr val="1B7F86"/>
                </a:solidFill>
                <a:latin typeface="Calibri" pitchFamily="34" charset="0"/>
                <a:ea typeface="Calibri" pitchFamily="34" charset="-122"/>
                <a:cs typeface="Calibri" pitchFamily="34" charset="-120"/>
              </a:rPr>
              <a:t>M1</a:t>
            </a:r>
            <a:endParaRPr lang="en-US" sz="2000" dirty="0"/>
          </a:p>
        </p:txBody>
      </p:sp>
      <p:sp>
        <p:nvSpPr>
          <p:cNvPr id="14" name="Text 11"/>
          <p:cNvSpPr txBox="1"/>
          <p:nvPr/>
        </p:nvSpPr>
        <p:spPr>
          <a:xfrm>
            <a:off x="640080" y="2880360"/>
            <a:ext cx="1554480" cy="502920"/>
          </a:xfrm>
          <a:prstGeom prst="rect">
            <a:avLst/>
          </a:prstGeom>
          <a:noFill/>
          <a:ln/>
        </p:spPr>
        <p:txBody>
          <a:bodyPr wrap="square" lIns="0" tIns="0" rIns="0" bIns="0" rtlCol="0" anchor="t"/>
          <a:lstStyle/>
          <a:p>
            <a:pPr indent="0" marL="0">
              <a:buNone/>
            </a:pPr>
            <a:r>
              <a:rPr lang="en-US" sz="1400" b="1" dirty="0">
                <a:solidFill>
                  <a:srgbClr val="0C3B5E"/>
                </a:solidFill>
                <a:latin typeface="Calibri" pitchFamily="34" charset="0"/>
                <a:ea typeface="Calibri" pitchFamily="34" charset="-122"/>
                <a:cs typeface="Calibri" pitchFamily="34" charset="-120"/>
              </a:rPr>
              <a:t>Data Cleaning</a:t>
            </a:r>
            <a:endParaRPr lang="en-US" sz="1400" dirty="0"/>
          </a:p>
        </p:txBody>
      </p:sp>
      <p:sp>
        <p:nvSpPr>
          <p:cNvPr id="15" name="Text 12"/>
          <p:cNvSpPr txBox="1"/>
          <p:nvPr/>
        </p:nvSpPr>
        <p:spPr>
          <a:xfrm>
            <a:off x="640080" y="3429000"/>
            <a:ext cx="1554480" cy="100584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IDs, departments, dates, missing values and duplicates</a:t>
            </a:r>
            <a:endParaRPr lang="en-US" sz="1100" dirty="0"/>
          </a:p>
        </p:txBody>
      </p:sp>
      <p:sp>
        <p:nvSpPr>
          <p:cNvPr id="16" name="Shape 13"/>
          <p:cNvSpPr/>
          <p:nvPr/>
        </p:nvSpPr>
        <p:spPr>
          <a:xfrm>
            <a:off x="3291840" y="1600200"/>
            <a:ext cx="594360" cy="594360"/>
          </a:xfrm>
          <a:prstGeom prst="ellipse">
            <a:avLst/>
          </a:prstGeom>
          <a:solidFill>
            <a:srgbClr val="E07B5F"/>
          </a:solidFill>
          <a:ln w="12700">
            <a:solidFill>
              <a:srgbClr val="E07B5F"/>
            </a:solidFill>
            <a:prstDash val="solid"/>
          </a:ln>
        </p:spPr>
      </p:sp>
      <p:pic>
        <p:nvPicPr>
          <p:cNvPr id="17" name="Image 1" descr="preencoded.png">    </p:cNvPr>
          <p:cNvPicPr>
            <a:picLocks noChangeAspect="1"/>
          </p:cNvPicPr>
          <p:nvPr/>
        </p:nvPicPr>
        <p:blipFill>
          <a:blip r:embed="rId2"/>
          <a:stretch>
            <a:fillRect/>
          </a:stretch>
        </p:blipFill>
        <p:spPr>
          <a:xfrm>
            <a:off x="3440430" y="1748790"/>
            <a:ext cx="297180" cy="297180"/>
          </a:xfrm>
          <a:prstGeom prst="rect">
            <a:avLst/>
          </a:prstGeom>
        </p:spPr>
      </p:pic>
      <p:sp>
        <p:nvSpPr>
          <p:cNvPr id="18" name="Shape 14"/>
          <p:cNvSpPr/>
          <p:nvPr/>
        </p:nvSpPr>
        <p:spPr>
          <a:xfrm>
            <a:off x="2560320" y="2423160"/>
            <a:ext cx="1920240" cy="210312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9" name="Text 15"/>
          <p:cNvSpPr txBox="1"/>
          <p:nvPr/>
        </p:nvSpPr>
        <p:spPr>
          <a:xfrm>
            <a:off x="2743200" y="2560320"/>
            <a:ext cx="1554480" cy="274320"/>
          </a:xfrm>
          <a:prstGeom prst="rect">
            <a:avLst/>
          </a:prstGeom>
          <a:noFill/>
          <a:ln/>
        </p:spPr>
        <p:txBody>
          <a:bodyPr wrap="square" lIns="0" tIns="0" rIns="0" bIns="0" rtlCol="0" anchor="ctr"/>
          <a:lstStyle/>
          <a:p>
            <a:pPr indent="0" marL="0">
              <a:buNone/>
            </a:pPr>
            <a:r>
              <a:rPr lang="en-US" sz="2000" b="1" dirty="0">
                <a:solidFill>
                  <a:srgbClr val="E07B5F"/>
                </a:solidFill>
                <a:latin typeface="Calibri" pitchFamily="34" charset="0"/>
                <a:ea typeface="Calibri" pitchFamily="34" charset="-122"/>
                <a:cs typeface="Calibri" pitchFamily="34" charset="-120"/>
              </a:rPr>
              <a:t>M2</a:t>
            </a:r>
            <a:endParaRPr lang="en-US" sz="2000" dirty="0"/>
          </a:p>
        </p:txBody>
      </p:sp>
      <p:sp>
        <p:nvSpPr>
          <p:cNvPr id="20" name="Text 16"/>
          <p:cNvSpPr txBox="1"/>
          <p:nvPr/>
        </p:nvSpPr>
        <p:spPr>
          <a:xfrm>
            <a:off x="2743200" y="2880360"/>
            <a:ext cx="1554480" cy="502920"/>
          </a:xfrm>
          <a:prstGeom prst="rect">
            <a:avLst/>
          </a:prstGeom>
          <a:noFill/>
          <a:ln/>
        </p:spPr>
        <p:txBody>
          <a:bodyPr wrap="square" lIns="0" tIns="0" rIns="0" bIns="0" rtlCol="0" anchor="t"/>
          <a:lstStyle/>
          <a:p>
            <a:pPr indent="0" marL="0">
              <a:buNone/>
            </a:pPr>
            <a:r>
              <a:rPr lang="en-US" sz="1400" b="1" dirty="0">
                <a:solidFill>
                  <a:srgbClr val="0C3B5E"/>
                </a:solidFill>
                <a:latin typeface="Calibri" pitchFamily="34" charset="0"/>
                <a:ea typeface="Calibri" pitchFamily="34" charset="-122"/>
                <a:cs typeface="Calibri" pitchFamily="34" charset="-120"/>
              </a:rPr>
              <a:t>Dashboard Storyboard</a:t>
            </a:r>
            <a:endParaRPr lang="en-US" sz="1400" dirty="0"/>
          </a:p>
        </p:txBody>
      </p:sp>
      <p:sp>
        <p:nvSpPr>
          <p:cNvPr id="21" name="Text 17"/>
          <p:cNvSpPr txBox="1"/>
          <p:nvPr/>
        </p:nvSpPr>
        <p:spPr>
          <a:xfrm>
            <a:off x="2743200" y="3429000"/>
            <a:ext cx="1554480" cy="100584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Purpose, KPIs, charts, filters, interactions</a:t>
            </a:r>
            <a:endParaRPr lang="en-US" sz="1100" dirty="0"/>
          </a:p>
        </p:txBody>
      </p:sp>
      <p:sp>
        <p:nvSpPr>
          <p:cNvPr id="22" name="Shape 18"/>
          <p:cNvSpPr/>
          <p:nvPr/>
        </p:nvSpPr>
        <p:spPr>
          <a:xfrm>
            <a:off x="5394960" y="1600200"/>
            <a:ext cx="594360" cy="594360"/>
          </a:xfrm>
          <a:prstGeom prst="ellipse">
            <a:avLst/>
          </a:prstGeom>
          <a:solidFill>
            <a:srgbClr val="3D5A8A"/>
          </a:solidFill>
          <a:ln w="12700">
            <a:solidFill>
              <a:srgbClr val="3D5A8A"/>
            </a:solidFill>
            <a:prstDash val="solid"/>
          </a:ln>
        </p:spPr>
      </p:sp>
      <p:pic>
        <p:nvPicPr>
          <p:cNvPr id="23" name="Image 2" descr="preencoded.png">    </p:cNvPr>
          <p:cNvPicPr>
            <a:picLocks noChangeAspect="1"/>
          </p:cNvPicPr>
          <p:nvPr/>
        </p:nvPicPr>
        <p:blipFill>
          <a:blip r:embed="rId3"/>
          <a:stretch>
            <a:fillRect/>
          </a:stretch>
        </p:blipFill>
        <p:spPr>
          <a:xfrm>
            <a:off x="5543550" y="1748790"/>
            <a:ext cx="297180" cy="297180"/>
          </a:xfrm>
          <a:prstGeom prst="rect">
            <a:avLst/>
          </a:prstGeom>
        </p:spPr>
      </p:pic>
      <p:sp>
        <p:nvSpPr>
          <p:cNvPr id="24" name="Shape 19"/>
          <p:cNvSpPr/>
          <p:nvPr/>
        </p:nvSpPr>
        <p:spPr>
          <a:xfrm>
            <a:off x="4663440" y="2423160"/>
            <a:ext cx="1920240" cy="210312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25" name="Text 20"/>
          <p:cNvSpPr txBox="1"/>
          <p:nvPr/>
        </p:nvSpPr>
        <p:spPr>
          <a:xfrm>
            <a:off x="4846320" y="2560320"/>
            <a:ext cx="1554480" cy="274320"/>
          </a:xfrm>
          <a:prstGeom prst="rect">
            <a:avLst/>
          </a:prstGeom>
          <a:noFill/>
          <a:ln/>
        </p:spPr>
        <p:txBody>
          <a:bodyPr wrap="square" lIns="0" tIns="0" rIns="0" bIns="0" rtlCol="0" anchor="ctr"/>
          <a:lstStyle/>
          <a:p>
            <a:pPr indent="0" marL="0">
              <a:buNone/>
            </a:pPr>
            <a:r>
              <a:rPr lang="en-US" sz="2000" b="1" dirty="0">
                <a:solidFill>
                  <a:srgbClr val="3D5A8A"/>
                </a:solidFill>
                <a:latin typeface="Calibri" pitchFamily="34" charset="0"/>
                <a:ea typeface="Calibri" pitchFamily="34" charset="-122"/>
                <a:cs typeface="Calibri" pitchFamily="34" charset="-120"/>
              </a:rPr>
              <a:t>M3</a:t>
            </a:r>
            <a:endParaRPr lang="en-US" sz="2000" dirty="0"/>
          </a:p>
        </p:txBody>
      </p:sp>
      <p:sp>
        <p:nvSpPr>
          <p:cNvPr id="26" name="Text 21"/>
          <p:cNvSpPr txBox="1"/>
          <p:nvPr/>
        </p:nvSpPr>
        <p:spPr>
          <a:xfrm>
            <a:off x="4846320" y="2880360"/>
            <a:ext cx="1554480" cy="502920"/>
          </a:xfrm>
          <a:prstGeom prst="rect">
            <a:avLst/>
          </a:prstGeom>
          <a:noFill/>
          <a:ln/>
        </p:spPr>
        <p:txBody>
          <a:bodyPr wrap="square" lIns="0" tIns="0" rIns="0" bIns="0" rtlCol="0" anchor="t"/>
          <a:lstStyle/>
          <a:p>
            <a:pPr indent="0" marL="0">
              <a:buNone/>
            </a:pPr>
            <a:r>
              <a:rPr lang="en-US" sz="1400" b="1" dirty="0">
                <a:solidFill>
                  <a:srgbClr val="0C3B5E"/>
                </a:solidFill>
                <a:latin typeface="Calibri" pitchFamily="34" charset="0"/>
                <a:ea typeface="Calibri" pitchFamily="34" charset="-122"/>
                <a:cs typeface="Calibri" pitchFamily="34" charset="-120"/>
              </a:rPr>
              <a:t>Department Analytics</a:t>
            </a:r>
            <a:endParaRPr lang="en-US" sz="1400" dirty="0"/>
          </a:p>
        </p:txBody>
      </p:sp>
      <p:sp>
        <p:nvSpPr>
          <p:cNvPr id="27" name="Text 22"/>
          <p:cNvSpPr txBox="1"/>
          <p:nvPr/>
        </p:nvSpPr>
        <p:spPr>
          <a:xfrm>
            <a:off x="4846320" y="3429000"/>
            <a:ext cx="1554480" cy="100584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Admissions, occupancy, LOS, staffing, efficiency</a:t>
            </a:r>
            <a:endParaRPr lang="en-US" sz="1100" dirty="0"/>
          </a:p>
        </p:txBody>
      </p:sp>
      <p:sp>
        <p:nvSpPr>
          <p:cNvPr id="28" name="Shape 23"/>
          <p:cNvSpPr/>
          <p:nvPr/>
        </p:nvSpPr>
        <p:spPr>
          <a:xfrm>
            <a:off x="7498080" y="1600200"/>
            <a:ext cx="594360" cy="594360"/>
          </a:xfrm>
          <a:prstGeom prst="ellipse">
            <a:avLst/>
          </a:prstGeom>
          <a:solidFill>
            <a:srgbClr val="8B5E83"/>
          </a:solidFill>
          <a:ln w="12700">
            <a:solidFill>
              <a:srgbClr val="8B5E83"/>
            </a:solidFill>
            <a:prstDash val="solid"/>
          </a:ln>
        </p:spPr>
      </p:sp>
      <p:pic>
        <p:nvPicPr>
          <p:cNvPr id="29" name="Image 3" descr="preencoded.png">    </p:cNvPr>
          <p:cNvPicPr>
            <a:picLocks noChangeAspect="1"/>
          </p:cNvPicPr>
          <p:nvPr/>
        </p:nvPicPr>
        <p:blipFill>
          <a:blip r:embed="rId4"/>
          <a:stretch>
            <a:fillRect/>
          </a:stretch>
        </p:blipFill>
        <p:spPr>
          <a:xfrm>
            <a:off x="7646670" y="1748790"/>
            <a:ext cx="297180" cy="297180"/>
          </a:xfrm>
          <a:prstGeom prst="rect">
            <a:avLst/>
          </a:prstGeom>
        </p:spPr>
      </p:pic>
      <p:sp>
        <p:nvSpPr>
          <p:cNvPr id="30" name="Shape 24"/>
          <p:cNvSpPr/>
          <p:nvPr/>
        </p:nvSpPr>
        <p:spPr>
          <a:xfrm>
            <a:off x="6766560" y="2423160"/>
            <a:ext cx="1920240" cy="210312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31" name="Text 25"/>
          <p:cNvSpPr txBox="1"/>
          <p:nvPr/>
        </p:nvSpPr>
        <p:spPr>
          <a:xfrm>
            <a:off x="6949440" y="2560320"/>
            <a:ext cx="1554480" cy="274320"/>
          </a:xfrm>
          <a:prstGeom prst="rect">
            <a:avLst/>
          </a:prstGeom>
          <a:noFill/>
          <a:ln/>
        </p:spPr>
        <p:txBody>
          <a:bodyPr wrap="square" lIns="0" tIns="0" rIns="0" bIns="0" rtlCol="0" anchor="ctr"/>
          <a:lstStyle/>
          <a:p>
            <a:pPr indent="0" marL="0">
              <a:buNone/>
            </a:pPr>
            <a:r>
              <a:rPr lang="en-US" sz="2000" b="1" dirty="0">
                <a:solidFill>
                  <a:srgbClr val="8B5E83"/>
                </a:solidFill>
                <a:latin typeface="Calibri" pitchFamily="34" charset="0"/>
                <a:ea typeface="Calibri" pitchFamily="34" charset="-122"/>
                <a:cs typeface="Calibri" pitchFamily="34" charset="-120"/>
              </a:rPr>
              <a:t>M4</a:t>
            </a:r>
            <a:endParaRPr lang="en-US" sz="2000" dirty="0"/>
          </a:p>
        </p:txBody>
      </p:sp>
      <p:sp>
        <p:nvSpPr>
          <p:cNvPr id="32" name="Text 26"/>
          <p:cNvSpPr txBox="1"/>
          <p:nvPr/>
        </p:nvSpPr>
        <p:spPr>
          <a:xfrm>
            <a:off x="6949440" y="2880360"/>
            <a:ext cx="1554480" cy="502920"/>
          </a:xfrm>
          <a:prstGeom prst="rect">
            <a:avLst/>
          </a:prstGeom>
          <a:noFill/>
          <a:ln/>
        </p:spPr>
        <p:txBody>
          <a:bodyPr wrap="square" lIns="0" tIns="0" rIns="0" bIns="0" rtlCol="0" anchor="t"/>
          <a:lstStyle/>
          <a:p>
            <a:pPr indent="0" marL="0">
              <a:buNone/>
            </a:pPr>
            <a:r>
              <a:rPr lang="en-US" sz="1400" b="1" dirty="0">
                <a:solidFill>
                  <a:srgbClr val="0C3B5E"/>
                </a:solidFill>
                <a:latin typeface="Calibri" pitchFamily="34" charset="0"/>
                <a:ea typeface="Calibri" pitchFamily="34" charset="-122"/>
                <a:cs typeface="Calibri" pitchFamily="34" charset="-120"/>
              </a:rPr>
              <a:t>Data Testing, Part 2</a:t>
            </a:r>
            <a:endParaRPr lang="en-US" sz="1400" dirty="0"/>
          </a:p>
        </p:txBody>
      </p:sp>
      <p:sp>
        <p:nvSpPr>
          <p:cNvPr id="33" name="Text 27"/>
          <p:cNvSpPr txBox="1"/>
          <p:nvPr/>
        </p:nvSpPr>
        <p:spPr>
          <a:xfrm>
            <a:off x="6949440" y="3429000"/>
            <a:ext cx="1554480" cy="1005840"/>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Primary keys, foreign keys, relationships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7498080" y="-914400"/>
            <a:ext cx="2560320" cy="2560320"/>
          </a:xfrm>
          <a:prstGeom prst="ellipse">
            <a:avLst/>
          </a:prstGeom>
          <a:solidFill>
            <a:srgbClr val="1B7F86">
              <a:alpha val="12000"/>
            </a:srgbClr>
          </a:solidFill>
          <a:ln w="12700">
            <a:solidFill>
              <a:srgbClr val="1B7F86">
                <a:alpha val="12000"/>
              </a:srgbClr>
            </a:solidFill>
            <a:prstDash val="solid"/>
          </a:ln>
        </p:spPr>
      </p:sp>
      <p:sp>
        <p:nvSpPr>
          <p:cNvPr id="3" name="Shape 1"/>
          <p:cNvSpPr/>
          <p:nvPr/>
        </p:nvSpPr>
        <p:spPr>
          <a:xfrm>
            <a:off x="8229600" y="182880"/>
            <a:ext cx="1280160" cy="1280160"/>
          </a:xfrm>
          <a:prstGeom prst="ellipse">
            <a:avLst/>
          </a:prstGeom>
          <a:solidFill>
            <a:srgbClr val="E07B5F">
              <a:alpha val="15000"/>
            </a:srgbClr>
          </a:solidFill>
          <a:ln w="12700">
            <a:solidFill>
              <a:srgbClr val="E07B5F">
                <a:alpha val="15000"/>
              </a:srgbClr>
            </a:solidFill>
            <a:prstDash val="solid"/>
          </a:ln>
        </p:spPr>
      </p:sp>
      <p:sp>
        <p:nvSpPr>
          <p:cNvPr id="4" name="Shape 2"/>
          <p:cNvSpPr/>
          <p:nvPr/>
        </p:nvSpPr>
        <p:spPr>
          <a:xfrm>
            <a:off x="457200" y="274320"/>
            <a:ext cx="1371600" cy="256032"/>
          </a:xfrm>
          <a:prstGeom prst="roundRect">
            <a:avLst>
              <a:gd name="adj" fmla="val 50000"/>
            </a:avLst>
          </a:prstGeom>
          <a:solidFill>
            <a:srgbClr val="1B7F86"/>
          </a:solidFill>
          <a:ln w="12700">
            <a:solidFill>
              <a:srgbClr val="1B7F86"/>
            </a:solidFill>
            <a:prstDash val="solid"/>
          </a:ln>
        </p:spPr>
      </p:sp>
      <p:sp>
        <p:nvSpPr>
          <p:cNvPr id="5" name="Text 3"/>
          <p:cNvSpPr txBox="1"/>
          <p:nvPr/>
        </p:nvSpPr>
        <p:spPr>
          <a:xfrm>
            <a:off x="457200" y="274320"/>
            <a:ext cx="1371600" cy="256032"/>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MILESTONE 1</a:t>
            </a:r>
            <a:endParaRPr lang="en-US" sz="950" dirty="0"/>
          </a:p>
        </p:txBody>
      </p:sp>
      <p:sp>
        <p:nvSpPr>
          <p:cNvPr id="6" name="Text 4"/>
          <p:cNvSpPr txBox="1"/>
          <p:nvPr/>
        </p:nvSpPr>
        <p:spPr>
          <a:xfrm>
            <a:off x="457200" y="621792"/>
            <a:ext cx="7315200" cy="502920"/>
          </a:xfrm>
          <a:prstGeom prst="rect">
            <a:avLst/>
          </a:prstGeom>
          <a:noFill/>
          <a:ln/>
        </p:spPr>
        <p:txBody>
          <a:bodyPr wrap="square" lIns="0" tIns="0" rIns="0" bIns="0" rtlCol="0" anchor="ctr"/>
          <a:lstStyle/>
          <a:p>
            <a:pPr indent="0" marL="0">
              <a:buNone/>
            </a:pPr>
            <a:r>
              <a:rPr lang="en-US" sz="2800" b="1" dirty="0">
                <a:solidFill>
                  <a:srgbClr val="0C3B5E"/>
                </a:solidFill>
                <a:latin typeface="Calibri" pitchFamily="34" charset="0"/>
                <a:ea typeface="Calibri" pitchFamily="34" charset="-122"/>
                <a:cs typeface="Calibri" pitchFamily="34" charset="-120"/>
              </a:rPr>
              <a:t>Data Cleaning</a:t>
            </a:r>
            <a:endParaRPr lang="en-US" sz="2800" dirty="0"/>
          </a:p>
        </p:txBody>
      </p:sp>
      <p:sp>
        <p:nvSpPr>
          <p:cNvPr id="7" name="Text 5"/>
          <p:cNvSpPr txBox="1"/>
          <p:nvPr/>
        </p:nvSpPr>
        <p:spPr>
          <a:xfrm>
            <a:off x="457200" y="1115568"/>
            <a:ext cx="73152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19 tables, 45,000 admissions, 30,000 patients, ready for Tableau</a:t>
            </a:r>
            <a:endParaRPr lang="en-US" sz="1300" dirty="0"/>
          </a:p>
        </p:txBody>
      </p:sp>
      <p:sp>
        <p:nvSpPr>
          <p:cNvPr id="8" name="Text 6"/>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9" name="Shape 7"/>
          <p:cNvSpPr/>
          <p:nvPr/>
        </p:nvSpPr>
        <p:spPr>
          <a:xfrm>
            <a:off x="457200" y="1554480"/>
            <a:ext cx="1920240" cy="196596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640080" y="1554480"/>
            <a:ext cx="1554480" cy="54864"/>
          </a:xfrm>
          <a:prstGeom prst="rect">
            <a:avLst/>
          </a:prstGeom>
          <a:solidFill>
            <a:srgbClr val="1B7F86"/>
          </a:solidFill>
          <a:ln w="12700">
            <a:solidFill>
              <a:srgbClr val="1B7F86"/>
            </a:solidFill>
            <a:prstDash val="solid"/>
          </a:ln>
        </p:spPr>
      </p:sp>
      <p:sp>
        <p:nvSpPr>
          <p:cNvPr id="11" name="Shape 9"/>
          <p:cNvSpPr/>
          <p:nvPr/>
        </p:nvSpPr>
        <p:spPr>
          <a:xfrm>
            <a:off x="640080" y="1755648"/>
            <a:ext cx="420624" cy="420624"/>
          </a:xfrm>
          <a:prstGeom prst="ellipse">
            <a:avLst/>
          </a:prstGeom>
          <a:solidFill>
            <a:srgbClr val="1B7F86"/>
          </a:solidFill>
          <a:ln w="12700">
            <a:solidFill>
              <a:srgbClr val="1B7F86"/>
            </a:solidFill>
            <a:prstDash val="solid"/>
          </a:ln>
        </p:spPr>
      </p:sp>
      <p:pic>
        <p:nvPicPr>
          <p:cNvPr id="12" name="Image 0" descr="preencoded.png">    </p:cNvPr>
          <p:cNvPicPr>
            <a:picLocks noChangeAspect="1"/>
          </p:cNvPicPr>
          <p:nvPr/>
        </p:nvPicPr>
        <p:blipFill>
          <a:blip r:embed="rId1"/>
          <a:stretch>
            <a:fillRect/>
          </a:stretch>
        </p:blipFill>
        <p:spPr>
          <a:xfrm>
            <a:off x="745236" y="1860804"/>
            <a:ext cx="210312" cy="210312"/>
          </a:xfrm>
          <a:prstGeom prst="rect">
            <a:avLst/>
          </a:prstGeom>
        </p:spPr>
      </p:pic>
      <p:sp>
        <p:nvSpPr>
          <p:cNvPr id="13" name="Text 10"/>
          <p:cNvSpPr txBox="1"/>
          <p:nvPr/>
        </p:nvSpPr>
        <p:spPr>
          <a:xfrm>
            <a:off x="1170432" y="1755648"/>
            <a:ext cx="1097280" cy="420624"/>
          </a:xfrm>
          <a:prstGeom prst="rect">
            <a:avLst/>
          </a:prstGeom>
          <a:noFill/>
          <a:ln/>
        </p:spPr>
        <p:txBody>
          <a:bodyPr wrap="square" lIns="0" tIns="0" rIns="0" bIns="0" rtlCol="0" anchor="ctr"/>
          <a:lstStyle/>
          <a:p>
            <a:pPr indent="0" marL="0">
              <a:buNone/>
            </a:pPr>
            <a:r>
              <a:rPr lang="en-US" sz="1400" b="1" dirty="0">
                <a:solidFill>
                  <a:srgbClr val="0C3B5E"/>
                </a:solidFill>
                <a:latin typeface="Calibri" pitchFamily="34" charset="0"/>
                <a:ea typeface="Calibri" pitchFamily="34" charset="-122"/>
                <a:cs typeface="Calibri" pitchFamily="34" charset="-120"/>
              </a:rPr>
              <a:t>Standardize IDs</a:t>
            </a:r>
            <a:endParaRPr lang="en-US" sz="1400" dirty="0"/>
          </a:p>
        </p:txBody>
      </p:sp>
      <p:sp>
        <p:nvSpPr>
          <p:cNvPr id="14" name="Text 11"/>
          <p:cNvSpPr txBox="1"/>
          <p:nvPr/>
        </p:nvSpPr>
        <p:spPr>
          <a:xfrm>
            <a:off x="640080" y="2304288"/>
            <a:ext cx="1554480" cy="1143000"/>
          </a:xfrm>
          <a:prstGeom prst="rect">
            <a:avLst/>
          </a:prstGeom>
          <a:noFill/>
          <a:ln/>
        </p:spPr>
        <p:txBody>
          <a:bodyPr wrap="square" lIns="0" tIns="0" rIns="0" bIns="0" rtlCol="0" anchor="t"/>
          <a:lstStyle/>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Trimmed and uppercased; ICU and HR kept as acronyms</a:t>
            </a:r>
            <a:endParaRPr lang="en-US" sz="1150" dirty="0"/>
          </a:p>
        </p:txBody>
      </p:sp>
      <p:sp>
        <p:nvSpPr>
          <p:cNvPr id="15" name="Shape 12"/>
          <p:cNvSpPr/>
          <p:nvPr/>
        </p:nvSpPr>
        <p:spPr>
          <a:xfrm>
            <a:off x="2468880" y="1554480"/>
            <a:ext cx="1920240" cy="196596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6" name="Shape 13"/>
          <p:cNvSpPr/>
          <p:nvPr/>
        </p:nvSpPr>
        <p:spPr>
          <a:xfrm>
            <a:off x="2651760" y="1554480"/>
            <a:ext cx="1554480" cy="54864"/>
          </a:xfrm>
          <a:prstGeom prst="rect">
            <a:avLst/>
          </a:prstGeom>
          <a:solidFill>
            <a:srgbClr val="E07B5F"/>
          </a:solidFill>
          <a:ln w="12700">
            <a:solidFill>
              <a:srgbClr val="E07B5F"/>
            </a:solidFill>
            <a:prstDash val="solid"/>
          </a:ln>
        </p:spPr>
      </p:sp>
      <p:sp>
        <p:nvSpPr>
          <p:cNvPr id="17" name="Shape 14"/>
          <p:cNvSpPr/>
          <p:nvPr/>
        </p:nvSpPr>
        <p:spPr>
          <a:xfrm>
            <a:off x="2651760" y="1755648"/>
            <a:ext cx="420624" cy="420624"/>
          </a:xfrm>
          <a:prstGeom prst="ellipse">
            <a:avLst/>
          </a:prstGeom>
          <a:solidFill>
            <a:srgbClr val="E07B5F"/>
          </a:solidFill>
          <a:ln w="12700">
            <a:solidFill>
              <a:srgbClr val="E07B5F"/>
            </a:solidFill>
            <a:prstDash val="solid"/>
          </a:ln>
        </p:spPr>
      </p:sp>
      <p:pic>
        <p:nvPicPr>
          <p:cNvPr id="18" name="Image 1" descr="preencoded.png">    </p:cNvPr>
          <p:cNvPicPr>
            <a:picLocks noChangeAspect="1"/>
          </p:cNvPicPr>
          <p:nvPr/>
        </p:nvPicPr>
        <p:blipFill>
          <a:blip r:embed="rId2"/>
          <a:stretch>
            <a:fillRect/>
          </a:stretch>
        </p:blipFill>
        <p:spPr>
          <a:xfrm>
            <a:off x="2756916" y="1860804"/>
            <a:ext cx="210312" cy="210312"/>
          </a:xfrm>
          <a:prstGeom prst="rect">
            <a:avLst/>
          </a:prstGeom>
        </p:spPr>
      </p:pic>
      <p:sp>
        <p:nvSpPr>
          <p:cNvPr id="19" name="Text 15"/>
          <p:cNvSpPr txBox="1"/>
          <p:nvPr/>
        </p:nvSpPr>
        <p:spPr>
          <a:xfrm>
            <a:off x="3182112" y="1755648"/>
            <a:ext cx="1097280" cy="420624"/>
          </a:xfrm>
          <a:prstGeom prst="rect">
            <a:avLst/>
          </a:prstGeom>
          <a:noFill/>
          <a:ln/>
        </p:spPr>
        <p:txBody>
          <a:bodyPr wrap="square" lIns="0" tIns="0" rIns="0" bIns="0" rtlCol="0" anchor="ctr"/>
          <a:lstStyle/>
          <a:p>
            <a:pPr indent="0" marL="0">
              <a:buNone/>
            </a:pPr>
            <a:r>
              <a:rPr lang="en-US" sz="1400" b="1" dirty="0">
                <a:solidFill>
                  <a:srgbClr val="0C3B5E"/>
                </a:solidFill>
                <a:latin typeface="Calibri" pitchFamily="34" charset="0"/>
                <a:ea typeface="Calibri" pitchFamily="34" charset="-122"/>
                <a:cs typeface="Calibri" pitchFamily="34" charset="-120"/>
              </a:rPr>
              <a:t>Dates</a:t>
            </a:r>
            <a:endParaRPr lang="en-US" sz="1400" dirty="0"/>
          </a:p>
        </p:txBody>
      </p:sp>
      <p:sp>
        <p:nvSpPr>
          <p:cNvPr id="20" name="Text 16"/>
          <p:cNvSpPr txBox="1"/>
          <p:nvPr/>
        </p:nvSpPr>
        <p:spPr>
          <a:xfrm>
            <a:off x="2651760" y="2304288"/>
            <a:ext cx="1554480" cy="1143000"/>
          </a:xfrm>
          <a:prstGeom prst="rect">
            <a:avLst/>
          </a:prstGeom>
          <a:noFill/>
          <a:ln/>
        </p:spPr>
        <p:txBody>
          <a:bodyPr wrap="square" lIns="0" tIns="0" rIns="0" bIns="0" rtlCol="0" anchor="t"/>
          <a:lstStyle/>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All date fields converted to YYYY-MM-DD</a:t>
            </a:r>
            <a:endParaRPr lang="en-US" sz="1150" dirty="0"/>
          </a:p>
        </p:txBody>
      </p:sp>
      <p:sp>
        <p:nvSpPr>
          <p:cNvPr id="21" name="Shape 17"/>
          <p:cNvSpPr/>
          <p:nvPr/>
        </p:nvSpPr>
        <p:spPr>
          <a:xfrm>
            <a:off x="4480560" y="1554480"/>
            <a:ext cx="1920240" cy="1965960"/>
          </a:xfrm>
          <a:prstGeom prst="roundRect">
            <a:avLst>
              <a:gd name="adj" fmla="val 4762"/>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22" name="Shape 18"/>
          <p:cNvSpPr/>
          <p:nvPr/>
        </p:nvSpPr>
        <p:spPr>
          <a:xfrm>
            <a:off x="4663440" y="1554480"/>
            <a:ext cx="1554480" cy="54864"/>
          </a:xfrm>
          <a:prstGeom prst="rect">
            <a:avLst/>
          </a:prstGeom>
          <a:solidFill>
            <a:srgbClr val="3D5A8A"/>
          </a:solidFill>
          <a:ln w="12700">
            <a:solidFill>
              <a:srgbClr val="3D5A8A"/>
            </a:solidFill>
            <a:prstDash val="solid"/>
          </a:ln>
        </p:spPr>
      </p:sp>
      <p:sp>
        <p:nvSpPr>
          <p:cNvPr id="23" name="Shape 19"/>
          <p:cNvSpPr/>
          <p:nvPr/>
        </p:nvSpPr>
        <p:spPr>
          <a:xfrm>
            <a:off x="4663440" y="1755648"/>
            <a:ext cx="420624" cy="420624"/>
          </a:xfrm>
          <a:prstGeom prst="ellipse">
            <a:avLst/>
          </a:prstGeom>
          <a:solidFill>
            <a:srgbClr val="3D5A8A"/>
          </a:solidFill>
          <a:ln w="12700">
            <a:solidFill>
              <a:srgbClr val="3D5A8A"/>
            </a:solidFill>
            <a:prstDash val="solid"/>
          </a:ln>
        </p:spPr>
      </p:sp>
      <p:pic>
        <p:nvPicPr>
          <p:cNvPr id="24" name="Image 2" descr="preencoded.png">    </p:cNvPr>
          <p:cNvPicPr>
            <a:picLocks noChangeAspect="1"/>
          </p:cNvPicPr>
          <p:nvPr/>
        </p:nvPicPr>
        <p:blipFill>
          <a:blip r:embed="rId3"/>
          <a:stretch>
            <a:fillRect/>
          </a:stretch>
        </p:blipFill>
        <p:spPr>
          <a:xfrm>
            <a:off x="4768596" y="1860804"/>
            <a:ext cx="210312" cy="210312"/>
          </a:xfrm>
          <a:prstGeom prst="rect">
            <a:avLst/>
          </a:prstGeom>
        </p:spPr>
      </p:pic>
      <p:sp>
        <p:nvSpPr>
          <p:cNvPr id="25" name="Text 20"/>
          <p:cNvSpPr txBox="1"/>
          <p:nvPr/>
        </p:nvSpPr>
        <p:spPr>
          <a:xfrm>
            <a:off x="5193792" y="1755648"/>
            <a:ext cx="1097280" cy="420624"/>
          </a:xfrm>
          <a:prstGeom prst="rect">
            <a:avLst/>
          </a:prstGeom>
          <a:noFill/>
          <a:ln/>
        </p:spPr>
        <p:txBody>
          <a:bodyPr wrap="square" lIns="0" tIns="0" rIns="0" bIns="0" rtlCol="0" anchor="ctr"/>
          <a:lstStyle/>
          <a:p>
            <a:pPr indent="0" marL="0">
              <a:buNone/>
            </a:pPr>
            <a:r>
              <a:rPr lang="en-US" sz="1400" b="1" dirty="0">
                <a:solidFill>
                  <a:srgbClr val="0C3B5E"/>
                </a:solidFill>
                <a:latin typeface="Calibri" pitchFamily="34" charset="0"/>
                <a:ea typeface="Calibri" pitchFamily="34" charset="-122"/>
                <a:cs typeface="Calibri" pitchFamily="34" charset="-120"/>
              </a:rPr>
              <a:t>Missing values</a:t>
            </a:r>
            <a:endParaRPr lang="en-US" sz="1400" dirty="0"/>
          </a:p>
        </p:txBody>
      </p:sp>
      <p:sp>
        <p:nvSpPr>
          <p:cNvPr id="26" name="Text 21"/>
          <p:cNvSpPr txBox="1"/>
          <p:nvPr/>
        </p:nvSpPr>
        <p:spPr>
          <a:xfrm>
            <a:off x="4663440" y="2304288"/>
            <a:ext cx="1554480" cy="1143000"/>
          </a:xfrm>
          <a:prstGeom prst="rect">
            <a:avLst/>
          </a:prstGeom>
          <a:noFill/>
          <a:ln/>
        </p:spPr>
        <p:txBody>
          <a:bodyPr wrap="square" lIns="0" tIns="0" rIns="0" bIns="0" rtlCol="0" anchor="t"/>
          <a:lstStyle/>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Text gaps labeled "Unknown"; ID columns left blank to protect joins</a:t>
            </a:r>
            <a:endParaRPr lang="en-US" sz="1150" dirty="0"/>
          </a:p>
        </p:txBody>
      </p:sp>
      <p:sp>
        <p:nvSpPr>
          <p:cNvPr id="27" name="Shape 22"/>
          <p:cNvSpPr/>
          <p:nvPr/>
        </p:nvSpPr>
        <p:spPr>
          <a:xfrm>
            <a:off x="6492240" y="1554480"/>
            <a:ext cx="2194560" cy="1965960"/>
          </a:xfrm>
          <a:prstGeom prst="roundRect">
            <a:avLst>
              <a:gd name="adj" fmla="val 4651"/>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28" name="Shape 23"/>
          <p:cNvSpPr/>
          <p:nvPr/>
        </p:nvSpPr>
        <p:spPr>
          <a:xfrm>
            <a:off x="6675120" y="1554480"/>
            <a:ext cx="1828800" cy="54864"/>
          </a:xfrm>
          <a:prstGeom prst="rect">
            <a:avLst/>
          </a:prstGeom>
          <a:solidFill>
            <a:srgbClr val="8B5E83"/>
          </a:solidFill>
          <a:ln w="12700">
            <a:solidFill>
              <a:srgbClr val="8B5E83"/>
            </a:solidFill>
            <a:prstDash val="solid"/>
          </a:ln>
        </p:spPr>
      </p:sp>
      <p:sp>
        <p:nvSpPr>
          <p:cNvPr id="29" name="Shape 24"/>
          <p:cNvSpPr/>
          <p:nvPr/>
        </p:nvSpPr>
        <p:spPr>
          <a:xfrm>
            <a:off x="6675120" y="1755648"/>
            <a:ext cx="420624" cy="420624"/>
          </a:xfrm>
          <a:prstGeom prst="ellipse">
            <a:avLst/>
          </a:prstGeom>
          <a:solidFill>
            <a:srgbClr val="8B5E83"/>
          </a:solidFill>
          <a:ln w="12700">
            <a:solidFill>
              <a:srgbClr val="8B5E83"/>
            </a:solidFill>
            <a:prstDash val="solid"/>
          </a:ln>
        </p:spPr>
      </p:sp>
      <p:pic>
        <p:nvPicPr>
          <p:cNvPr id="30" name="Image 3" descr="preencoded.png">    </p:cNvPr>
          <p:cNvPicPr>
            <a:picLocks noChangeAspect="1"/>
          </p:cNvPicPr>
          <p:nvPr/>
        </p:nvPicPr>
        <p:blipFill>
          <a:blip r:embed="rId4"/>
          <a:stretch>
            <a:fillRect/>
          </a:stretch>
        </p:blipFill>
        <p:spPr>
          <a:xfrm>
            <a:off x="6780276" y="1860804"/>
            <a:ext cx="210312" cy="210312"/>
          </a:xfrm>
          <a:prstGeom prst="rect">
            <a:avLst/>
          </a:prstGeom>
        </p:spPr>
      </p:pic>
      <p:sp>
        <p:nvSpPr>
          <p:cNvPr id="31" name="Text 25"/>
          <p:cNvSpPr txBox="1"/>
          <p:nvPr/>
        </p:nvSpPr>
        <p:spPr>
          <a:xfrm>
            <a:off x="7205472" y="1755648"/>
            <a:ext cx="1371600" cy="420624"/>
          </a:xfrm>
          <a:prstGeom prst="rect">
            <a:avLst/>
          </a:prstGeom>
          <a:noFill/>
          <a:ln/>
        </p:spPr>
        <p:txBody>
          <a:bodyPr wrap="square" lIns="0" tIns="0" rIns="0" bIns="0" rtlCol="0" anchor="ctr"/>
          <a:lstStyle/>
          <a:p>
            <a:pPr indent="0" marL="0">
              <a:buNone/>
            </a:pPr>
            <a:r>
              <a:rPr lang="en-US" sz="1400" b="1" dirty="0">
                <a:solidFill>
                  <a:srgbClr val="0C3B5E"/>
                </a:solidFill>
                <a:latin typeface="Calibri" pitchFamily="34" charset="0"/>
                <a:ea typeface="Calibri" pitchFamily="34" charset="-122"/>
                <a:cs typeface="Calibri" pitchFamily="34" charset="-120"/>
              </a:rPr>
              <a:t>Duplicates</a:t>
            </a:r>
            <a:endParaRPr lang="en-US" sz="1400" dirty="0"/>
          </a:p>
        </p:txBody>
      </p:sp>
      <p:sp>
        <p:nvSpPr>
          <p:cNvPr id="32" name="Text 26"/>
          <p:cNvSpPr txBox="1"/>
          <p:nvPr/>
        </p:nvSpPr>
        <p:spPr>
          <a:xfrm>
            <a:off x="6675120" y="2304288"/>
            <a:ext cx="1828800" cy="1143000"/>
          </a:xfrm>
          <a:prstGeom prst="rect">
            <a:avLst/>
          </a:prstGeom>
          <a:noFill/>
          <a:ln/>
        </p:spPr>
        <p:txBody>
          <a:bodyPr wrap="square" lIns="0" tIns="0" rIns="0" bIns="0" rtlCol="0" anchor="t"/>
          <a:lstStyle/>
          <a:p>
            <a:pPr indent="0" marL="0">
              <a:spcAft>
                <a:spcPts val="500"/>
              </a:spcAft>
              <a:buNone/>
            </a:pPr>
            <a:r>
              <a:rPr lang="en-US" sz="1150" dirty="0">
                <a:solidFill>
                  <a:srgbClr val="1E293B"/>
                </a:solidFill>
                <a:latin typeface="Calibri" pitchFamily="34" charset="0"/>
                <a:ea typeface="Calibri" pitchFamily="34" charset="-122"/>
                <a:cs typeface="Calibri" pitchFamily="34" charset="-120"/>
              </a:rPr>
              <a:t>Exact duplicates checked in every table; repeated transactions kept</a:t>
            </a:r>
            <a:endParaRPr lang="en-US" sz="1150" dirty="0"/>
          </a:p>
        </p:txBody>
      </p:sp>
      <p:sp>
        <p:nvSpPr>
          <p:cNvPr id="33" name="Shape 27"/>
          <p:cNvSpPr/>
          <p:nvPr/>
        </p:nvSpPr>
        <p:spPr>
          <a:xfrm>
            <a:off x="457200" y="3703320"/>
            <a:ext cx="8229600" cy="868680"/>
          </a:xfrm>
          <a:prstGeom prst="roundRect">
            <a:avLst>
              <a:gd name="adj" fmla="val 10526"/>
            </a:avLst>
          </a:prstGeom>
          <a:solidFill>
            <a:srgbClr val="0C3B5E"/>
          </a:solidFill>
          <a:ln w="12700">
            <a:solidFill>
              <a:srgbClr val="0C3B5E"/>
            </a:solidFill>
            <a:prstDash val="solid"/>
          </a:ln>
          <a:effectLst>
            <a:outerShdw sx="100000" sy="100000" kx="0" ky="0" algn="bl" rotWithShape="0" blurRad="101600" dist="38100" dir="5400000">
              <a:srgbClr val="000000">
                <a:alpha val="16000"/>
              </a:srgbClr>
            </a:outerShdw>
          </a:effectLst>
        </p:spPr>
      </p:sp>
      <p:sp>
        <p:nvSpPr>
          <p:cNvPr id="34" name="Text 28"/>
          <p:cNvSpPr txBox="1"/>
          <p:nvPr/>
        </p:nvSpPr>
        <p:spPr>
          <a:xfrm>
            <a:off x="548640" y="3749040"/>
            <a:ext cx="1920240" cy="457200"/>
          </a:xfrm>
          <a:prstGeom prst="rect">
            <a:avLst/>
          </a:prstGeom>
          <a:noFill/>
          <a:ln/>
        </p:spPr>
        <p:txBody>
          <a:bodyPr wrap="square" lIns="0" tIns="0" rIns="0" bIns="0" rtlCol="0" anchor="ctr"/>
          <a:lstStyle/>
          <a:p>
            <a:pPr algn="ctr" indent="0" marL="0">
              <a:buNone/>
            </a:pPr>
            <a:r>
              <a:rPr lang="en-US" sz="2400" b="1" dirty="0">
                <a:solidFill>
                  <a:srgbClr val="EBC99A"/>
                </a:solidFill>
                <a:latin typeface="Calibri" pitchFamily="34" charset="0"/>
                <a:ea typeface="Calibri" pitchFamily="34" charset="-122"/>
                <a:cs typeface="Calibri" pitchFamily="34" charset="-120"/>
              </a:rPr>
              <a:t>19</a:t>
            </a:r>
            <a:endParaRPr lang="en-US" sz="2400" dirty="0"/>
          </a:p>
        </p:txBody>
      </p:sp>
      <p:sp>
        <p:nvSpPr>
          <p:cNvPr id="35" name="Text 29"/>
          <p:cNvSpPr txBox="1"/>
          <p:nvPr/>
        </p:nvSpPr>
        <p:spPr>
          <a:xfrm>
            <a:off x="548640" y="4187952"/>
            <a:ext cx="19202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tables cleaned</a:t>
            </a:r>
            <a:endParaRPr lang="en-US" sz="1100" dirty="0"/>
          </a:p>
        </p:txBody>
      </p:sp>
      <p:sp>
        <p:nvSpPr>
          <p:cNvPr id="36" name="Text 30"/>
          <p:cNvSpPr txBox="1"/>
          <p:nvPr/>
        </p:nvSpPr>
        <p:spPr>
          <a:xfrm>
            <a:off x="2560320" y="3749040"/>
            <a:ext cx="1920240" cy="457200"/>
          </a:xfrm>
          <a:prstGeom prst="rect">
            <a:avLst/>
          </a:prstGeom>
          <a:noFill/>
          <a:ln/>
        </p:spPr>
        <p:txBody>
          <a:bodyPr wrap="square" lIns="0" tIns="0" rIns="0" bIns="0" rtlCol="0" anchor="ctr"/>
          <a:lstStyle/>
          <a:p>
            <a:pPr algn="ctr" indent="0" marL="0">
              <a:buNone/>
            </a:pPr>
            <a:r>
              <a:rPr lang="en-US" sz="2400" b="1" dirty="0">
                <a:solidFill>
                  <a:srgbClr val="EBC99A"/>
                </a:solidFill>
                <a:latin typeface="Calibri" pitchFamily="34" charset="0"/>
                <a:ea typeface="Calibri" pitchFamily="34" charset="-122"/>
                <a:cs typeface="Calibri" pitchFamily="34" charset="-120"/>
              </a:rPr>
              <a:t>0</a:t>
            </a:r>
            <a:endParaRPr lang="en-US" sz="2400" dirty="0"/>
          </a:p>
        </p:txBody>
      </p:sp>
      <p:sp>
        <p:nvSpPr>
          <p:cNvPr id="37" name="Text 31"/>
          <p:cNvSpPr txBox="1"/>
          <p:nvPr/>
        </p:nvSpPr>
        <p:spPr>
          <a:xfrm>
            <a:off x="2560320" y="4187952"/>
            <a:ext cx="19202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duplicates found</a:t>
            </a:r>
            <a:endParaRPr lang="en-US" sz="1100" dirty="0"/>
          </a:p>
        </p:txBody>
      </p:sp>
      <p:sp>
        <p:nvSpPr>
          <p:cNvPr id="38" name="Text 32"/>
          <p:cNvSpPr txBox="1"/>
          <p:nvPr/>
        </p:nvSpPr>
        <p:spPr>
          <a:xfrm>
            <a:off x="4572000" y="3749040"/>
            <a:ext cx="1920240" cy="457200"/>
          </a:xfrm>
          <a:prstGeom prst="rect">
            <a:avLst/>
          </a:prstGeom>
          <a:noFill/>
          <a:ln/>
        </p:spPr>
        <p:txBody>
          <a:bodyPr wrap="square" lIns="0" tIns="0" rIns="0" bIns="0" rtlCol="0" anchor="ctr"/>
          <a:lstStyle/>
          <a:p>
            <a:pPr algn="ctr" indent="0" marL="0">
              <a:buNone/>
            </a:pPr>
            <a:r>
              <a:rPr lang="en-US" sz="2400" b="1" dirty="0">
                <a:solidFill>
                  <a:srgbClr val="EBC99A"/>
                </a:solidFill>
                <a:latin typeface="Calibri" pitchFamily="34" charset="0"/>
                <a:ea typeface="Calibri" pitchFamily="34" charset="-122"/>
                <a:cs typeface="Calibri" pitchFamily="34" charset="-120"/>
              </a:rPr>
              <a:t>67,402</a:t>
            </a:r>
            <a:endParaRPr lang="en-US" sz="2400" dirty="0"/>
          </a:p>
        </p:txBody>
      </p:sp>
      <p:sp>
        <p:nvSpPr>
          <p:cNvPr id="39" name="Text 33"/>
          <p:cNvSpPr txBox="1"/>
          <p:nvPr/>
        </p:nvSpPr>
        <p:spPr>
          <a:xfrm>
            <a:off x="4572000" y="4187952"/>
            <a:ext cx="19202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ID gaps kept blank</a:t>
            </a:r>
            <a:endParaRPr lang="en-US" sz="1100" dirty="0"/>
          </a:p>
        </p:txBody>
      </p:sp>
      <p:sp>
        <p:nvSpPr>
          <p:cNvPr id="40" name="Text 34"/>
          <p:cNvSpPr txBox="1"/>
          <p:nvPr/>
        </p:nvSpPr>
        <p:spPr>
          <a:xfrm>
            <a:off x="6583680" y="3749040"/>
            <a:ext cx="1920240" cy="457200"/>
          </a:xfrm>
          <a:prstGeom prst="rect">
            <a:avLst/>
          </a:prstGeom>
          <a:noFill/>
          <a:ln/>
        </p:spPr>
        <p:txBody>
          <a:bodyPr wrap="square" lIns="0" tIns="0" rIns="0" bIns="0" rtlCol="0" anchor="ctr"/>
          <a:lstStyle/>
          <a:p>
            <a:pPr algn="ctr" indent="0" marL="0">
              <a:buNone/>
            </a:pPr>
            <a:r>
              <a:rPr lang="en-US" sz="2400" b="1" dirty="0">
                <a:solidFill>
                  <a:srgbClr val="EBC99A"/>
                </a:solidFill>
                <a:latin typeface="Calibri" pitchFamily="34" charset="0"/>
                <a:ea typeface="Calibri" pitchFamily="34" charset="-122"/>
                <a:cs typeface="Calibri" pitchFamily="34" charset="-120"/>
              </a:rPr>
              <a:t>3</a:t>
            </a:r>
            <a:endParaRPr lang="en-US" sz="2400" dirty="0"/>
          </a:p>
        </p:txBody>
      </p:sp>
      <p:sp>
        <p:nvSpPr>
          <p:cNvPr id="41" name="Text 35"/>
          <p:cNvSpPr txBox="1"/>
          <p:nvPr/>
        </p:nvSpPr>
        <p:spPr>
          <a:xfrm>
            <a:off x="6583680" y="4187952"/>
            <a:ext cx="192024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final corrections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09728" cy="640080"/>
          </a:xfrm>
          <a:prstGeom prst="rect">
            <a:avLst/>
          </a:prstGeom>
          <a:solidFill>
            <a:srgbClr val="E07B5F"/>
          </a:solidFill>
          <a:ln w="12700">
            <a:solidFill>
              <a:srgbClr val="E07B5F"/>
            </a:solidFill>
            <a:prstDash val="solid"/>
          </a:ln>
        </p:spPr>
      </p:sp>
      <p:sp>
        <p:nvSpPr>
          <p:cNvPr id="3" name="Text 1"/>
          <p:cNvSpPr txBox="1"/>
          <p:nvPr/>
        </p:nvSpPr>
        <p:spPr>
          <a:xfrm>
            <a:off x="365760" y="182880"/>
            <a:ext cx="65836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19 tables cleaned, zero rows lost</a:t>
            </a:r>
            <a:endParaRPr lang="en-US" sz="2200" dirty="0"/>
          </a:p>
        </p:txBody>
      </p:sp>
      <p:sp>
        <p:nvSpPr>
          <p:cNvPr id="4" name="Text 2"/>
          <p:cNvSpPr txBox="1"/>
          <p:nvPr/>
        </p:nvSpPr>
        <p:spPr>
          <a:xfrm>
            <a:off x="6949440" y="256032"/>
            <a:ext cx="1828800" cy="320040"/>
          </a:xfrm>
          <a:prstGeom prst="rect">
            <a:avLst/>
          </a:prstGeom>
          <a:noFill/>
          <a:ln/>
        </p:spPr>
        <p:txBody>
          <a:bodyPr wrap="square" lIns="0" tIns="0" rIns="0" bIns="0" rtlCol="0" anchor="ctr"/>
          <a:lstStyle/>
          <a:p>
            <a:pPr algn="r" indent="0" marL="0">
              <a:buNone/>
            </a:pPr>
            <a:r>
              <a:rPr lang="en-US" sz="1100" dirty="0">
                <a:solidFill>
                  <a:srgbClr val="EBC99A"/>
                </a:solidFill>
                <a:latin typeface="Calibri" pitchFamily="34" charset="0"/>
                <a:ea typeface="Calibri" pitchFamily="34" charset="-122"/>
                <a:cs typeface="Calibri" pitchFamily="34" charset="-120"/>
              </a:rPr>
              <a:t>Milestone 1</a:t>
            </a:r>
            <a:endParaRPr lang="en-US" sz="1100" dirty="0"/>
          </a:p>
        </p:txBody>
      </p:sp>
      <p:sp>
        <p:nvSpPr>
          <p:cNvPr id="5" name="Shape 3"/>
          <p:cNvSpPr/>
          <p:nvPr/>
        </p:nvSpPr>
        <p:spPr>
          <a:xfrm>
            <a:off x="365760" y="777240"/>
            <a:ext cx="192024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6" name="Shape 4"/>
          <p:cNvSpPr/>
          <p:nvPr/>
        </p:nvSpPr>
        <p:spPr>
          <a:xfrm>
            <a:off x="365760" y="868680"/>
            <a:ext cx="64008" cy="594360"/>
          </a:xfrm>
          <a:prstGeom prst="rect">
            <a:avLst/>
          </a:prstGeom>
          <a:solidFill>
            <a:srgbClr val="1B7F86"/>
          </a:solidFill>
          <a:ln w="12700">
            <a:solidFill>
              <a:srgbClr val="1B7F86"/>
            </a:solidFill>
            <a:prstDash val="solid"/>
          </a:ln>
        </p:spPr>
      </p:sp>
      <p:sp>
        <p:nvSpPr>
          <p:cNvPr id="7" name="Text 5"/>
          <p:cNvSpPr txBox="1"/>
          <p:nvPr/>
        </p:nvSpPr>
        <p:spPr>
          <a:xfrm>
            <a:off x="548640" y="832104"/>
            <a:ext cx="164592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19</a:t>
            </a:r>
            <a:endParaRPr lang="en-US" sz="2000" dirty="0"/>
          </a:p>
        </p:txBody>
      </p:sp>
      <p:sp>
        <p:nvSpPr>
          <p:cNvPr id="8" name="Text 6"/>
          <p:cNvSpPr txBox="1"/>
          <p:nvPr/>
        </p:nvSpPr>
        <p:spPr>
          <a:xfrm>
            <a:off x="548640" y="1234440"/>
            <a:ext cx="16459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Tables cleaned</a:t>
            </a:r>
            <a:endParaRPr lang="en-US" sz="950" dirty="0"/>
          </a:p>
        </p:txBody>
      </p:sp>
      <p:sp>
        <p:nvSpPr>
          <p:cNvPr id="9" name="Shape 7"/>
          <p:cNvSpPr/>
          <p:nvPr/>
        </p:nvSpPr>
        <p:spPr>
          <a:xfrm>
            <a:off x="2377440" y="777240"/>
            <a:ext cx="192024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2377440" y="868680"/>
            <a:ext cx="64008" cy="594360"/>
          </a:xfrm>
          <a:prstGeom prst="rect">
            <a:avLst/>
          </a:prstGeom>
          <a:solidFill>
            <a:srgbClr val="E07B5F"/>
          </a:solidFill>
          <a:ln w="12700">
            <a:solidFill>
              <a:srgbClr val="E07B5F"/>
            </a:solidFill>
            <a:prstDash val="solid"/>
          </a:ln>
        </p:spPr>
      </p:sp>
      <p:sp>
        <p:nvSpPr>
          <p:cNvPr id="11" name="Text 9"/>
          <p:cNvSpPr txBox="1"/>
          <p:nvPr/>
        </p:nvSpPr>
        <p:spPr>
          <a:xfrm>
            <a:off x="2560320" y="832104"/>
            <a:ext cx="164592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0</a:t>
            </a:r>
            <a:endParaRPr lang="en-US" sz="2000" dirty="0"/>
          </a:p>
        </p:txBody>
      </p:sp>
      <p:sp>
        <p:nvSpPr>
          <p:cNvPr id="12" name="Text 10"/>
          <p:cNvSpPr txBox="1"/>
          <p:nvPr/>
        </p:nvSpPr>
        <p:spPr>
          <a:xfrm>
            <a:off x="2560320" y="1234440"/>
            <a:ext cx="16459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Rows lost</a:t>
            </a:r>
            <a:endParaRPr lang="en-US" sz="950" dirty="0"/>
          </a:p>
        </p:txBody>
      </p:sp>
      <p:sp>
        <p:nvSpPr>
          <p:cNvPr id="13" name="Shape 11"/>
          <p:cNvSpPr/>
          <p:nvPr/>
        </p:nvSpPr>
        <p:spPr>
          <a:xfrm>
            <a:off x="4389120" y="777240"/>
            <a:ext cx="210312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4" name="Shape 12"/>
          <p:cNvSpPr/>
          <p:nvPr/>
        </p:nvSpPr>
        <p:spPr>
          <a:xfrm>
            <a:off x="4389120" y="868680"/>
            <a:ext cx="64008" cy="594360"/>
          </a:xfrm>
          <a:prstGeom prst="rect">
            <a:avLst/>
          </a:prstGeom>
          <a:solidFill>
            <a:srgbClr val="EBC99A"/>
          </a:solidFill>
          <a:ln w="12700">
            <a:solidFill>
              <a:srgbClr val="EBC99A"/>
            </a:solidFill>
            <a:prstDash val="solid"/>
          </a:ln>
        </p:spPr>
      </p:sp>
      <p:sp>
        <p:nvSpPr>
          <p:cNvPr id="15" name="Text 13"/>
          <p:cNvSpPr txBox="1"/>
          <p:nvPr/>
        </p:nvSpPr>
        <p:spPr>
          <a:xfrm>
            <a:off x="4572000" y="832104"/>
            <a:ext cx="182880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67,402</a:t>
            </a:r>
            <a:endParaRPr lang="en-US" sz="2000" dirty="0"/>
          </a:p>
        </p:txBody>
      </p:sp>
      <p:sp>
        <p:nvSpPr>
          <p:cNvPr id="16" name="Text 14"/>
          <p:cNvSpPr txBox="1"/>
          <p:nvPr/>
        </p:nvSpPr>
        <p:spPr>
          <a:xfrm>
            <a:off x="4572000" y="1234440"/>
            <a:ext cx="18288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Numeric ID gaps kept blank</a:t>
            </a:r>
            <a:endParaRPr lang="en-US" sz="950" dirty="0"/>
          </a:p>
        </p:txBody>
      </p:sp>
      <p:sp>
        <p:nvSpPr>
          <p:cNvPr id="17" name="Shape 15"/>
          <p:cNvSpPr/>
          <p:nvPr/>
        </p:nvSpPr>
        <p:spPr>
          <a:xfrm>
            <a:off x="6583680" y="777240"/>
            <a:ext cx="219456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8" name="Shape 16"/>
          <p:cNvSpPr/>
          <p:nvPr/>
        </p:nvSpPr>
        <p:spPr>
          <a:xfrm>
            <a:off x="6583680" y="868680"/>
            <a:ext cx="64008" cy="594360"/>
          </a:xfrm>
          <a:prstGeom prst="rect">
            <a:avLst/>
          </a:prstGeom>
          <a:solidFill>
            <a:srgbClr val="3D5A8A"/>
          </a:solidFill>
          <a:ln w="12700">
            <a:solidFill>
              <a:srgbClr val="3D5A8A"/>
            </a:solidFill>
            <a:prstDash val="solid"/>
          </a:ln>
        </p:spPr>
      </p:sp>
      <p:sp>
        <p:nvSpPr>
          <p:cNvPr id="19" name="Text 17"/>
          <p:cNvSpPr txBox="1"/>
          <p:nvPr/>
        </p:nvSpPr>
        <p:spPr>
          <a:xfrm>
            <a:off x="6766560" y="832104"/>
            <a:ext cx="192024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3</a:t>
            </a:r>
            <a:endParaRPr lang="en-US" sz="2000" dirty="0"/>
          </a:p>
        </p:txBody>
      </p:sp>
      <p:sp>
        <p:nvSpPr>
          <p:cNvPr id="20" name="Text 18"/>
          <p:cNvSpPr txBox="1"/>
          <p:nvPr/>
        </p:nvSpPr>
        <p:spPr>
          <a:xfrm>
            <a:off x="6766560" y="1234440"/>
            <a:ext cx="192024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Corrections in final pass</a:t>
            </a:r>
            <a:endParaRPr lang="en-US" sz="950" dirty="0"/>
          </a:p>
        </p:txBody>
      </p:sp>
      <p:sp>
        <p:nvSpPr>
          <p:cNvPr id="21" name="Shape 19"/>
          <p:cNvSpPr/>
          <p:nvPr/>
        </p:nvSpPr>
        <p:spPr>
          <a:xfrm>
            <a:off x="365760" y="1737360"/>
            <a:ext cx="512064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2" name="Text 20"/>
          <p:cNvSpPr txBox="1"/>
          <p:nvPr/>
        </p:nvSpPr>
        <p:spPr>
          <a:xfrm>
            <a:off x="548640" y="1828800"/>
            <a:ext cx="475488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Largest tables (rows)</a:t>
            </a:r>
            <a:endParaRPr lang="en-US" sz="1200" dirty="0"/>
          </a:p>
        </p:txBody>
      </p:sp>
      <p:graphicFrame>
        <p:nvGraphicFramePr>
          <p:cNvPr id="23" name="Chart 0" descr=""/>
          <p:cNvGraphicFramePr/>
          <p:nvPr/>
        </p:nvGraphicFramePr>
        <p:xfrm>
          <a:off x="457200" y="2103120"/>
          <a:ext cx="4937760" cy="2651760"/>
        </p:xfrm>
        <a:graphic xmlns:a="http://schemas.openxmlformats.org/drawingml/2006/main">
          <a:graphicData uri="http://schemas.openxmlformats.org/drawingml/2006/chart">
            <c:chart xmlns:c="http://schemas.openxmlformats.org/drawingml/2006/chart" r:id="rId2"/>
          </a:graphicData>
        </a:graphic>
      </p:graphicFrame>
      <p:sp>
        <p:nvSpPr>
          <p:cNvPr id="24" name="Shape 21"/>
          <p:cNvSpPr/>
          <p:nvPr/>
        </p:nvSpPr>
        <p:spPr>
          <a:xfrm>
            <a:off x="5669280" y="1737360"/>
            <a:ext cx="310896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5" name="Text 22"/>
          <p:cNvSpPr txBox="1"/>
          <p:nvPr/>
        </p:nvSpPr>
        <p:spPr>
          <a:xfrm>
            <a:off x="5852160" y="1828800"/>
            <a:ext cx="274320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Corrections made</a:t>
            </a:r>
            <a:endParaRPr lang="en-US" sz="1200" dirty="0"/>
          </a:p>
        </p:txBody>
      </p:sp>
      <p:sp>
        <p:nvSpPr>
          <p:cNvPr id="26" name="Shape 23"/>
          <p:cNvSpPr/>
          <p:nvPr/>
        </p:nvSpPr>
        <p:spPr>
          <a:xfrm>
            <a:off x="5852160" y="2240280"/>
            <a:ext cx="365760" cy="365760"/>
          </a:xfrm>
          <a:prstGeom prst="ellipse">
            <a:avLst/>
          </a:prstGeom>
          <a:solidFill>
            <a:srgbClr val="E07B5F"/>
          </a:solidFill>
          <a:ln w="12700">
            <a:solidFill>
              <a:srgbClr val="E07B5F"/>
            </a:solidFill>
            <a:prstDash val="solid"/>
          </a:ln>
        </p:spPr>
      </p:sp>
      <p:pic>
        <p:nvPicPr>
          <p:cNvPr id="27" name="Image 0" descr="preencoded.png">    </p:cNvPr>
          <p:cNvPicPr>
            <a:picLocks noChangeAspect="1"/>
          </p:cNvPicPr>
          <p:nvPr/>
        </p:nvPicPr>
        <p:blipFill>
          <a:blip r:embed="rId3"/>
          <a:stretch>
            <a:fillRect/>
          </a:stretch>
        </p:blipFill>
        <p:spPr>
          <a:xfrm>
            <a:off x="5943600" y="2331720"/>
            <a:ext cx="182880" cy="182880"/>
          </a:xfrm>
          <a:prstGeom prst="rect">
            <a:avLst/>
          </a:prstGeom>
        </p:spPr>
      </p:pic>
      <p:sp>
        <p:nvSpPr>
          <p:cNvPr id="28" name="Text 24"/>
          <p:cNvSpPr txBox="1"/>
          <p:nvPr/>
        </p:nvSpPr>
        <p:spPr>
          <a:xfrm>
            <a:off x="6355080" y="2240280"/>
            <a:ext cx="228600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reference_id text-fill reverted to blank</a:t>
            </a:r>
            <a:endParaRPr lang="en-US" sz="1150" dirty="0"/>
          </a:p>
        </p:txBody>
      </p:sp>
      <p:sp>
        <p:nvSpPr>
          <p:cNvPr id="29" name="Shape 25"/>
          <p:cNvSpPr/>
          <p:nvPr/>
        </p:nvSpPr>
        <p:spPr>
          <a:xfrm>
            <a:off x="5852160" y="3063240"/>
            <a:ext cx="365760" cy="365760"/>
          </a:xfrm>
          <a:prstGeom prst="ellipse">
            <a:avLst/>
          </a:prstGeom>
          <a:solidFill>
            <a:srgbClr val="1B7F86"/>
          </a:solidFill>
          <a:ln w="12700">
            <a:solidFill>
              <a:srgbClr val="1B7F86"/>
            </a:solidFill>
            <a:prstDash val="solid"/>
          </a:ln>
        </p:spPr>
      </p:sp>
      <p:pic>
        <p:nvPicPr>
          <p:cNvPr id="30" name="Image 1" descr="preencoded.png">    </p:cNvPr>
          <p:cNvPicPr>
            <a:picLocks noChangeAspect="1"/>
          </p:cNvPicPr>
          <p:nvPr/>
        </p:nvPicPr>
        <p:blipFill>
          <a:blip r:embed="rId4"/>
          <a:stretch>
            <a:fillRect/>
          </a:stretch>
        </p:blipFill>
        <p:spPr>
          <a:xfrm>
            <a:off x="5943600" y="3154680"/>
            <a:ext cx="182880" cy="182880"/>
          </a:xfrm>
          <a:prstGeom prst="rect">
            <a:avLst/>
          </a:prstGeom>
        </p:spPr>
      </p:pic>
      <p:sp>
        <p:nvSpPr>
          <p:cNvPr id="31" name="Text 26"/>
          <p:cNvSpPr txBox="1"/>
          <p:nvPr/>
        </p:nvSpPr>
        <p:spPr>
          <a:xfrm>
            <a:off x="6355080" y="3063240"/>
            <a:ext cx="228600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Acronyms restored: ICU and HR</a:t>
            </a:r>
            <a:endParaRPr lang="en-US" sz="1150" dirty="0"/>
          </a:p>
        </p:txBody>
      </p:sp>
      <p:sp>
        <p:nvSpPr>
          <p:cNvPr id="32" name="Shape 27"/>
          <p:cNvSpPr/>
          <p:nvPr/>
        </p:nvSpPr>
        <p:spPr>
          <a:xfrm>
            <a:off x="5852160" y="3886200"/>
            <a:ext cx="365760" cy="365760"/>
          </a:xfrm>
          <a:prstGeom prst="ellipse">
            <a:avLst/>
          </a:prstGeom>
          <a:solidFill>
            <a:srgbClr val="3D5A8A"/>
          </a:solidFill>
          <a:ln w="12700">
            <a:solidFill>
              <a:srgbClr val="3D5A8A"/>
            </a:solidFill>
            <a:prstDash val="solid"/>
          </a:ln>
        </p:spPr>
      </p:sp>
      <p:pic>
        <p:nvPicPr>
          <p:cNvPr id="33" name="Image 2" descr="preencoded.png">    </p:cNvPr>
          <p:cNvPicPr>
            <a:picLocks noChangeAspect="1"/>
          </p:cNvPicPr>
          <p:nvPr/>
        </p:nvPicPr>
        <p:blipFill>
          <a:blip r:embed="rId5"/>
          <a:stretch>
            <a:fillRect/>
          </a:stretch>
        </p:blipFill>
        <p:spPr>
          <a:xfrm>
            <a:off x="5943600" y="3977640"/>
            <a:ext cx="182880" cy="182880"/>
          </a:xfrm>
          <a:prstGeom prst="rect">
            <a:avLst/>
          </a:prstGeom>
        </p:spPr>
      </p:pic>
      <p:sp>
        <p:nvSpPr>
          <p:cNvPr id="34" name="Text 28"/>
          <p:cNvSpPr txBox="1"/>
          <p:nvPr/>
        </p:nvSpPr>
        <p:spPr>
          <a:xfrm>
            <a:off x="6355080" y="3886200"/>
            <a:ext cx="228600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Casing fixed: Govt and Private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7498080" y="-914400"/>
            <a:ext cx="2560320" cy="2560320"/>
          </a:xfrm>
          <a:prstGeom prst="ellipse">
            <a:avLst/>
          </a:prstGeom>
          <a:solidFill>
            <a:srgbClr val="E07B5F">
              <a:alpha val="12000"/>
            </a:srgbClr>
          </a:solidFill>
          <a:ln w="12700">
            <a:solidFill>
              <a:srgbClr val="E07B5F">
                <a:alpha val="12000"/>
              </a:srgbClr>
            </a:solidFill>
            <a:prstDash val="solid"/>
          </a:ln>
        </p:spPr>
      </p:sp>
      <p:sp>
        <p:nvSpPr>
          <p:cNvPr id="3" name="Shape 1"/>
          <p:cNvSpPr/>
          <p:nvPr/>
        </p:nvSpPr>
        <p:spPr>
          <a:xfrm>
            <a:off x="8229600" y="182880"/>
            <a:ext cx="1280160" cy="1280160"/>
          </a:xfrm>
          <a:prstGeom prst="ellipse">
            <a:avLst/>
          </a:prstGeom>
          <a:solidFill>
            <a:srgbClr val="E07B5F">
              <a:alpha val="15000"/>
            </a:srgbClr>
          </a:solidFill>
          <a:ln w="12700">
            <a:solidFill>
              <a:srgbClr val="E07B5F">
                <a:alpha val="15000"/>
              </a:srgbClr>
            </a:solidFill>
            <a:prstDash val="solid"/>
          </a:ln>
        </p:spPr>
      </p:sp>
      <p:sp>
        <p:nvSpPr>
          <p:cNvPr id="4" name="Shape 2"/>
          <p:cNvSpPr/>
          <p:nvPr/>
        </p:nvSpPr>
        <p:spPr>
          <a:xfrm>
            <a:off x="457200" y="274320"/>
            <a:ext cx="1371600" cy="256032"/>
          </a:xfrm>
          <a:prstGeom prst="roundRect">
            <a:avLst>
              <a:gd name="adj" fmla="val 50000"/>
            </a:avLst>
          </a:prstGeom>
          <a:solidFill>
            <a:srgbClr val="E07B5F"/>
          </a:solidFill>
          <a:ln w="12700">
            <a:solidFill>
              <a:srgbClr val="E07B5F"/>
            </a:solidFill>
            <a:prstDash val="solid"/>
          </a:ln>
        </p:spPr>
      </p:sp>
      <p:sp>
        <p:nvSpPr>
          <p:cNvPr id="5" name="Text 3"/>
          <p:cNvSpPr txBox="1"/>
          <p:nvPr/>
        </p:nvSpPr>
        <p:spPr>
          <a:xfrm>
            <a:off x="457200" y="274320"/>
            <a:ext cx="1371600" cy="256032"/>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MILESTONE 2</a:t>
            </a:r>
            <a:endParaRPr lang="en-US" sz="950" dirty="0"/>
          </a:p>
        </p:txBody>
      </p:sp>
      <p:sp>
        <p:nvSpPr>
          <p:cNvPr id="6" name="Text 4"/>
          <p:cNvSpPr txBox="1"/>
          <p:nvPr/>
        </p:nvSpPr>
        <p:spPr>
          <a:xfrm>
            <a:off x="457200" y="621792"/>
            <a:ext cx="7315200" cy="502920"/>
          </a:xfrm>
          <a:prstGeom prst="rect">
            <a:avLst/>
          </a:prstGeom>
          <a:noFill/>
          <a:ln/>
        </p:spPr>
        <p:txBody>
          <a:bodyPr wrap="square" lIns="0" tIns="0" rIns="0" bIns="0" rtlCol="0" anchor="ctr"/>
          <a:lstStyle/>
          <a:p>
            <a:pPr indent="0" marL="0">
              <a:buNone/>
            </a:pPr>
            <a:r>
              <a:rPr lang="en-US" sz="2800" b="1" dirty="0">
                <a:solidFill>
                  <a:srgbClr val="0C3B5E"/>
                </a:solidFill>
                <a:latin typeface="Calibri" pitchFamily="34" charset="0"/>
                <a:ea typeface="Calibri" pitchFamily="34" charset="-122"/>
                <a:cs typeface="Calibri" pitchFamily="34" charset="-120"/>
              </a:rPr>
              <a:t>Dashboard Storyboard</a:t>
            </a:r>
            <a:endParaRPr lang="en-US" sz="2800" dirty="0"/>
          </a:p>
        </p:txBody>
      </p:sp>
      <p:sp>
        <p:nvSpPr>
          <p:cNvPr id="7" name="Text 5"/>
          <p:cNvSpPr txBox="1"/>
          <p:nvPr/>
        </p:nvSpPr>
        <p:spPr>
          <a:xfrm>
            <a:off x="457200" y="1115568"/>
            <a:ext cx="73152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Three dashboards, each answering one main question</a:t>
            </a:r>
            <a:endParaRPr lang="en-US" sz="1300" dirty="0"/>
          </a:p>
        </p:txBody>
      </p:sp>
      <p:sp>
        <p:nvSpPr>
          <p:cNvPr id="8" name="Text 6"/>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9" name="Shape 7"/>
          <p:cNvSpPr/>
          <p:nvPr/>
        </p:nvSpPr>
        <p:spPr>
          <a:xfrm>
            <a:off x="457200" y="1600200"/>
            <a:ext cx="2651760" cy="2971800"/>
          </a:xfrm>
          <a:prstGeom prst="roundRect">
            <a:avLst>
              <a:gd name="adj" fmla="val 3448"/>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640080" y="1600200"/>
            <a:ext cx="2286000" cy="64008"/>
          </a:xfrm>
          <a:prstGeom prst="rect">
            <a:avLst/>
          </a:prstGeom>
          <a:solidFill>
            <a:srgbClr val="1B7F86"/>
          </a:solidFill>
          <a:ln w="12700">
            <a:solidFill>
              <a:srgbClr val="1B7F86"/>
            </a:solidFill>
            <a:prstDash val="solid"/>
          </a:ln>
        </p:spPr>
      </p:sp>
      <p:sp>
        <p:nvSpPr>
          <p:cNvPr id="11" name="Text 9"/>
          <p:cNvSpPr txBox="1"/>
          <p:nvPr/>
        </p:nvSpPr>
        <p:spPr>
          <a:xfrm>
            <a:off x="640080" y="1828800"/>
            <a:ext cx="2286000" cy="365760"/>
          </a:xfrm>
          <a:prstGeom prst="rect">
            <a:avLst/>
          </a:prstGeom>
          <a:noFill/>
          <a:ln/>
        </p:spPr>
        <p:txBody>
          <a:bodyPr wrap="square" lIns="0" tIns="0" rIns="0" bIns="0" rtlCol="0" anchor="ctr"/>
          <a:lstStyle/>
          <a:p>
            <a:pPr indent="0" marL="0">
              <a:buNone/>
            </a:pPr>
            <a:r>
              <a:rPr lang="en-US" sz="1600" b="1" dirty="0">
                <a:solidFill>
                  <a:srgbClr val="0C3B5E"/>
                </a:solidFill>
                <a:latin typeface="Calibri" pitchFamily="34" charset="0"/>
                <a:ea typeface="Calibri" pitchFamily="34" charset="-122"/>
                <a:cs typeface="Calibri" pitchFamily="34" charset="-120"/>
              </a:rPr>
              <a:t>1  Hospital Overview</a:t>
            </a:r>
            <a:endParaRPr lang="en-US" sz="1600" dirty="0"/>
          </a:p>
        </p:txBody>
      </p:sp>
      <p:sp>
        <p:nvSpPr>
          <p:cNvPr id="12" name="Shape 10"/>
          <p:cNvSpPr/>
          <p:nvPr/>
        </p:nvSpPr>
        <p:spPr>
          <a:xfrm>
            <a:off x="640080" y="2286000"/>
            <a:ext cx="2286000" cy="640080"/>
          </a:xfrm>
          <a:prstGeom prst="roundRect">
            <a:avLst>
              <a:gd name="adj" fmla="val 11429"/>
            </a:avLst>
          </a:prstGeom>
          <a:solidFill>
            <a:srgbClr val="1B7F86">
              <a:alpha val="12000"/>
            </a:srgbClr>
          </a:solidFill>
          <a:ln w="12700">
            <a:solidFill>
              <a:srgbClr val="1B7F86">
                <a:alpha val="12000"/>
              </a:srgbClr>
            </a:solidFill>
            <a:prstDash val="solid"/>
          </a:ln>
        </p:spPr>
      </p:sp>
      <p:sp>
        <p:nvSpPr>
          <p:cNvPr id="13" name="Text 11"/>
          <p:cNvSpPr txBox="1"/>
          <p:nvPr/>
        </p:nvSpPr>
        <p:spPr>
          <a:xfrm>
            <a:off x="731520" y="2286000"/>
            <a:ext cx="2103120" cy="640080"/>
          </a:xfrm>
          <a:prstGeom prst="rect">
            <a:avLst/>
          </a:prstGeom>
          <a:noFill/>
          <a:ln/>
        </p:spPr>
        <p:txBody>
          <a:bodyPr wrap="square" lIns="0" tIns="0" rIns="0" bIns="0" rtlCol="0" anchor="ctr"/>
          <a:lstStyle/>
          <a:p>
            <a:pPr indent="0" marL="0">
              <a:buNone/>
            </a:pPr>
            <a:r>
              <a:rPr lang="en-US" sz="1250" b="1" i="1" dirty="0">
                <a:solidFill>
                  <a:srgbClr val="1B7F86"/>
                </a:solidFill>
                <a:latin typeface="Calibri" pitchFamily="34" charset="0"/>
                <a:ea typeface="Calibri" pitchFamily="34" charset="-122"/>
                <a:cs typeface="Calibri" pitchFamily="34" charset="-120"/>
              </a:rPr>
              <a:t>What is happening in the hospital?</a:t>
            </a:r>
            <a:endParaRPr lang="en-US" sz="1250" dirty="0"/>
          </a:p>
        </p:txBody>
      </p:sp>
      <p:sp>
        <p:nvSpPr>
          <p:cNvPr id="14" name="Text 12"/>
          <p:cNvSpPr txBox="1"/>
          <p:nvPr/>
        </p:nvSpPr>
        <p:spPr>
          <a:xfrm>
            <a:off x="640080" y="3108960"/>
            <a:ext cx="2286000" cy="13716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Total Admissions, Occupancy, Avg Length of Stay, Readmission, Bed Utilization</a:t>
            </a:r>
            <a:endParaRPr lang="en-US" sz="1150" dirty="0"/>
          </a:p>
        </p:txBody>
      </p:sp>
      <p:sp>
        <p:nvSpPr>
          <p:cNvPr id="15" name="Shape 13"/>
          <p:cNvSpPr/>
          <p:nvPr/>
        </p:nvSpPr>
        <p:spPr>
          <a:xfrm>
            <a:off x="3246120" y="1600200"/>
            <a:ext cx="2651760" cy="2971800"/>
          </a:xfrm>
          <a:prstGeom prst="roundRect">
            <a:avLst>
              <a:gd name="adj" fmla="val 3448"/>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6" name="Shape 14"/>
          <p:cNvSpPr/>
          <p:nvPr/>
        </p:nvSpPr>
        <p:spPr>
          <a:xfrm>
            <a:off x="3429000" y="1600200"/>
            <a:ext cx="2286000" cy="64008"/>
          </a:xfrm>
          <a:prstGeom prst="rect">
            <a:avLst/>
          </a:prstGeom>
          <a:solidFill>
            <a:srgbClr val="E07B5F"/>
          </a:solidFill>
          <a:ln w="12700">
            <a:solidFill>
              <a:srgbClr val="E07B5F"/>
            </a:solidFill>
            <a:prstDash val="solid"/>
          </a:ln>
        </p:spPr>
      </p:sp>
      <p:sp>
        <p:nvSpPr>
          <p:cNvPr id="17" name="Text 15"/>
          <p:cNvSpPr txBox="1"/>
          <p:nvPr/>
        </p:nvSpPr>
        <p:spPr>
          <a:xfrm>
            <a:off x="3429000" y="1828800"/>
            <a:ext cx="2286000" cy="365760"/>
          </a:xfrm>
          <a:prstGeom prst="rect">
            <a:avLst/>
          </a:prstGeom>
          <a:noFill/>
          <a:ln/>
        </p:spPr>
        <p:txBody>
          <a:bodyPr wrap="square" lIns="0" tIns="0" rIns="0" bIns="0" rtlCol="0" anchor="ctr"/>
          <a:lstStyle/>
          <a:p>
            <a:pPr indent="0" marL="0">
              <a:buNone/>
            </a:pPr>
            <a:r>
              <a:rPr lang="en-US" sz="1600" b="1" dirty="0">
                <a:solidFill>
                  <a:srgbClr val="0C3B5E"/>
                </a:solidFill>
                <a:latin typeface="Calibri" pitchFamily="34" charset="0"/>
                <a:ea typeface="Calibri" pitchFamily="34" charset="-122"/>
                <a:cs typeface="Calibri" pitchFamily="34" charset="-120"/>
              </a:rPr>
              <a:t>2  Patient &amp; Clinical</a:t>
            </a:r>
            <a:endParaRPr lang="en-US" sz="1600" dirty="0"/>
          </a:p>
        </p:txBody>
      </p:sp>
      <p:sp>
        <p:nvSpPr>
          <p:cNvPr id="18" name="Shape 16"/>
          <p:cNvSpPr/>
          <p:nvPr/>
        </p:nvSpPr>
        <p:spPr>
          <a:xfrm>
            <a:off x="3429000" y="2286000"/>
            <a:ext cx="2286000" cy="640080"/>
          </a:xfrm>
          <a:prstGeom prst="roundRect">
            <a:avLst>
              <a:gd name="adj" fmla="val 11429"/>
            </a:avLst>
          </a:prstGeom>
          <a:solidFill>
            <a:srgbClr val="E07B5F">
              <a:alpha val="12000"/>
            </a:srgbClr>
          </a:solidFill>
          <a:ln w="12700">
            <a:solidFill>
              <a:srgbClr val="E07B5F">
                <a:alpha val="12000"/>
              </a:srgbClr>
            </a:solidFill>
            <a:prstDash val="solid"/>
          </a:ln>
        </p:spPr>
      </p:sp>
      <p:sp>
        <p:nvSpPr>
          <p:cNvPr id="19" name="Text 17"/>
          <p:cNvSpPr txBox="1"/>
          <p:nvPr/>
        </p:nvSpPr>
        <p:spPr>
          <a:xfrm>
            <a:off x="3520440" y="2286000"/>
            <a:ext cx="2103120" cy="640080"/>
          </a:xfrm>
          <a:prstGeom prst="rect">
            <a:avLst/>
          </a:prstGeom>
          <a:noFill/>
          <a:ln/>
        </p:spPr>
        <p:txBody>
          <a:bodyPr wrap="square" lIns="0" tIns="0" rIns="0" bIns="0" rtlCol="0" anchor="ctr"/>
          <a:lstStyle/>
          <a:p>
            <a:pPr indent="0" marL="0">
              <a:buNone/>
            </a:pPr>
            <a:r>
              <a:rPr lang="en-US" sz="1250" b="1" i="1" dirty="0">
                <a:solidFill>
                  <a:srgbClr val="E07B5F"/>
                </a:solidFill>
                <a:latin typeface="Calibri" pitchFamily="34" charset="0"/>
                <a:ea typeface="Calibri" pitchFamily="34" charset="-122"/>
                <a:cs typeface="Calibri" pitchFamily="34" charset="-120"/>
              </a:rPr>
              <a:t>What is happening with the patients?</a:t>
            </a:r>
            <a:endParaRPr lang="en-US" sz="1250" dirty="0"/>
          </a:p>
        </p:txBody>
      </p:sp>
      <p:sp>
        <p:nvSpPr>
          <p:cNvPr id="20" name="Text 18"/>
          <p:cNvSpPr txBox="1"/>
          <p:nvPr/>
        </p:nvSpPr>
        <p:spPr>
          <a:xfrm>
            <a:off x="3429000" y="3108960"/>
            <a:ext cx="2286000" cy="13716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Admissions by department and disease category, LOS and readmission</a:t>
            </a:r>
            <a:endParaRPr lang="en-US" sz="1150" dirty="0"/>
          </a:p>
        </p:txBody>
      </p:sp>
      <p:sp>
        <p:nvSpPr>
          <p:cNvPr id="21" name="Shape 19"/>
          <p:cNvSpPr/>
          <p:nvPr/>
        </p:nvSpPr>
        <p:spPr>
          <a:xfrm>
            <a:off x="6035040" y="1600200"/>
            <a:ext cx="2651760" cy="2971800"/>
          </a:xfrm>
          <a:prstGeom prst="roundRect">
            <a:avLst>
              <a:gd name="adj" fmla="val 3448"/>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22" name="Shape 20"/>
          <p:cNvSpPr/>
          <p:nvPr/>
        </p:nvSpPr>
        <p:spPr>
          <a:xfrm>
            <a:off x="6217920" y="1600200"/>
            <a:ext cx="2286000" cy="64008"/>
          </a:xfrm>
          <a:prstGeom prst="rect">
            <a:avLst/>
          </a:prstGeom>
          <a:solidFill>
            <a:srgbClr val="3D5A8A"/>
          </a:solidFill>
          <a:ln w="12700">
            <a:solidFill>
              <a:srgbClr val="3D5A8A"/>
            </a:solidFill>
            <a:prstDash val="solid"/>
          </a:ln>
        </p:spPr>
      </p:sp>
      <p:sp>
        <p:nvSpPr>
          <p:cNvPr id="23" name="Text 21"/>
          <p:cNvSpPr txBox="1"/>
          <p:nvPr/>
        </p:nvSpPr>
        <p:spPr>
          <a:xfrm>
            <a:off x="6217920" y="1828800"/>
            <a:ext cx="2286000" cy="365760"/>
          </a:xfrm>
          <a:prstGeom prst="rect">
            <a:avLst/>
          </a:prstGeom>
          <a:noFill/>
          <a:ln/>
        </p:spPr>
        <p:txBody>
          <a:bodyPr wrap="square" lIns="0" tIns="0" rIns="0" bIns="0" rtlCol="0" anchor="ctr"/>
          <a:lstStyle/>
          <a:p>
            <a:pPr indent="0" marL="0">
              <a:buNone/>
            </a:pPr>
            <a:r>
              <a:rPr lang="en-US" sz="1600" b="1" dirty="0">
                <a:solidFill>
                  <a:srgbClr val="0C3B5E"/>
                </a:solidFill>
                <a:latin typeface="Calibri" pitchFamily="34" charset="0"/>
                <a:ea typeface="Calibri" pitchFamily="34" charset="-122"/>
                <a:cs typeface="Calibri" pitchFamily="34" charset="-120"/>
              </a:rPr>
              <a:t>3  Bed &amp; Department</a:t>
            </a:r>
            <a:endParaRPr lang="en-US" sz="1600" dirty="0"/>
          </a:p>
        </p:txBody>
      </p:sp>
      <p:sp>
        <p:nvSpPr>
          <p:cNvPr id="24" name="Shape 22"/>
          <p:cNvSpPr/>
          <p:nvPr/>
        </p:nvSpPr>
        <p:spPr>
          <a:xfrm>
            <a:off x="6217920" y="2286000"/>
            <a:ext cx="2286000" cy="640080"/>
          </a:xfrm>
          <a:prstGeom prst="roundRect">
            <a:avLst>
              <a:gd name="adj" fmla="val 11429"/>
            </a:avLst>
          </a:prstGeom>
          <a:solidFill>
            <a:srgbClr val="3D5A8A">
              <a:alpha val="12000"/>
            </a:srgbClr>
          </a:solidFill>
          <a:ln w="12700">
            <a:solidFill>
              <a:srgbClr val="3D5A8A">
                <a:alpha val="12000"/>
              </a:srgbClr>
            </a:solidFill>
            <a:prstDash val="solid"/>
          </a:ln>
        </p:spPr>
      </p:sp>
      <p:sp>
        <p:nvSpPr>
          <p:cNvPr id="25" name="Text 23"/>
          <p:cNvSpPr txBox="1"/>
          <p:nvPr/>
        </p:nvSpPr>
        <p:spPr>
          <a:xfrm>
            <a:off x="6309360" y="2286000"/>
            <a:ext cx="2103120" cy="640080"/>
          </a:xfrm>
          <a:prstGeom prst="rect">
            <a:avLst/>
          </a:prstGeom>
          <a:noFill/>
          <a:ln/>
        </p:spPr>
        <p:txBody>
          <a:bodyPr wrap="square" lIns="0" tIns="0" rIns="0" bIns="0" rtlCol="0" anchor="ctr"/>
          <a:lstStyle/>
          <a:p>
            <a:pPr indent="0" marL="0">
              <a:buNone/>
            </a:pPr>
            <a:r>
              <a:rPr lang="en-US" sz="1250" b="1" i="1" dirty="0">
                <a:solidFill>
                  <a:srgbClr val="3D5A8A"/>
                </a:solidFill>
                <a:latin typeface="Calibri" pitchFamily="34" charset="0"/>
                <a:ea typeface="Calibri" pitchFamily="34" charset="-122"/>
                <a:cs typeface="Calibri" pitchFamily="34" charset="-120"/>
              </a:rPr>
              <a:t>How efficiently are resources used?</a:t>
            </a:r>
            <a:endParaRPr lang="en-US" sz="1250" dirty="0"/>
          </a:p>
        </p:txBody>
      </p:sp>
      <p:sp>
        <p:nvSpPr>
          <p:cNvPr id="26" name="Text 24"/>
          <p:cNvSpPr txBox="1"/>
          <p:nvPr/>
        </p:nvSpPr>
        <p:spPr>
          <a:xfrm>
            <a:off x="6217920" y="3108960"/>
            <a:ext cx="2286000" cy="13716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Total, occupied and available beds, Efficiency Score, admissions vs capacity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7498080" y="-914400"/>
            <a:ext cx="2560320" cy="2560320"/>
          </a:xfrm>
          <a:prstGeom prst="ellipse">
            <a:avLst/>
          </a:prstGeom>
          <a:solidFill>
            <a:srgbClr val="E07B5F">
              <a:alpha val="12000"/>
            </a:srgbClr>
          </a:solidFill>
          <a:ln w="12700">
            <a:solidFill>
              <a:srgbClr val="E07B5F">
                <a:alpha val="12000"/>
              </a:srgbClr>
            </a:solidFill>
            <a:prstDash val="solid"/>
          </a:ln>
        </p:spPr>
      </p:sp>
      <p:sp>
        <p:nvSpPr>
          <p:cNvPr id="3" name="Shape 1"/>
          <p:cNvSpPr/>
          <p:nvPr/>
        </p:nvSpPr>
        <p:spPr>
          <a:xfrm>
            <a:off x="8229600" y="182880"/>
            <a:ext cx="1280160" cy="1280160"/>
          </a:xfrm>
          <a:prstGeom prst="ellipse">
            <a:avLst/>
          </a:prstGeom>
          <a:solidFill>
            <a:srgbClr val="E07B5F">
              <a:alpha val="15000"/>
            </a:srgbClr>
          </a:solidFill>
          <a:ln w="12700">
            <a:solidFill>
              <a:srgbClr val="E07B5F">
                <a:alpha val="15000"/>
              </a:srgbClr>
            </a:solidFill>
            <a:prstDash val="solid"/>
          </a:ln>
        </p:spPr>
      </p:sp>
      <p:sp>
        <p:nvSpPr>
          <p:cNvPr id="4" name="Shape 2"/>
          <p:cNvSpPr/>
          <p:nvPr/>
        </p:nvSpPr>
        <p:spPr>
          <a:xfrm>
            <a:off x="457200" y="274320"/>
            <a:ext cx="1371600" cy="256032"/>
          </a:xfrm>
          <a:prstGeom prst="roundRect">
            <a:avLst>
              <a:gd name="adj" fmla="val 50000"/>
            </a:avLst>
          </a:prstGeom>
          <a:solidFill>
            <a:srgbClr val="E07B5F"/>
          </a:solidFill>
          <a:ln w="12700">
            <a:solidFill>
              <a:srgbClr val="E07B5F"/>
            </a:solidFill>
            <a:prstDash val="solid"/>
          </a:ln>
        </p:spPr>
      </p:sp>
      <p:sp>
        <p:nvSpPr>
          <p:cNvPr id="5" name="Text 3"/>
          <p:cNvSpPr txBox="1"/>
          <p:nvPr/>
        </p:nvSpPr>
        <p:spPr>
          <a:xfrm>
            <a:off x="457200" y="274320"/>
            <a:ext cx="1371600" cy="256032"/>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MILESTONE 2</a:t>
            </a:r>
            <a:endParaRPr lang="en-US" sz="950" dirty="0"/>
          </a:p>
        </p:txBody>
      </p:sp>
      <p:sp>
        <p:nvSpPr>
          <p:cNvPr id="6" name="Text 4"/>
          <p:cNvSpPr txBox="1"/>
          <p:nvPr/>
        </p:nvSpPr>
        <p:spPr>
          <a:xfrm>
            <a:off x="457200" y="621792"/>
            <a:ext cx="7315200" cy="502920"/>
          </a:xfrm>
          <a:prstGeom prst="rect">
            <a:avLst/>
          </a:prstGeom>
          <a:noFill/>
          <a:ln/>
        </p:spPr>
        <p:txBody>
          <a:bodyPr wrap="square" lIns="0" tIns="0" rIns="0" bIns="0" rtlCol="0" anchor="ctr"/>
          <a:lstStyle/>
          <a:p>
            <a:pPr indent="0" marL="0">
              <a:buNone/>
            </a:pPr>
            <a:r>
              <a:rPr lang="en-US" sz="2800" b="1" dirty="0">
                <a:solidFill>
                  <a:srgbClr val="0C3B5E"/>
                </a:solidFill>
                <a:latin typeface="Calibri" pitchFamily="34" charset="0"/>
                <a:ea typeface="Calibri" pitchFamily="34" charset="-122"/>
                <a:cs typeface="Calibri" pitchFamily="34" charset="-120"/>
              </a:rPr>
              <a:t>Storyboard Structure</a:t>
            </a:r>
            <a:endParaRPr lang="en-US" sz="2800" dirty="0"/>
          </a:p>
        </p:txBody>
      </p:sp>
      <p:sp>
        <p:nvSpPr>
          <p:cNvPr id="7" name="Text 5"/>
          <p:cNvSpPr txBox="1"/>
          <p:nvPr/>
        </p:nvSpPr>
        <p:spPr>
          <a:xfrm>
            <a:off x="457200" y="1115568"/>
            <a:ext cx="73152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Every dashboard follows the same five-step design flow</a:t>
            </a:r>
            <a:endParaRPr lang="en-US" sz="1300" dirty="0"/>
          </a:p>
        </p:txBody>
      </p:sp>
      <p:sp>
        <p:nvSpPr>
          <p:cNvPr id="8" name="Text 6"/>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9" name="Shape 7"/>
          <p:cNvSpPr/>
          <p:nvPr/>
        </p:nvSpPr>
        <p:spPr>
          <a:xfrm>
            <a:off x="457200" y="1600200"/>
            <a:ext cx="1600200" cy="868680"/>
          </a:xfrm>
          <a:prstGeom prst="homePlate">
            <a:avLst/>
          </a:prstGeom>
          <a:solidFill>
            <a:srgbClr val="1B7F86"/>
          </a:solidFill>
          <a:ln w="12700">
            <a:solidFill>
              <a:srgbClr val="1B7F86"/>
            </a:solidFill>
            <a:prstDash val="solid"/>
          </a:ln>
          <a:effectLst>
            <a:outerShdw sx="100000" sy="100000" kx="0" ky="0" algn="bl" rotWithShape="0" blurRad="101600" dist="38100" dir="5400000">
              <a:srgbClr val="000000">
                <a:alpha val="16000"/>
              </a:srgbClr>
            </a:outerShdw>
          </a:effectLst>
        </p:spPr>
      </p:sp>
      <p:sp>
        <p:nvSpPr>
          <p:cNvPr id="10" name="Text 8"/>
          <p:cNvSpPr txBox="1"/>
          <p:nvPr/>
        </p:nvSpPr>
        <p:spPr>
          <a:xfrm>
            <a:off x="594360" y="1600200"/>
            <a:ext cx="365760" cy="868680"/>
          </a:xfrm>
          <a:prstGeom prst="rect">
            <a:avLst/>
          </a:prstGeom>
          <a:noFill/>
          <a:ln/>
        </p:spPr>
        <p:txBody>
          <a:bodyPr wrap="square" lIns="0" tIns="0" rIns="0" bIns="0" rtlCol="0" anchor="ctr"/>
          <a:lstStyle/>
          <a:p>
            <a:pPr indent="0" marL="0">
              <a:buNone/>
            </a:pPr>
            <a:r>
              <a:rPr lang="en-US" sz="2400" b="1" dirty="0">
                <a:solidFill>
                  <a:srgbClr val="FFFFFF">
                    <a:alpha val="60000"/>
                  </a:srgbClr>
                </a:solidFill>
                <a:latin typeface="Calibri" pitchFamily="34" charset="0"/>
                <a:ea typeface="Calibri" pitchFamily="34" charset="-122"/>
                <a:cs typeface="Calibri" pitchFamily="34" charset="-120"/>
              </a:rPr>
              <a:t>1</a:t>
            </a:r>
            <a:endParaRPr lang="en-US" sz="2400" dirty="0"/>
          </a:p>
        </p:txBody>
      </p:sp>
      <p:sp>
        <p:nvSpPr>
          <p:cNvPr id="11" name="Text 9"/>
          <p:cNvSpPr txBox="1"/>
          <p:nvPr/>
        </p:nvSpPr>
        <p:spPr>
          <a:xfrm>
            <a:off x="914400" y="1600200"/>
            <a:ext cx="100584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p>
        </p:txBody>
      </p:sp>
      <p:sp>
        <p:nvSpPr>
          <p:cNvPr id="12" name="Shape 10"/>
          <p:cNvSpPr/>
          <p:nvPr/>
        </p:nvSpPr>
        <p:spPr>
          <a:xfrm>
            <a:off x="2103120" y="1600200"/>
            <a:ext cx="1600200" cy="868680"/>
          </a:xfrm>
          <a:prstGeom prst="homePlate">
            <a:avLst/>
          </a:prstGeom>
          <a:solidFill>
            <a:srgbClr val="E07B5F"/>
          </a:solidFill>
          <a:ln w="12700">
            <a:solidFill>
              <a:srgbClr val="E07B5F"/>
            </a:solidFill>
            <a:prstDash val="solid"/>
          </a:ln>
          <a:effectLst>
            <a:outerShdw sx="100000" sy="100000" kx="0" ky="0" algn="bl" rotWithShape="0" blurRad="101600" dist="38100" dir="5400000">
              <a:srgbClr val="000000">
                <a:alpha val="16000"/>
              </a:srgbClr>
            </a:outerShdw>
          </a:effectLst>
        </p:spPr>
      </p:sp>
      <p:sp>
        <p:nvSpPr>
          <p:cNvPr id="13" name="Text 11"/>
          <p:cNvSpPr txBox="1"/>
          <p:nvPr/>
        </p:nvSpPr>
        <p:spPr>
          <a:xfrm>
            <a:off x="2240280" y="1600200"/>
            <a:ext cx="365760" cy="868680"/>
          </a:xfrm>
          <a:prstGeom prst="rect">
            <a:avLst/>
          </a:prstGeom>
          <a:noFill/>
          <a:ln/>
        </p:spPr>
        <p:txBody>
          <a:bodyPr wrap="square" lIns="0" tIns="0" rIns="0" bIns="0" rtlCol="0" anchor="ctr"/>
          <a:lstStyle/>
          <a:p>
            <a:pPr indent="0" marL="0">
              <a:buNone/>
            </a:pPr>
            <a:r>
              <a:rPr lang="en-US" sz="2400" b="1" dirty="0">
                <a:solidFill>
                  <a:srgbClr val="FFFFFF">
                    <a:alpha val="60000"/>
                  </a:srgbClr>
                </a:solidFill>
                <a:latin typeface="Calibri" pitchFamily="34" charset="0"/>
                <a:ea typeface="Calibri" pitchFamily="34" charset="-122"/>
                <a:cs typeface="Calibri" pitchFamily="34" charset="-120"/>
              </a:rPr>
              <a:t>2</a:t>
            </a:r>
            <a:endParaRPr lang="en-US" sz="2400" dirty="0"/>
          </a:p>
        </p:txBody>
      </p:sp>
      <p:sp>
        <p:nvSpPr>
          <p:cNvPr id="14" name="Text 12"/>
          <p:cNvSpPr txBox="1"/>
          <p:nvPr/>
        </p:nvSpPr>
        <p:spPr>
          <a:xfrm>
            <a:off x="2560320" y="1600200"/>
            <a:ext cx="100584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KPIs</a:t>
            </a:r>
            <a:endParaRPr lang="en-US" sz="1300" dirty="0"/>
          </a:p>
        </p:txBody>
      </p:sp>
      <p:sp>
        <p:nvSpPr>
          <p:cNvPr id="15" name="Shape 13"/>
          <p:cNvSpPr/>
          <p:nvPr/>
        </p:nvSpPr>
        <p:spPr>
          <a:xfrm>
            <a:off x="3749040" y="1600200"/>
            <a:ext cx="1600200" cy="868680"/>
          </a:xfrm>
          <a:prstGeom prst="homePlate">
            <a:avLst/>
          </a:prstGeom>
          <a:solidFill>
            <a:srgbClr val="3D5A8A"/>
          </a:solidFill>
          <a:ln w="12700">
            <a:solidFill>
              <a:srgbClr val="3D5A8A"/>
            </a:solidFill>
            <a:prstDash val="solid"/>
          </a:ln>
          <a:effectLst>
            <a:outerShdw sx="100000" sy="100000" kx="0" ky="0" algn="bl" rotWithShape="0" blurRad="101600" dist="38100" dir="5400000">
              <a:srgbClr val="000000">
                <a:alpha val="16000"/>
              </a:srgbClr>
            </a:outerShdw>
          </a:effectLst>
        </p:spPr>
      </p:sp>
      <p:sp>
        <p:nvSpPr>
          <p:cNvPr id="16" name="Text 14"/>
          <p:cNvSpPr txBox="1"/>
          <p:nvPr/>
        </p:nvSpPr>
        <p:spPr>
          <a:xfrm>
            <a:off x="3886200" y="1600200"/>
            <a:ext cx="365760" cy="868680"/>
          </a:xfrm>
          <a:prstGeom prst="rect">
            <a:avLst/>
          </a:prstGeom>
          <a:noFill/>
          <a:ln/>
        </p:spPr>
        <p:txBody>
          <a:bodyPr wrap="square" lIns="0" tIns="0" rIns="0" bIns="0" rtlCol="0" anchor="ctr"/>
          <a:lstStyle/>
          <a:p>
            <a:pPr indent="0" marL="0">
              <a:buNone/>
            </a:pPr>
            <a:r>
              <a:rPr lang="en-US" sz="2400" b="1" dirty="0">
                <a:solidFill>
                  <a:srgbClr val="FFFFFF">
                    <a:alpha val="60000"/>
                  </a:srgbClr>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4206240" y="1600200"/>
            <a:ext cx="100584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Charts</a:t>
            </a:r>
            <a:endParaRPr lang="en-US" sz="1300" dirty="0"/>
          </a:p>
        </p:txBody>
      </p:sp>
      <p:sp>
        <p:nvSpPr>
          <p:cNvPr id="18" name="Shape 16"/>
          <p:cNvSpPr/>
          <p:nvPr/>
        </p:nvSpPr>
        <p:spPr>
          <a:xfrm>
            <a:off x="5394960" y="1600200"/>
            <a:ext cx="1600200" cy="868680"/>
          </a:xfrm>
          <a:prstGeom prst="homePlate">
            <a:avLst/>
          </a:prstGeom>
          <a:solidFill>
            <a:srgbClr val="0C3B5E"/>
          </a:solidFill>
          <a:ln w="12700">
            <a:solidFill>
              <a:srgbClr val="0C3B5E"/>
            </a:solidFill>
            <a:prstDash val="solid"/>
          </a:ln>
          <a:effectLst>
            <a:outerShdw sx="100000" sy="100000" kx="0" ky="0" algn="bl" rotWithShape="0" blurRad="101600" dist="38100" dir="5400000">
              <a:srgbClr val="000000">
                <a:alpha val="16000"/>
              </a:srgbClr>
            </a:outerShdw>
          </a:effectLst>
        </p:spPr>
      </p:sp>
      <p:sp>
        <p:nvSpPr>
          <p:cNvPr id="19" name="Text 17"/>
          <p:cNvSpPr txBox="1"/>
          <p:nvPr/>
        </p:nvSpPr>
        <p:spPr>
          <a:xfrm>
            <a:off x="5532120" y="1600200"/>
            <a:ext cx="365760" cy="868680"/>
          </a:xfrm>
          <a:prstGeom prst="rect">
            <a:avLst/>
          </a:prstGeom>
          <a:noFill/>
          <a:ln/>
        </p:spPr>
        <p:txBody>
          <a:bodyPr wrap="square" lIns="0" tIns="0" rIns="0" bIns="0" rtlCol="0" anchor="ctr"/>
          <a:lstStyle/>
          <a:p>
            <a:pPr indent="0" marL="0">
              <a:buNone/>
            </a:pPr>
            <a:r>
              <a:rPr lang="en-US" sz="2400" b="1" dirty="0">
                <a:solidFill>
                  <a:srgbClr val="FFFFFF">
                    <a:alpha val="60000"/>
                  </a:srgbClr>
                </a:solidFill>
                <a:latin typeface="Calibri" pitchFamily="34" charset="0"/>
                <a:ea typeface="Calibri" pitchFamily="34" charset="-122"/>
                <a:cs typeface="Calibri" pitchFamily="34" charset="-120"/>
              </a:rPr>
              <a:t>4</a:t>
            </a:r>
            <a:endParaRPr lang="en-US" sz="2400" dirty="0"/>
          </a:p>
        </p:txBody>
      </p:sp>
      <p:sp>
        <p:nvSpPr>
          <p:cNvPr id="20" name="Text 18"/>
          <p:cNvSpPr txBox="1"/>
          <p:nvPr/>
        </p:nvSpPr>
        <p:spPr>
          <a:xfrm>
            <a:off x="5852160" y="1600200"/>
            <a:ext cx="100584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Filters</a:t>
            </a:r>
            <a:endParaRPr lang="en-US" sz="1300" dirty="0"/>
          </a:p>
        </p:txBody>
      </p:sp>
      <p:sp>
        <p:nvSpPr>
          <p:cNvPr id="21" name="Shape 19"/>
          <p:cNvSpPr/>
          <p:nvPr/>
        </p:nvSpPr>
        <p:spPr>
          <a:xfrm>
            <a:off x="7040880" y="1600200"/>
            <a:ext cx="1600200" cy="868680"/>
          </a:xfrm>
          <a:prstGeom prst="homePlate">
            <a:avLst/>
          </a:prstGeom>
          <a:solidFill>
            <a:srgbClr val="1B7F86"/>
          </a:solidFill>
          <a:ln w="12700">
            <a:solidFill>
              <a:srgbClr val="1B7F86"/>
            </a:solidFill>
            <a:prstDash val="solid"/>
          </a:ln>
          <a:effectLst>
            <a:outerShdw sx="100000" sy="100000" kx="0" ky="0" algn="bl" rotWithShape="0" blurRad="101600" dist="38100" dir="5400000">
              <a:srgbClr val="000000">
                <a:alpha val="16000"/>
              </a:srgbClr>
            </a:outerShdw>
          </a:effectLst>
        </p:spPr>
      </p:sp>
      <p:sp>
        <p:nvSpPr>
          <p:cNvPr id="22" name="Text 20"/>
          <p:cNvSpPr txBox="1"/>
          <p:nvPr/>
        </p:nvSpPr>
        <p:spPr>
          <a:xfrm>
            <a:off x="7178040" y="1600200"/>
            <a:ext cx="365760" cy="868680"/>
          </a:xfrm>
          <a:prstGeom prst="rect">
            <a:avLst/>
          </a:prstGeom>
          <a:noFill/>
          <a:ln/>
        </p:spPr>
        <p:txBody>
          <a:bodyPr wrap="square" lIns="0" tIns="0" rIns="0" bIns="0" rtlCol="0" anchor="ctr"/>
          <a:lstStyle/>
          <a:p>
            <a:pPr indent="0" marL="0">
              <a:buNone/>
            </a:pPr>
            <a:r>
              <a:rPr lang="en-US" sz="2400" b="1" dirty="0">
                <a:solidFill>
                  <a:srgbClr val="FFFFFF">
                    <a:alpha val="60000"/>
                  </a:srgbClr>
                </a:solidFill>
                <a:latin typeface="Calibri" pitchFamily="34" charset="0"/>
                <a:ea typeface="Calibri" pitchFamily="34" charset="-122"/>
                <a:cs typeface="Calibri" pitchFamily="34" charset="-120"/>
              </a:rPr>
              <a:t>5</a:t>
            </a:r>
            <a:endParaRPr lang="en-US" sz="2400" dirty="0"/>
          </a:p>
        </p:txBody>
      </p:sp>
      <p:sp>
        <p:nvSpPr>
          <p:cNvPr id="23" name="Text 21"/>
          <p:cNvSpPr txBox="1"/>
          <p:nvPr/>
        </p:nvSpPr>
        <p:spPr>
          <a:xfrm>
            <a:off x="7498080" y="1600200"/>
            <a:ext cx="100584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Interactions</a:t>
            </a:r>
            <a:endParaRPr lang="en-US" sz="1300" dirty="0"/>
          </a:p>
        </p:txBody>
      </p:sp>
      <p:sp>
        <p:nvSpPr>
          <p:cNvPr id="24" name="Shape 22"/>
          <p:cNvSpPr/>
          <p:nvPr/>
        </p:nvSpPr>
        <p:spPr>
          <a:xfrm>
            <a:off x="457200" y="2743200"/>
            <a:ext cx="4023360" cy="182880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25" name="Shape 23"/>
          <p:cNvSpPr/>
          <p:nvPr/>
        </p:nvSpPr>
        <p:spPr>
          <a:xfrm>
            <a:off x="640080" y="2743200"/>
            <a:ext cx="3657600" cy="54864"/>
          </a:xfrm>
          <a:prstGeom prst="rect">
            <a:avLst/>
          </a:prstGeom>
          <a:solidFill>
            <a:srgbClr val="1B7F86"/>
          </a:solidFill>
          <a:ln w="12700">
            <a:solidFill>
              <a:srgbClr val="1B7F86"/>
            </a:solidFill>
            <a:prstDash val="solid"/>
          </a:ln>
        </p:spPr>
      </p:sp>
      <p:sp>
        <p:nvSpPr>
          <p:cNvPr id="26" name="Shape 24"/>
          <p:cNvSpPr/>
          <p:nvPr/>
        </p:nvSpPr>
        <p:spPr>
          <a:xfrm>
            <a:off x="640080" y="2944368"/>
            <a:ext cx="420624" cy="420624"/>
          </a:xfrm>
          <a:prstGeom prst="ellipse">
            <a:avLst/>
          </a:prstGeom>
          <a:solidFill>
            <a:srgbClr val="1B7F86"/>
          </a:solidFill>
          <a:ln w="12700">
            <a:solidFill>
              <a:srgbClr val="1B7F86"/>
            </a:solidFill>
            <a:prstDash val="solid"/>
          </a:ln>
        </p:spPr>
      </p:sp>
      <p:pic>
        <p:nvPicPr>
          <p:cNvPr id="27" name="Image 0" descr="preencoded.png">    </p:cNvPr>
          <p:cNvPicPr>
            <a:picLocks noChangeAspect="1"/>
          </p:cNvPicPr>
          <p:nvPr/>
        </p:nvPicPr>
        <p:blipFill>
          <a:blip r:embed="rId1"/>
          <a:stretch>
            <a:fillRect/>
          </a:stretch>
        </p:blipFill>
        <p:spPr>
          <a:xfrm>
            <a:off x="745236" y="3049524"/>
            <a:ext cx="210312" cy="210312"/>
          </a:xfrm>
          <a:prstGeom prst="rect">
            <a:avLst/>
          </a:prstGeom>
        </p:spPr>
      </p:pic>
      <p:sp>
        <p:nvSpPr>
          <p:cNvPr id="28" name="Text 25"/>
          <p:cNvSpPr txBox="1"/>
          <p:nvPr/>
        </p:nvSpPr>
        <p:spPr>
          <a:xfrm>
            <a:off x="1170432" y="2944368"/>
            <a:ext cx="3200400" cy="420624"/>
          </a:xfrm>
          <a:prstGeom prst="rect">
            <a:avLst/>
          </a:prstGeom>
          <a:noFill/>
          <a:ln/>
        </p:spPr>
        <p:txBody>
          <a:bodyPr wrap="square" lIns="0" tIns="0" rIns="0" bIns="0" rtlCol="0" anchor="ctr"/>
          <a:lstStyle/>
          <a:p>
            <a:pPr indent="0" marL="0">
              <a:buNone/>
            </a:pPr>
            <a:r>
              <a:rPr lang="en-US" sz="1400" b="1" dirty="0">
                <a:solidFill>
                  <a:srgbClr val="0C3B5E"/>
                </a:solidFill>
                <a:latin typeface="Calibri" pitchFamily="34" charset="0"/>
                <a:ea typeface="Calibri" pitchFamily="34" charset="-122"/>
                <a:cs typeface="Calibri" pitchFamily="34" charset="-120"/>
              </a:rPr>
              <a:t>Filters</a:t>
            </a:r>
            <a:endParaRPr lang="en-US" sz="1400" dirty="0"/>
          </a:p>
        </p:txBody>
      </p:sp>
      <p:sp>
        <p:nvSpPr>
          <p:cNvPr id="29" name="Text 26"/>
          <p:cNvSpPr txBox="1"/>
          <p:nvPr/>
        </p:nvSpPr>
        <p:spPr>
          <a:xfrm>
            <a:off x="640080" y="3493008"/>
            <a:ext cx="3657600" cy="10058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Year, admission date, department</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Ward, admission type, disease</a:t>
            </a:r>
            <a:endParaRPr lang="en-US" sz="1150" dirty="0"/>
          </a:p>
        </p:txBody>
      </p:sp>
      <p:sp>
        <p:nvSpPr>
          <p:cNvPr id="30" name="Shape 27"/>
          <p:cNvSpPr/>
          <p:nvPr/>
        </p:nvSpPr>
        <p:spPr>
          <a:xfrm>
            <a:off x="4663440" y="2743200"/>
            <a:ext cx="4023360" cy="182880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31" name="Shape 28"/>
          <p:cNvSpPr/>
          <p:nvPr/>
        </p:nvSpPr>
        <p:spPr>
          <a:xfrm>
            <a:off x="4846320" y="2743200"/>
            <a:ext cx="3657600" cy="54864"/>
          </a:xfrm>
          <a:prstGeom prst="rect">
            <a:avLst/>
          </a:prstGeom>
          <a:solidFill>
            <a:srgbClr val="E07B5F"/>
          </a:solidFill>
          <a:ln w="12700">
            <a:solidFill>
              <a:srgbClr val="E07B5F"/>
            </a:solidFill>
            <a:prstDash val="solid"/>
          </a:ln>
        </p:spPr>
      </p:sp>
      <p:sp>
        <p:nvSpPr>
          <p:cNvPr id="32" name="Shape 29"/>
          <p:cNvSpPr/>
          <p:nvPr/>
        </p:nvSpPr>
        <p:spPr>
          <a:xfrm>
            <a:off x="4846320" y="2944368"/>
            <a:ext cx="420624" cy="420624"/>
          </a:xfrm>
          <a:prstGeom prst="ellipse">
            <a:avLst/>
          </a:prstGeom>
          <a:solidFill>
            <a:srgbClr val="E07B5F"/>
          </a:solidFill>
          <a:ln w="12700">
            <a:solidFill>
              <a:srgbClr val="E07B5F"/>
            </a:solidFill>
            <a:prstDash val="solid"/>
          </a:ln>
        </p:spPr>
      </p:sp>
      <p:pic>
        <p:nvPicPr>
          <p:cNvPr id="33" name="Image 1" descr="preencoded.png">    </p:cNvPr>
          <p:cNvPicPr>
            <a:picLocks noChangeAspect="1"/>
          </p:cNvPicPr>
          <p:nvPr/>
        </p:nvPicPr>
        <p:blipFill>
          <a:blip r:embed="rId2"/>
          <a:stretch>
            <a:fillRect/>
          </a:stretch>
        </p:blipFill>
        <p:spPr>
          <a:xfrm>
            <a:off x="4951476" y="3049524"/>
            <a:ext cx="210312" cy="210312"/>
          </a:xfrm>
          <a:prstGeom prst="rect">
            <a:avLst/>
          </a:prstGeom>
        </p:spPr>
      </p:pic>
      <p:sp>
        <p:nvSpPr>
          <p:cNvPr id="34" name="Text 30"/>
          <p:cNvSpPr txBox="1"/>
          <p:nvPr/>
        </p:nvSpPr>
        <p:spPr>
          <a:xfrm>
            <a:off x="5376672" y="2944368"/>
            <a:ext cx="3200400" cy="420624"/>
          </a:xfrm>
          <a:prstGeom prst="rect">
            <a:avLst/>
          </a:prstGeom>
          <a:noFill/>
          <a:ln/>
        </p:spPr>
        <p:txBody>
          <a:bodyPr wrap="square" lIns="0" tIns="0" rIns="0" bIns="0" rtlCol="0" anchor="ctr"/>
          <a:lstStyle/>
          <a:p>
            <a:pPr indent="0" marL="0">
              <a:buNone/>
            </a:pPr>
            <a:r>
              <a:rPr lang="en-US" sz="1400" b="1" dirty="0">
                <a:solidFill>
                  <a:srgbClr val="0C3B5E"/>
                </a:solidFill>
                <a:latin typeface="Calibri" pitchFamily="34" charset="0"/>
                <a:ea typeface="Calibri" pitchFamily="34" charset="-122"/>
                <a:cs typeface="Calibri" pitchFamily="34" charset="-120"/>
              </a:rPr>
              <a:t>Interactions</a:t>
            </a:r>
            <a:endParaRPr lang="en-US" sz="1400" dirty="0"/>
          </a:p>
        </p:txBody>
      </p:sp>
      <p:sp>
        <p:nvSpPr>
          <p:cNvPr id="35" name="Text 31"/>
          <p:cNvSpPr txBox="1"/>
          <p:nvPr/>
        </p:nvSpPr>
        <p:spPr>
          <a:xfrm>
            <a:off x="4846320" y="3493008"/>
            <a:ext cx="3657600" cy="10058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Department selection filters related charts</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Year change updates KPIs and trends</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Clicking a department cross-filters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09728" cy="640080"/>
          </a:xfrm>
          <a:prstGeom prst="rect">
            <a:avLst/>
          </a:prstGeom>
          <a:solidFill>
            <a:srgbClr val="E07B5F"/>
          </a:solidFill>
          <a:ln w="12700">
            <a:solidFill>
              <a:srgbClr val="E07B5F"/>
            </a:solidFill>
            <a:prstDash val="solid"/>
          </a:ln>
        </p:spPr>
      </p:sp>
      <p:sp>
        <p:nvSpPr>
          <p:cNvPr id="3" name="Text 1"/>
          <p:cNvSpPr txBox="1"/>
          <p:nvPr/>
        </p:nvSpPr>
        <p:spPr>
          <a:xfrm>
            <a:off x="365760" y="182880"/>
            <a:ext cx="65836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Surgery is busiest, Orthopedics most efficient</a:t>
            </a:r>
            <a:endParaRPr lang="en-US" sz="2200" dirty="0"/>
          </a:p>
        </p:txBody>
      </p:sp>
      <p:sp>
        <p:nvSpPr>
          <p:cNvPr id="4" name="Text 2"/>
          <p:cNvSpPr txBox="1"/>
          <p:nvPr/>
        </p:nvSpPr>
        <p:spPr>
          <a:xfrm>
            <a:off x="6949440" y="256032"/>
            <a:ext cx="1828800" cy="320040"/>
          </a:xfrm>
          <a:prstGeom prst="rect">
            <a:avLst/>
          </a:prstGeom>
          <a:noFill/>
          <a:ln/>
        </p:spPr>
        <p:txBody>
          <a:bodyPr wrap="square" lIns="0" tIns="0" rIns="0" bIns="0" rtlCol="0" anchor="ctr"/>
          <a:lstStyle/>
          <a:p>
            <a:pPr algn="r" indent="0" marL="0">
              <a:buNone/>
            </a:pPr>
            <a:r>
              <a:rPr lang="en-US" sz="1100" dirty="0">
                <a:solidFill>
                  <a:srgbClr val="EBC99A"/>
                </a:solidFill>
                <a:latin typeface="Calibri" pitchFamily="34" charset="0"/>
                <a:ea typeface="Calibri" pitchFamily="34" charset="-122"/>
                <a:cs typeface="Calibri" pitchFamily="34" charset="-120"/>
              </a:rPr>
              <a:t>Milestone 3</a:t>
            </a:r>
            <a:endParaRPr lang="en-US" sz="1100" dirty="0"/>
          </a:p>
        </p:txBody>
      </p:sp>
      <p:sp>
        <p:nvSpPr>
          <p:cNvPr id="5" name="Shape 3"/>
          <p:cNvSpPr/>
          <p:nvPr/>
        </p:nvSpPr>
        <p:spPr>
          <a:xfrm>
            <a:off x="365760" y="777240"/>
            <a:ext cx="192024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6" name="Shape 4"/>
          <p:cNvSpPr/>
          <p:nvPr/>
        </p:nvSpPr>
        <p:spPr>
          <a:xfrm>
            <a:off x="365760" y="868680"/>
            <a:ext cx="64008" cy="594360"/>
          </a:xfrm>
          <a:prstGeom prst="rect">
            <a:avLst/>
          </a:prstGeom>
          <a:solidFill>
            <a:srgbClr val="1B7F86"/>
          </a:solidFill>
          <a:ln w="12700">
            <a:solidFill>
              <a:srgbClr val="1B7F86"/>
            </a:solidFill>
            <a:prstDash val="solid"/>
          </a:ln>
        </p:spPr>
      </p:sp>
      <p:sp>
        <p:nvSpPr>
          <p:cNvPr id="7" name="Text 5"/>
          <p:cNvSpPr txBox="1"/>
          <p:nvPr/>
        </p:nvSpPr>
        <p:spPr>
          <a:xfrm>
            <a:off x="548640" y="832104"/>
            <a:ext cx="164592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Surgery</a:t>
            </a:r>
            <a:endParaRPr lang="en-US" sz="2000" dirty="0"/>
          </a:p>
        </p:txBody>
      </p:sp>
      <p:sp>
        <p:nvSpPr>
          <p:cNvPr id="8" name="Text 6"/>
          <p:cNvSpPr txBox="1"/>
          <p:nvPr/>
        </p:nvSpPr>
        <p:spPr>
          <a:xfrm>
            <a:off x="548640" y="1234440"/>
            <a:ext cx="16459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Busiest: 10,126 admissions</a:t>
            </a:r>
            <a:endParaRPr lang="en-US" sz="950" dirty="0"/>
          </a:p>
        </p:txBody>
      </p:sp>
      <p:sp>
        <p:nvSpPr>
          <p:cNvPr id="9" name="Shape 7"/>
          <p:cNvSpPr/>
          <p:nvPr/>
        </p:nvSpPr>
        <p:spPr>
          <a:xfrm>
            <a:off x="2377440" y="777240"/>
            <a:ext cx="192024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2377440" y="868680"/>
            <a:ext cx="64008" cy="594360"/>
          </a:xfrm>
          <a:prstGeom prst="rect">
            <a:avLst/>
          </a:prstGeom>
          <a:solidFill>
            <a:srgbClr val="E07B5F"/>
          </a:solidFill>
          <a:ln w="12700">
            <a:solidFill>
              <a:srgbClr val="E07B5F"/>
            </a:solidFill>
            <a:prstDash val="solid"/>
          </a:ln>
        </p:spPr>
      </p:sp>
      <p:sp>
        <p:nvSpPr>
          <p:cNvPr id="11" name="Text 9"/>
          <p:cNvSpPr txBox="1"/>
          <p:nvPr/>
        </p:nvSpPr>
        <p:spPr>
          <a:xfrm>
            <a:off x="2560320" y="832104"/>
            <a:ext cx="164592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ICU</a:t>
            </a:r>
            <a:endParaRPr lang="en-US" sz="2000" dirty="0"/>
          </a:p>
        </p:txBody>
      </p:sp>
      <p:sp>
        <p:nvSpPr>
          <p:cNvPr id="12" name="Text 10"/>
          <p:cNvSpPr txBox="1"/>
          <p:nvPr/>
        </p:nvSpPr>
        <p:spPr>
          <a:xfrm>
            <a:off x="2560320" y="1234440"/>
            <a:ext cx="16459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Longest stay: 9.98 days</a:t>
            </a:r>
            <a:endParaRPr lang="en-US" sz="950" dirty="0"/>
          </a:p>
        </p:txBody>
      </p:sp>
      <p:sp>
        <p:nvSpPr>
          <p:cNvPr id="13" name="Shape 11"/>
          <p:cNvSpPr/>
          <p:nvPr/>
        </p:nvSpPr>
        <p:spPr>
          <a:xfrm>
            <a:off x="4389120" y="777240"/>
            <a:ext cx="210312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4" name="Shape 12"/>
          <p:cNvSpPr/>
          <p:nvPr/>
        </p:nvSpPr>
        <p:spPr>
          <a:xfrm>
            <a:off x="4389120" y="868680"/>
            <a:ext cx="64008" cy="594360"/>
          </a:xfrm>
          <a:prstGeom prst="rect">
            <a:avLst/>
          </a:prstGeom>
          <a:solidFill>
            <a:srgbClr val="EBC99A"/>
          </a:solidFill>
          <a:ln w="12700">
            <a:solidFill>
              <a:srgbClr val="EBC99A"/>
            </a:solidFill>
            <a:prstDash val="solid"/>
          </a:ln>
        </p:spPr>
      </p:sp>
      <p:sp>
        <p:nvSpPr>
          <p:cNvPr id="15" name="Text 13"/>
          <p:cNvSpPr txBox="1"/>
          <p:nvPr/>
        </p:nvSpPr>
        <p:spPr>
          <a:xfrm>
            <a:off x="4572000" y="832104"/>
            <a:ext cx="182880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Orthopedics</a:t>
            </a:r>
            <a:endParaRPr lang="en-US" sz="2000" dirty="0"/>
          </a:p>
        </p:txBody>
      </p:sp>
      <p:sp>
        <p:nvSpPr>
          <p:cNvPr id="16" name="Text 14"/>
          <p:cNvSpPr txBox="1"/>
          <p:nvPr/>
        </p:nvSpPr>
        <p:spPr>
          <a:xfrm>
            <a:off x="4572000" y="1234440"/>
            <a:ext cx="18288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Top efficiency: 75.9</a:t>
            </a:r>
            <a:endParaRPr lang="en-US" sz="950" dirty="0"/>
          </a:p>
        </p:txBody>
      </p:sp>
      <p:sp>
        <p:nvSpPr>
          <p:cNvPr id="17" name="Shape 15"/>
          <p:cNvSpPr/>
          <p:nvPr/>
        </p:nvSpPr>
        <p:spPr>
          <a:xfrm>
            <a:off x="6583680" y="777240"/>
            <a:ext cx="219456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8" name="Shape 16"/>
          <p:cNvSpPr/>
          <p:nvPr/>
        </p:nvSpPr>
        <p:spPr>
          <a:xfrm>
            <a:off x="6583680" y="868680"/>
            <a:ext cx="64008" cy="594360"/>
          </a:xfrm>
          <a:prstGeom prst="rect">
            <a:avLst/>
          </a:prstGeom>
          <a:solidFill>
            <a:srgbClr val="3D5A8A"/>
          </a:solidFill>
          <a:ln w="12700">
            <a:solidFill>
              <a:srgbClr val="3D5A8A"/>
            </a:solidFill>
            <a:prstDash val="solid"/>
          </a:ln>
        </p:spPr>
      </p:sp>
      <p:sp>
        <p:nvSpPr>
          <p:cNvPr id="19" name="Text 17"/>
          <p:cNvSpPr txBox="1"/>
          <p:nvPr/>
        </p:nvSpPr>
        <p:spPr>
          <a:xfrm>
            <a:off x="6766560" y="832104"/>
            <a:ext cx="192024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45,000</a:t>
            </a:r>
            <a:endParaRPr lang="en-US" sz="2000" dirty="0"/>
          </a:p>
        </p:txBody>
      </p:sp>
      <p:sp>
        <p:nvSpPr>
          <p:cNvPr id="20" name="Text 18"/>
          <p:cNvSpPr txBox="1"/>
          <p:nvPr/>
        </p:nvSpPr>
        <p:spPr>
          <a:xfrm>
            <a:off x="6766560" y="1234440"/>
            <a:ext cx="192024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Admissions = discharges</a:t>
            </a:r>
            <a:endParaRPr lang="en-US" sz="950" dirty="0"/>
          </a:p>
        </p:txBody>
      </p:sp>
      <p:sp>
        <p:nvSpPr>
          <p:cNvPr id="21" name="Shape 19"/>
          <p:cNvSpPr/>
          <p:nvPr/>
        </p:nvSpPr>
        <p:spPr>
          <a:xfrm>
            <a:off x="365760" y="1737360"/>
            <a:ext cx="429768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2" name="Text 20"/>
          <p:cNvSpPr txBox="1"/>
          <p:nvPr/>
        </p:nvSpPr>
        <p:spPr>
          <a:xfrm>
            <a:off x="548640" y="1828800"/>
            <a:ext cx="393192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Admissions by department</a:t>
            </a:r>
            <a:endParaRPr lang="en-US" sz="1200" dirty="0"/>
          </a:p>
        </p:txBody>
      </p:sp>
      <p:graphicFrame>
        <p:nvGraphicFramePr>
          <p:cNvPr id="23" name="Chart 0" descr=""/>
          <p:cNvGraphicFramePr/>
          <p:nvPr/>
        </p:nvGraphicFramePr>
        <p:xfrm>
          <a:off x="457200" y="2103120"/>
          <a:ext cx="4114800" cy="2651760"/>
        </p:xfrm>
        <a:graphic xmlns:a="http://schemas.openxmlformats.org/drawingml/2006/main">
          <a:graphicData uri="http://schemas.openxmlformats.org/drawingml/2006/chart">
            <c:chart xmlns:c="http://schemas.openxmlformats.org/drawingml/2006/chart" r:id="rId2"/>
          </a:graphicData>
        </a:graphic>
      </p:graphicFrame>
      <p:sp>
        <p:nvSpPr>
          <p:cNvPr id="24" name="Shape 21"/>
          <p:cNvSpPr/>
          <p:nvPr/>
        </p:nvSpPr>
        <p:spPr>
          <a:xfrm>
            <a:off x="4846320" y="1737360"/>
            <a:ext cx="393192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5" name="Text 22"/>
          <p:cNvSpPr txBox="1"/>
          <p:nvPr/>
        </p:nvSpPr>
        <p:spPr>
          <a:xfrm>
            <a:off x="5029200" y="1828800"/>
            <a:ext cx="356616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Efficiency score</a:t>
            </a:r>
            <a:endParaRPr lang="en-US" sz="1200" dirty="0"/>
          </a:p>
        </p:txBody>
      </p:sp>
      <p:graphicFrame>
        <p:nvGraphicFramePr>
          <p:cNvPr id="26" name="Chart 1" descr=""/>
          <p:cNvGraphicFramePr/>
          <p:nvPr/>
        </p:nvGraphicFramePr>
        <p:xfrm>
          <a:off x="4937760" y="2103120"/>
          <a:ext cx="3749040" cy="265176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09728" cy="640080"/>
          </a:xfrm>
          <a:prstGeom prst="rect">
            <a:avLst/>
          </a:prstGeom>
          <a:solidFill>
            <a:srgbClr val="E07B5F"/>
          </a:solidFill>
          <a:ln w="12700">
            <a:solidFill>
              <a:srgbClr val="E07B5F"/>
            </a:solidFill>
            <a:prstDash val="solid"/>
          </a:ln>
        </p:spPr>
      </p:sp>
      <p:sp>
        <p:nvSpPr>
          <p:cNvPr id="3" name="Text 1"/>
          <p:cNvSpPr txBox="1"/>
          <p:nvPr/>
        </p:nvSpPr>
        <p:spPr>
          <a:xfrm>
            <a:off x="365760" y="182880"/>
            <a:ext cx="65836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ICU stays last twice as long as elsewhere</a:t>
            </a:r>
            <a:endParaRPr lang="en-US" sz="2200" dirty="0"/>
          </a:p>
        </p:txBody>
      </p:sp>
      <p:sp>
        <p:nvSpPr>
          <p:cNvPr id="4" name="Text 2"/>
          <p:cNvSpPr txBox="1"/>
          <p:nvPr/>
        </p:nvSpPr>
        <p:spPr>
          <a:xfrm>
            <a:off x="6949440" y="256032"/>
            <a:ext cx="1828800" cy="320040"/>
          </a:xfrm>
          <a:prstGeom prst="rect">
            <a:avLst/>
          </a:prstGeom>
          <a:noFill/>
          <a:ln/>
        </p:spPr>
        <p:txBody>
          <a:bodyPr wrap="square" lIns="0" tIns="0" rIns="0" bIns="0" rtlCol="0" anchor="ctr"/>
          <a:lstStyle/>
          <a:p>
            <a:pPr algn="r" indent="0" marL="0">
              <a:buNone/>
            </a:pPr>
            <a:r>
              <a:rPr lang="en-US" sz="1100" dirty="0">
                <a:solidFill>
                  <a:srgbClr val="EBC99A"/>
                </a:solidFill>
                <a:latin typeface="Calibri" pitchFamily="34" charset="0"/>
                <a:ea typeface="Calibri" pitchFamily="34" charset="-122"/>
                <a:cs typeface="Calibri" pitchFamily="34" charset="-120"/>
              </a:rPr>
              <a:t>Milestone 3</a:t>
            </a:r>
            <a:endParaRPr lang="en-US" sz="1100" dirty="0"/>
          </a:p>
        </p:txBody>
      </p:sp>
      <p:sp>
        <p:nvSpPr>
          <p:cNvPr id="5" name="Shape 3"/>
          <p:cNvSpPr/>
          <p:nvPr/>
        </p:nvSpPr>
        <p:spPr>
          <a:xfrm>
            <a:off x="365760" y="777240"/>
            <a:ext cx="265176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6" name="Shape 4"/>
          <p:cNvSpPr/>
          <p:nvPr/>
        </p:nvSpPr>
        <p:spPr>
          <a:xfrm>
            <a:off x="365760" y="868680"/>
            <a:ext cx="64008" cy="594360"/>
          </a:xfrm>
          <a:prstGeom prst="rect">
            <a:avLst/>
          </a:prstGeom>
          <a:solidFill>
            <a:srgbClr val="E07B5F"/>
          </a:solidFill>
          <a:ln w="12700">
            <a:solidFill>
              <a:srgbClr val="E07B5F"/>
            </a:solidFill>
            <a:prstDash val="solid"/>
          </a:ln>
        </p:spPr>
      </p:sp>
      <p:sp>
        <p:nvSpPr>
          <p:cNvPr id="7" name="Text 5"/>
          <p:cNvSpPr txBox="1"/>
          <p:nvPr/>
        </p:nvSpPr>
        <p:spPr>
          <a:xfrm>
            <a:off x="548640" y="832104"/>
            <a:ext cx="237744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9.98 days</a:t>
            </a:r>
            <a:endParaRPr lang="en-US" sz="2000" dirty="0"/>
          </a:p>
        </p:txBody>
      </p:sp>
      <p:sp>
        <p:nvSpPr>
          <p:cNvPr id="8" name="Text 6"/>
          <p:cNvSpPr txBox="1"/>
          <p:nvPr/>
        </p:nvSpPr>
        <p:spPr>
          <a:xfrm>
            <a:off x="548640" y="1234440"/>
            <a:ext cx="237744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ICU average stay (others about 4.7)</a:t>
            </a:r>
            <a:endParaRPr lang="en-US" sz="950" dirty="0"/>
          </a:p>
        </p:txBody>
      </p:sp>
      <p:sp>
        <p:nvSpPr>
          <p:cNvPr id="9" name="Shape 7"/>
          <p:cNvSpPr/>
          <p:nvPr/>
        </p:nvSpPr>
        <p:spPr>
          <a:xfrm>
            <a:off x="3154680" y="777240"/>
            <a:ext cx="274320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3154680" y="868680"/>
            <a:ext cx="64008" cy="594360"/>
          </a:xfrm>
          <a:prstGeom prst="rect">
            <a:avLst/>
          </a:prstGeom>
          <a:solidFill>
            <a:srgbClr val="1B7F86"/>
          </a:solidFill>
          <a:ln w="12700">
            <a:solidFill>
              <a:srgbClr val="1B7F86"/>
            </a:solidFill>
            <a:prstDash val="solid"/>
          </a:ln>
        </p:spPr>
      </p:sp>
      <p:sp>
        <p:nvSpPr>
          <p:cNvPr id="11" name="Text 9"/>
          <p:cNvSpPr txBox="1"/>
          <p:nvPr/>
        </p:nvSpPr>
        <p:spPr>
          <a:xfrm>
            <a:off x="3337560" y="832104"/>
            <a:ext cx="246888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2.0% to 2.3%</a:t>
            </a:r>
            <a:endParaRPr lang="en-US" sz="2000" dirty="0"/>
          </a:p>
        </p:txBody>
      </p:sp>
      <p:sp>
        <p:nvSpPr>
          <p:cNvPr id="12" name="Text 10"/>
          <p:cNvSpPr txBox="1"/>
          <p:nvPr/>
        </p:nvSpPr>
        <p:spPr>
          <a:xfrm>
            <a:off x="3337560" y="1234440"/>
            <a:ext cx="24688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Readmission range across departments</a:t>
            </a:r>
            <a:endParaRPr lang="en-US" sz="950" dirty="0"/>
          </a:p>
        </p:txBody>
      </p:sp>
      <p:sp>
        <p:nvSpPr>
          <p:cNvPr id="13" name="Shape 11"/>
          <p:cNvSpPr/>
          <p:nvPr/>
        </p:nvSpPr>
        <p:spPr>
          <a:xfrm>
            <a:off x="6035040" y="777240"/>
            <a:ext cx="274320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4" name="Shape 12"/>
          <p:cNvSpPr/>
          <p:nvPr/>
        </p:nvSpPr>
        <p:spPr>
          <a:xfrm>
            <a:off x="6035040" y="868680"/>
            <a:ext cx="64008" cy="594360"/>
          </a:xfrm>
          <a:prstGeom prst="rect">
            <a:avLst/>
          </a:prstGeom>
          <a:solidFill>
            <a:srgbClr val="EBC99A"/>
          </a:solidFill>
          <a:ln w="12700">
            <a:solidFill>
              <a:srgbClr val="EBC99A"/>
            </a:solidFill>
            <a:prstDash val="solid"/>
          </a:ln>
        </p:spPr>
      </p:sp>
      <p:sp>
        <p:nvSpPr>
          <p:cNvPr id="15" name="Text 13"/>
          <p:cNvSpPr txBox="1"/>
          <p:nvPr/>
        </p:nvSpPr>
        <p:spPr>
          <a:xfrm>
            <a:off x="6217920" y="832104"/>
            <a:ext cx="246888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24% to 28%</a:t>
            </a:r>
            <a:endParaRPr lang="en-US" sz="2000" dirty="0"/>
          </a:p>
        </p:txBody>
      </p:sp>
      <p:sp>
        <p:nvSpPr>
          <p:cNvPr id="16" name="Text 14"/>
          <p:cNvSpPr txBox="1"/>
          <p:nvPr/>
        </p:nvSpPr>
        <p:spPr>
          <a:xfrm>
            <a:off x="6217920" y="1234440"/>
            <a:ext cx="246888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Average bed occupancy range</a:t>
            </a:r>
            <a:endParaRPr lang="en-US" sz="950" dirty="0"/>
          </a:p>
        </p:txBody>
      </p:sp>
      <p:sp>
        <p:nvSpPr>
          <p:cNvPr id="17" name="Shape 15"/>
          <p:cNvSpPr/>
          <p:nvPr/>
        </p:nvSpPr>
        <p:spPr>
          <a:xfrm>
            <a:off x="365760" y="1737360"/>
            <a:ext cx="429768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8" name="Text 16"/>
          <p:cNvSpPr txBox="1"/>
          <p:nvPr/>
        </p:nvSpPr>
        <p:spPr>
          <a:xfrm>
            <a:off x="548640" y="1828800"/>
            <a:ext cx="393192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Average length of stay (days)</a:t>
            </a:r>
            <a:endParaRPr lang="en-US" sz="1200" dirty="0"/>
          </a:p>
        </p:txBody>
      </p:sp>
      <p:graphicFrame>
        <p:nvGraphicFramePr>
          <p:cNvPr id="19" name="Chart 0" descr=""/>
          <p:cNvGraphicFramePr/>
          <p:nvPr/>
        </p:nvGraphicFramePr>
        <p:xfrm>
          <a:off x="457200" y="2103120"/>
          <a:ext cx="4114800" cy="2651760"/>
        </p:xfrm>
        <a:graphic xmlns:a="http://schemas.openxmlformats.org/drawingml/2006/main">
          <a:graphicData uri="http://schemas.openxmlformats.org/drawingml/2006/chart">
            <c:chart xmlns:c="http://schemas.openxmlformats.org/drawingml/2006/chart" r:id="rId2"/>
          </a:graphicData>
        </a:graphic>
      </p:graphicFrame>
      <p:sp>
        <p:nvSpPr>
          <p:cNvPr id="20" name="Shape 17"/>
          <p:cNvSpPr/>
          <p:nvPr/>
        </p:nvSpPr>
        <p:spPr>
          <a:xfrm>
            <a:off x="4846320" y="1737360"/>
            <a:ext cx="393192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1" name="Text 18"/>
          <p:cNvSpPr txBox="1"/>
          <p:nvPr/>
        </p:nvSpPr>
        <p:spPr>
          <a:xfrm>
            <a:off x="5029200" y="1828800"/>
            <a:ext cx="356616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Overall readmission rate (%)</a:t>
            </a:r>
            <a:endParaRPr lang="en-US" sz="1200" dirty="0"/>
          </a:p>
        </p:txBody>
      </p:sp>
      <p:graphicFrame>
        <p:nvGraphicFramePr>
          <p:cNvPr id="22" name="Chart 1" descr=""/>
          <p:cNvGraphicFramePr/>
          <p:nvPr/>
        </p:nvGraphicFramePr>
        <p:xfrm>
          <a:off x="4937760" y="2103120"/>
          <a:ext cx="3749040" cy="265176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09728" cy="640080"/>
          </a:xfrm>
          <a:prstGeom prst="rect">
            <a:avLst/>
          </a:prstGeom>
          <a:solidFill>
            <a:srgbClr val="E07B5F"/>
          </a:solidFill>
          <a:ln w="12700">
            <a:solidFill>
              <a:srgbClr val="E07B5F"/>
            </a:solidFill>
            <a:prstDash val="solid"/>
          </a:ln>
        </p:spPr>
      </p:sp>
      <p:sp>
        <p:nvSpPr>
          <p:cNvPr id="3" name="Text 1"/>
          <p:cNvSpPr txBox="1"/>
          <p:nvPr/>
        </p:nvSpPr>
        <p:spPr>
          <a:xfrm>
            <a:off x="365760" y="182880"/>
            <a:ext cx="658368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All keys pass; 11 logic findings remain</a:t>
            </a:r>
            <a:endParaRPr lang="en-US" sz="2200" dirty="0"/>
          </a:p>
        </p:txBody>
      </p:sp>
      <p:sp>
        <p:nvSpPr>
          <p:cNvPr id="4" name="Text 2"/>
          <p:cNvSpPr txBox="1"/>
          <p:nvPr/>
        </p:nvSpPr>
        <p:spPr>
          <a:xfrm>
            <a:off x="6949440" y="256032"/>
            <a:ext cx="1828800" cy="320040"/>
          </a:xfrm>
          <a:prstGeom prst="rect">
            <a:avLst/>
          </a:prstGeom>
          <a:noFill/>
          <a:ln/>
        </p:spPr>
        <p:txBody>
          <a:bodyPr wrap="square" lIns="0" tIns="0" rIns="0" bIns="0" rtlCol="0" anchor="ctr"/>
          <a:lstStyle/>
          <a:p>
            <a:pPr algn="r" indent="0" marL="0">
              <a:buNone/>
            </a:pPr>
            <a:r>
              <a:rPr lang="en-US" sz="1100" dirty="0">
                <a:solidFill>
                  <a:srgbClr val="EBC99A"/>
                </a:solidFill>
                <a:latin typeface="Calibri" pitchFamily="34" charset="0"/>
                <a:ea typeface="Calibri" pitchFamily="34" charset="-122"/>
                <a:cs typeface="Calibri" pitchFamily="34" charset="-120"/>
              </a:rPr>
              <a:t>Milestone 4</a:t>
            </a:r>
            <a:endParaRPr lang="en-US" sz="1100" dirty="0"/>
          </a:p>
        </p:txBody>
      </p:sp>
      <p:sp>
        <p:nvSpPr>
          <p:cNvPr id="5" name="Shape 3"/>
          <p:cNvSpPr/>
          <p:nvPr/>
        </p:nvSpPr>
        <p:spPr>
          <a:xfrm>
            <a:off x="365760" y="777240"/>
            <a:ext cx="192024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6" name="Shape 4"/>
          <p:cNvSpPr/>
          <p:nvPr/>
        </p:nvSpPr>
        <p:spPr>
          <a:xfrm>
            <a:off x="365760" y="868680"/>
            <a:ext cx="64008" cy="594360"/>
          </a:xfrm>
          <a:prstGeom prst="rect">
            <a:avLst/>
          </a:prstGeom>
          <a:solidFill>
            <a:srgbClr val="1B7F86"/>
          </a:solidFill>
          <a:ln w="12700">
            <a:solidFill>
              <a:srgbClr val="1B7F86"/>
            </a:solidFill>
            <a:prstDash val="solid"/>
          </a:ln>
        </p:spPr>
      </p:sp>
      <p:sp>
        <p:nvSpPr>
          <p:cNvPr id="7" name="Text 5"/>
          <p:cNvSpPr txBox="1"/>
          <p:nvPr/>
        </p:nvSpPr>
        <p:spPr>
          <a:xfrm>
            <a:off x="548640" y="832104"/>
            <a:ext cx="164592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19 / 19</a:t>
            </a:r>
            <a:endParaRPr lang="en-US" sz="2000" dirty="0"/>
          </a:p>
        </p:txBody>
      </p:sp>
      <p:sp>
        <p:nvSpPr>
          <p:cNvPr id="8" name="Text 6"/>
          <p:cNvSpPr txBox="1"/>
          <p:nvPr/>
        </p:nvSpPr>
        <p:spPr>
          <a:xfrm>
            <a:off x="548640" y="1234440"/>
            <a:ext cx="16459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Primary keys passed</a:t>
            </a:r>
            <a:endParaRPr lang="en-US" sz="950" dirty="0"/>
          </a:p>
        </p:txBody>
      </p:sp>
      <p:sp>
        <p:nvSpPr>
          <p:cNvPr id="9" name="Shape 7"/>
          <p:cNvSpPr/>
          <p:nvPr/>
        </p:nvSpPr>
        <p:spPr>
          <a:xfrm>
            <a:off x="2377440" y="777240"/>
            <a:ext cx="192024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2377440" y="868680"/>
            <a:ext cx="64008" cy="594360"/>
          </a:xfrm>
          <a:prstGeom prst="rect">
            <a:avLst/>
          </a:prstGeom>
          <a:solidFill>
            <a:srgbClr val="1B7F86"/>
          </a:solidFill>
          <a:ln w="12700">
            <a:solidFill>
              <a:srgbClr val="1B7F86"/>
            </a:solidFill>
            <a:prstDash val="solid"/>
          </a:ln>
        </p:spPr>
      </p:sp>
      <p:sp>
        <p:nvSpPr>
          <p:cNvPr id="11" name="Text 9"/>
          <p:cNvSpPr txBox="1"/>
          <p:nvPr/>
        </p:nvSpPr>
        <p:spPr>
          <a:xfrm>
            <a:off x="2560320" y="832104"/>
            <a:ext cx="164592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23 / 23</a:t>
            </a:r>
            <a:endParaRPr lang="en-US" sz="2000" dirty="0"/>
          </a:p>
        </p:txBody>
      </p:sp>
      <p:sp>
        <p:nvSpPr>
          <p:cNvPr id="12" name="Text 10"/>
          <p:cNvSpPr txBox="1"/>
          <p:nvPr/>
        </p:nvSpPr>
        <p:spPr>
          <a:xfrm>
            <a:off x="2560320" y="1234440"/>
            <a:ext cx="164592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Foreign keys, 0 orphans</a:t>
            </a:r>
            <a:endParaRPr lang="en-US" sz="950" dirty="0"/>
          </a:p>
        </p:txBody>
      </p:sp>
      <p:sp>
        <p:nvSpPr>
          <p:cNvPr id="13" name="Shape 11"/>
          <p:cNvSpPr/>
          <p:nvPr/>
        </p:nvSpPr>
        <p:spPr>
          <a:xfrm>
            <a:off x="4389120" y="777240"/>
            <a:ext cx="210312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4" name="Shape 12"/>
          <p:cNvSpPr/>
          <p:nvPr/>
        </p:nvSpPr>
        <p:spPr>
          <a:xfrm>
            <a:off x="4389120" y="868680"/>
            <a:ext cx="64008" cy="594360"/>
          </a:xfrm>
          <a:prstGeom prst="rect">
            <a:avLst/>
          </a:prstGeom>
          <a:solidFill>
            <a:srgbClr val="1B7F86"/>
          </a:solidFill>
          <a:ln w="12700">
            <a:solidFill>
              <a:srgbClr val="1B7F86"/>
            </a:solidFill>
            <a:prstDash val="solid"/>
          </a:ln>
        </p:spPr>
      </p:sp>
      <p:sp>
        <p:nvSpPr>
          <p:cNvPr id="15" name="Text 13"/>
          <p:cNvSpPr txBox="1"/>
          <p:nvPr/>
        </p:nvSpPr>
        <p:spPr>
          <a:xfrm>
            <a:off x="4572000" y="832104"/>
            <a:ext cx="182880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13 / 13</a:t>
            </a:r>
            <a:endParaRPr lang="en-US" sz="2000" dirty="0"/>
          </a:p>
        </p:txBody>
      </p:sp>
      <p:sp>
        <p:nvSpPr>
          <p:cNvPr id="16" name="Text 14"/>
          <p:cNvSpPr txBox="1"/>
          <p:nvPr/>
        </p:nvSpPr>
        <p:spPr>
          <a:xfrm>
            <a:off x="4572000" y="1234440"/>
            <a:ext cx="182880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Relationship checks passed</a:t>
            </a:r>
            <a:endParaRPr lang="en-US" sz="950" dirty="0"/>
          </a:p>
        </p:txBody>
      </p:sp>
      <p:sp>
        <p:nvSpPr>
          <p:cNvPr id="17" name="Shape 15"/>
          <p:cNvSpPr/>
          <p:nvPr/>
        </p:nvSpPr>
        <p:spPr>
          <a:xfrm>
            <a:off x="6583680" y="777240"/>
            <a:ext cx="219456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18" name="Shape 16"/>
          <p:cNvSpPr/>
          <p:nvPr/>
        </p:nvSpPr>
        <p:spPr>
          <a:xfrm>
            <a:off x="6583680" y="868680"/>
            <a:ext cx="64008" cy="594360"/>
          </a:xfrm>
          <a:prstGeom prst="rect">
            <a:avLst/>
          </a:prstGeom>
          <a:solidFill>
            <a:srgbClr val="E07B5F"/>
          </a:solidFill>
          <a:ln w="12700">
            <a:solidFill>
              <a:srgbClr val="E07B5F"/>
            </a:solidFill>
            <a:prstDash val="solid"/>
          </a:ln>
        </p:spPr>
      </p:sp>
      <p:sp>
        <p:nvSpPr>
          <p:cNvPr id="19" name="Text 17"/>
          <p:cNvSpPr txBox="1"/>
          <p:nvPr/>
        </p:nvSpPr>
        <p:spPr>
          <a:xfrm>
            <a:off x="6766560" y="832104"/>
            <a:ext cx="1920240" cy="411480"/>
          </a:xfrm>
          <a:prstGeom prst="rect">
            <a:avLst/>
          </a:prstGeom>
          <a:noFill/>
          <a:ln/>
        </p:spPr>
        <p:txBody>
          <a:bodyPr wrap="square" lIns="0" tIns="0" rIns="0" bIns="0" rtlCol="0" anchor="ctr"/>
          <a:lstStyle/>
          <a:p>
            <a:pPr indent="0" marL="0">
              <a:buNone/>
            </a:pPr>
            <a:r>
              <a:rPr lang="en-US" sz="2000" b="1" dirty="0">
                <a:solidFill>
                  <a:srgbClr val="0C3B5E"/>
                </a:solidFill>
                <a:latin typeface="Calibri" pitchFamily="34" charset="0"/>
                <a:ea typeface="Calibri" pitchFamily="34" charset="-122"/>
                <a:cs typeface="Calibri" pitchFamily="34" charset="-120"/>
              </a:rPr>
              <a:t>11</a:t>
            </a:r>
            <a:endParaRPr lang="en-US" sz="2000" dirty="0"/>
          </a:p>
        </p:txBody>
      </p:sp>
      <p:sp>
        <p:nvSpPr>
          <p:cNvPr id="20" name="Text 18"/>
          <p:cNvSpPr txBox="1"/>
          <p:nvPr/>
        </p:nvSpPr>
        <p:spPr>
          <a:xfrm>
            <a:off x="6766560" y="1234440"/>
            <a:ext cx="192024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Business-logic findings</a:t>
            </a:r>
            <a:endParaRPr lang="en-US" sz="950" dirty="0"/>
          </a:p>
        </p:txBody>
      </p:sp>
      <p:sp>
        <p:nvSpPr>
          <p:cNvPr id="21" name="Shape 19"/>
          <p:cNvSpPr/>
          <p:nvPr/>
        </p:nvSpPr>
        <p:spPr>
          <a:xfrm>
            <a:off x="365760" y="1737360"/>
            <a:ext cx="402336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2" name="Text 20"/>
          <p:cNvSpPr txBox="1"/>
          <p:nvPr/>
        </p:nvSpPr>
        <p:spPr>
          <a:xfrm>
            <a:off x="548640" y="1828800"/>
            <a:ext cx="365760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Findings by severity</a:t>
            </a:r>
            <a:endParaRPr lang="en-US" sz="1200" dirty="0"/>
          </a:p>
        </p:txBody>
      </p:sp>
      <p:graphicFrame>
        <p:nvGraphicFramePr>
          <p:cNvPr id="23" name="Chart 0" descr=""/>
          <p:cNvGraphicFramePr/>
          <p:nvPr/>
        </p:nvGraphicFramePr>
        <p:xfrm>
          <a:off x="457200" y="2103120"/>
          <a:ext cx="3840480" cy="2651760"/>
        </p:xfrm>
        <a:graphic xmlns:a="http://schemas.openxmlformats.org/drawingml/2006/main">
          <a:graphicData uri="http://schemas.openxmlformats.org/drawingml/2006/chart">
            <c:chart xmlns:c="http://schemas.openxmlformats.org/drawingml/2006/chart" r:id="rId2"/>
          </a:graphicData>
        </a:graphic>
      </p:graphicFrame>
      <p:sp>
        <p:nvSpPr>
          <p:cNvPr id="24" name="Shape 21"/>
          <p:cNvSpPr/>
          <p:nvPr/>
        </p:nvSpPr>
        <p:spPr>
          <a:xfrm>
            <a:off x="4572000" y="1737360"/>
            <a:ext cx="4206240" cy="3108960"/>
          </a:xfrm>
          <a:prstGeom prst="roundRect">
            <a:avLst>
              <a:gd name="adj" fmla="val 2941"/>
            </a:avLst>
          </a:prstGeom>
          <a:solidFill>
            <a:srgbClr val="FFFFFF"/>
          </a:solidFill>
          <a:ln w="12700">
            <a:solidFill>
              <a:srgbClr val="FFFFFF"/>
            </a:solidFill>
            <a:prstDash val="solid"/>
          </a:ln>
          <a:effectLst>
            <a:outerShdw sx="100000" sy="100000" kx="0" ky="0" algn="bl" rotWithShape="0" blurRad="101600" dist="38100" dir="5400000">
              <a:srgbClr val="000000">
                <a:alpha val="16000"/>
              </a:srgbClr>
            </a:outerShdw>
          </a:effectLst>
        </p:spPr>
      </p:sp>
      <p:sp>
        <p:nvSpPr>
          <p:cNvPr id="25" name="Text 22"/>
          <p:cNvSpPr txBox="1"/>
          <p:nvPr/>
        </p:nvSpPr>
        <p:spPr>
          <a:xfrm>
            <a:off x="4754880" y="1828800"/>
            <a:ext cx="3840480" cy="274320"/>
          </a:xfrm>
          <a:prstGeom prst="rect">
            <a:avLst/>
          </a:prstGeom>
          <a:noFill/>
          <a:ln/>
        </p:spPr>
        <p:txBody>
          <a:bodyPr wrap="square" lIns="0" tIns="0" rIns="0" bIns="0" rtlCol="0" anchor="ctr"/>
          <a:lstStyle/>
          <a:p>
            <a:pPr indent="0" marL="0">
              <a:buNone/>
            </a:pPr>
            <a:r>
              <a:rPr lang="en-US" sz="1200" b="1" dirty="0">
                <a:solidFill>
                  <a:srgbClr val="0C3B5E"/>
                </a:solidFill>
                <a:latin typeface="Calibri" pitchFamily="34" charset="0"/>
                <a:ea typeface="Calibri" pitchFamily="34" charset="-122"/>
                <a:cs typeface="Calibri" pitchFamily="34" charset="-120"/>
              </a:rPr>
              <a:t>What was verified</a:t>
            </a:r>
            <a:endParaRPr lang="en-US" sz="1200" dirty="0"/>
          </a:p>
        </p:txBody>
      </p:sp>
      <p:sp>
        <p:nvSpPr>
          <p:cNvPr id="26" name="Shape 23"/>
          <p:cNvSpPr/>
          <p:nvPr/>
        </p:nvSpPr>
        <p:spPr>
          <a:xfrm>
            <a:off x="4754880" y="2194560"/>
            <a:ext cx="310896" cy="310896"/>
          </a:xfrm>
          <a:prstGeom prst="ellipse">
            <a:avLst/>
          </a:prstGeom>
          <a:solidFill>
            <a:srgbClr val="1B7F86"/>
          </a:solidFill>
          <a:ln w="12700">
            <a:solidFill>
              <a:srgbClr val="1B7F86"/>
            </a:solidFill>
            <a:prstDash val="solid"/>
          </a:ln>
        </p:spPr>
      </p:sp>
      <p:pic>
        <p:nvPicPr>
          <p:cNvPr id="27" name="Image 0" descr="preencoded.png">    </p:cNvPr>
          <p:cNvPicPr>
            <a:picLocks noChangeAspect="1"/>
          </p:cNvPicPr>
          <p:nvPr/>
        </p:nvPicPr>
        <p:blipFill>
          <a:blip r:embed="rId3"/>
          <a:stretch>
            <a:fillRect/>
          </a:stretch>
        </p:blipFill>
        <p:spPr>
          <a:xfrm>
            <a:off x="4832604" y="2272284"/>
            <a:ext cx="155448" cy="155448"/>
          </a:xfrm>
          <a:prstGeom prst="rect">
            <a:avLst/>
          </a:prstGeom>
        </p:spPr>
      </p:pic>
      <p:sp>
        <p:nvSpPr>
          <p:cNvPr id="28" name="Text 24"/>
          <p:cNvSpPr txBox="1"/>
          <p:nvPr/>
        </p:nvSpPr>
        <p:spPr>
          <a:xfrm>
            <a:off x="5184648" y="2176272"/>
            <a:ext cx="34747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 null or duplicate primary keys</a:t>
            </a:r>
            <a:endParaRPr lang="en-US" sz="1150" dirty="0"/>
          </a:p>
        </p:txBody>
      </p:sp>
      <p:sp>
        <p:nvSpPr>
          <p:cNvPr id="29" name="Shape 25"/>
          <p:cNvSpPr/>
          <p:nvPr/>
        </p:nvSpPr>
        <p:spPr>
          <a:xfrm>
            <a:off x="4754880" y="2697480"/>
            <a:ext cx="310896" cy="310896"/>
          </a:xfrm>
          <a:prstGeom prst="ellipse">
            <a:avLst/>
          </a:prstGeom>
          <a:solidFill>
            <a:srgbClr val="1B7F86"/>
          </a:solidFill>
          <a:ln w="12700">
            <a:solidFill>
              <a:srgbClr val="1B7F86"/>
            </a:solidFill>
            <a:prstDash val="solid"/>
          </a:ln>
        </p:spPr>
      </p:sp>
      <p:pic>
        <p:nvPicPr>
          <p:cNvPr id="30" name="Image 1" descr="preencoded.png">    </p:cNvPr>
          <p:cNvPicPr>
            <a:picLocks noChangeAspect="1"/>
          </p:cNvPicPr>
          <p:nvPr/>
        </p:nvPicPr>
        <p:blipFill>
          <a:blip r:embed="rId4"/>
          <a:stretch>
            <a:fillRect/>
          </a:stretch>
        </p:blipFill>
        <p:spPr>
          <a:xfrm>
            <a:off x="4832604" y="2775204"/>
            <a:ext cx="155448" cy="155448"/>
          </a:xfrm>
          <a:prstGeom prst="rect">
            <a:avLst/>
          </a:prstGeom>
        </p:spPr>
      </p:pic>
      <p:sp>
        <p:nvSpPr>
          <p:cNvPr id="31" name="Text 26"/>
          <p:cNvSpPr txBox="1"/>
          <p:nvPr/>
        </p:nvSpPr>
        <p:spPr>
          <a:xfrm>
            <a:off x="5184648" y="2679192"/>
            <a:ext cx="34747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Every link points to a real parent record</a:t>
            </a:r>
            <a:endParaRPr lang="en-US" sz="1150" dirty="0"/>
          </a:p>
        </p:txBody>
      </p:sp>
      <p:sp>
        <p:nvSpPr>
          <p:cNvPr id="32" name="Shape 27"/>
          <p:cNvSpPr/>
          <p:nvPr/>
        </p:nvSpPr>
        <p:spPr>
          <a:xfrm>
            <a:off x="4754880" y="3200400"/>
            <a:ext cx="310896" cy="310896"/>
          </a:xfrm>
          <a:prstGeom prst="ellipse">
            <a:avLst/>
          </a:prstGeom>
          <a:solidFill>
            <a:srgbClr val="1B7F86"/>
          </a:solidFill>
          <a:ln w="12700">
            <a:solidFill>
              <a:srgbClr val="1B7F86"/>
            </a:solidFill>
            <a:prstDash val="solid"/>
          </a:ln>
        </p:spPr>
      </p:sp>
      <p:pic>
        <p:nvPicPr>
          <p:cNvPr id="33" name="Image 2" descr="preencoded.png">    </p:cNvPr>
          <p:cNvPicPr>
            <a:picLocks noChangeAspect="1"/>
          </p:cNvPicPr>
          <p:nvPr/>
        </p:nvPicPr>
        <p:blipFill>
          <a:blip r:embed="rId5"/>
          <a:stretch>
            <a:fillRect/>
          </a:stretch>
        </p:blipFill>
        <p:spPr>
          <a:xfrm>
            <a:off x="4832604" y="3278124"/>
            <a:ext cx="155448" cy="155448"/>
          </a:xfrm>
          <a:prstGeom prst="rect">
            <a:avLst/>
          </a:prstGeom>
        </p:spPr>
      </p:pic>
      <p:sp>
        <p:nvSpPr>
          <p:cNvPr id="34" name="Text 28"/>
          <p:cNvSpPr txBox="1"/>
          <p:nvPr/>
        </p:nvSpPr>
        <p:spPr>
          <a:xfrm>
            <a:off x="5184648" y="3182112"/>
            <a:ext cx="34747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Four 1-to-1 links have no child duplicates</a:t>
            </a:r>
            <a:endParaRPr lang="en-US" sz="1150" dirty="0"/>
          </a:p>
        </p:txBody>
      </p:sp>
      <p:sp>
        <p:nvSpPr>
          <p:cNvPr id="35" name="Shape 29"/>
          <p:cNvSpPr/>
          <p:nvPr/>
        </p:nvSpPr>
        <p:spPr>
          <a:xfrm>
            <a:off x="4754880" y="3703320"/>
            <a:ext cx="310896" cy="310896"/>
          </a:xfrm>
          <a:prstGeom prst="ellipse">
            <a:avLst/>
          </a:prstGeom>
          <a:solidFill>
            <a:srgbClr val="1B7F86"/>
          </a:solidFill>
          <a:ln w="12700">
            <a:solidFill>
              <a:srgbClr val="1B7F86"/>
            </a:solidFill>
            <a:prstDash val="solid"/>
          </a:ln>
        </p:spPr>
      </p:sp>
      <p:pic>
        <p:nvPicPr>
          <p:cNvPr id="36" name="Image 3" descr="preencoded.png">    </p:cNvPr>
          <p:cNvPicPr>
            <a:picLocks noChangeAspect="1"/>
          </p:cNvPicPr>
          <p:nvPr/>
        </p:nvPicPr>
        <p:blipFill>
          <a:blip r:embed="rId6"/>
          <a:stretch>
            <a:fillRect/>
          </a:stretch>
        </p:blipFill>
        <p:spPr>
          <a:xfrm>
            <a:off x="4832604" y="3781044"/>
            <a:ext cx="155448" cy="155448"/>
          </a:xfrm>
          <a:prstGeom prst="rect">
            <a:avLst/>
          </a:prstGeom>
        </p:spPr>
      </p:pic>
      <p:sp>
        <p:nvSpPr>
          <p:cNvPr id="37" name="Text 30"/>
          <p:cNvSpPr txBox="1"/>
          <p:nvPr/>
        </p:nvSpPr>
        <p:spPr>
          <a:xfrm>
            <a:off x="5184648" y="3685032"/>
            <a:ext cx="34747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Ward, bed and department links match</a:t>
            </a:r>
            <a:endParaRPr lang="en-US" sz="1150" dirty="0"/>
          </a:p>
        </p:txBody>
      </p:sp>
      <p:sp>
        <p:nvSpPr>
          <p:cNvPr id="38" name="Shape 31"/>
          <p:cNvSpPr/>
          <p:nvPr/>
        </p:nvSpPr>
        <p:spPr>
          <a:xfrm>
            <a:off x="4754880" y="4206240"/>
            <a:ext cx="310896" cy="310896"/>
          </a:xfrm>
          <a:prstGeom prst="ellipse">
            <a:avLst/>
          </a:prstGeom>
          <a:solidFill>
            <a:srgbClr val="1B7F86"/>
          </a:solidFill>
          <a:ln w="12700">
            <a:solidFill>
              <a:srgbClr val="1B7F86"/>
            </a:solidFill>
            <a:prstDash val="solid"/>
          </a:ln>
        </p:spPr>
      </p:sp>
      <p:pic>
        <p:nvPicPr>
          <p:cNvPr id="39" name="Image 4" descr="preencoded.png">    </p:cNvPr>
          <p:cNvPicPr>
            <a:picLocks noChangeAspect="1"/>
          </p:cNvPicPr>
          <p:nvPr/>
        </p:nvPicPr>
        <p:blipFill>
          <a:blip r:embed="rId7"/>
          <a:stretch>
            <a:fillRect/>
          </a:stretch>
        </p:blipFill>
        <p:spPr>
          <a:xfrm>
            <a:off x="4832604" y="4283964"/>
            <a:ext cx="155448" cy="155448"/>
          </a:xfrm>
          <a:prstGeom prst="rect">
            <a:avLst/>
          </a:prstGeom>
        </p:spPr>
      </p:pic>
      <p:sp>
        <p:nvSpPr>
          <p:cNvPr id="40" name="Text 32"/>
          <p:cNvSpPr txBox="1"/>
          <p:nvPr/>
        </p:nvSpPr>
        <p:spPr>
          <a:xfrm>
            <a:off x="5184648" y="4187952"/>
            <a:ext cx="3474720" cy="347472"/>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Insured and patient amounts add up to bill total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7498080" y="-914400"/>
            <a:ext cx="2560320" cy="2560320"/>
          </a:xfrm>
          <a:prstGeom prst="ellipse">
            <a:avLst/>
          </a:prstGeom>
          <a:solidFill>
            <a:srgbClr val="8B5E83">
              <a:alpha val="12000"/>
            </a:srgbClr>
          </a:solidFill>
          <a:ln w="12700">
            <a:solidFill>
              <a:srgbClr val="8B5E83">
                <a:alpha val="12000"/>
              </a:srgbClr>
            </a:solidFill>
            <a:prstDash val="solid"/>
          </a:ln>
        </p:spPr>
      </p:sp>
      <p:sp>
        <p:nvSpPr>
          <p:cNvPr id="3" name="Shape 1"/>
          <p:cNvSpPr/>
          <p:nvPr/>
        </p:nvSpPr>
        <p:spPr>
          <a:xfrm>
            <a:off x="8229600" y="182880"/>
            <a:ext cx="1280160" cy="1280160"/>
          </a:xfrm>
          <a:prstGeom prst="ellipse">
            <a:avLst/>
          </a:prstGeom>
          <a:solidFill>
            <a:srgbClr val="E07B5F">
              <a:alpha val="15000"/>
            </a:srgbClr>
          </a:solidFill>
          <a:ln w="12700">
            <a:solidFill>
              <a:srgbClr val="E07B5F">
                <a:alpha val="15000"/>
              </a:srgbClr>
            </a:solidFill>
            <a:prstDash val="solid"/>
          </a:ln>
        </p:spPr>
      </p:sp>
      <p:sp>
        <p:nvSpPr>
          <p:cNvPr id="4" name="Shape 2"/>
          <p:cNvSpPr/>
          <p:nvPr/>
        </p:nvSpPr>
        <p:spPr>
          <a:xfrm>
            <a:off x="457200" y="274320"/>
            <a:ext cx="1371600" cy="256032"/>
          </a:xfrm>
          <a:prstGeom prst="roundRect">
            <a:avLst>
              <a:gd name="adj" fmla="val 50000"/>
            </a:avLst>
          </a:prstGeom>
          <a:solidFill>
            <a:srgbClr val="8B5E83"/>
          </a:solidFill>
          <a:ln w="12700">
            <a:solidFill>
              <a:srgbClr val="8B5E83"/>
            </a:solidFill>
            <a:prstDash val="solid"/>
          </a:ln>
        </p:spPr>
      </p:sp>
      <p:sp>
        <p:nvSpPr>
          <p:cNvPr id="5" name="Text 3"/>
          <p:cNvSpPr txBox="1"/>
          <p:nvPr/>
        </p:nvSpPr>
        <p:spPr>
          <a:xfrm>
            <a:off x="457200" y="274320"/>
            <a:ext cx="1371600" cy="256032"/>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MILESTONE 4</a:t>
            </a:r>
            <a:endParaRPr lang="en-US" sz="950" dirty="0"/>
          </a:p>
        </p:txBody>
      </p:sp>
      <p:sp>
        <p:nvSpPr>
          <p:cNvPr id="6" name="Text 4"/>
          <p:cNvSpPr txBox="1"/>
          <p:nvPr/>
        </p:nvSpPr>
        <p:spPr>
          <a:xfrm>
            <a:off x="457200" y="621792"/>
            <a:ext cx="7315200" cy="502920"/>
          </a:xfrm>
          <a:prstGeom prst="rect">
            <a:avLst/>
          </a:prstGeom>
          <a:noFill/>
          <a:ln/>
        </p:spPr>
        <p:txBody>
          <a:bodyPr wrap="square" lIns="0" tIns="0" rIns="0" bIns="0" rtlCol="0" anchor="ctr"/>
          <a:lstStyle/>
          <a:p>
            <a:pPr indent="0" marL="0">
              <a:buNone/>
            </a:pPr>
            <a:r>
              <a:rPr lang="en-US" sz="2800" b="1" dirty="0">
                <a:solidFill>
                  <a:srgbClr val="0C3B5E"/>
                </a:solidFill>
                <a:latin typeface="Calibri" pitchFamily="34" charset="0"/>
                <a:ea typeface="Calibri" pitchFamily="34" charset="-122"/>
                <a:cs typeface="Calibri" pitchFamily="34" charset="-120"/>
              </a:rPr>
              <a:t>Key Findings</a:t>
            </a:r>
            <a:endParaRPr lang="en-US" sz="2800" dirty="0"/>
          </a:p>
        </p:txBody>
      </p:sp>
      <p:sp>
        <p:nvSpPr>
          <p:cNvPr id="7" name="Text 5"/>
          <p:cNvSpPr txBox="1"/>
          <p:nvPr/>
        </p:nvSpPr>
        <p:spPr>
          <a:xfrm>
            <a:off x="457200" y="1115568"/>
            <a:ext cx="7315200" cy="27432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Keys are sound, but business logic needs team decisions</a:t>
            </a:r>
            <a:endParaRPr lang="en-US" sz="1300" dirty="0"/>
          </a:p>
        </p:txBody>
      </p:sp>
      <p:sp>
        <p:nvSpPr>
          <p:cNvPr id="8" name="Text 6"/>
          <p:cNvSpPr txBox="1"/>
          <p:nvPr/>
        </p:nvSpPr>
        <p:spPr>
          <a:xfrm>
            <a:off x="8412480" y="4800600"/>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
        <p:nvSpPr>
          <p:cNvPr id="9" name="Shape 7"/>
          <p:cNvSpPr/>
          <p:nvPr/>
        </p:nvSpPr>
        <p:spPr>
          <a:xfrm>
            <a:off x="457200" y="1554480"/>
            <a:ext cx="2651760" cy="2011680"/>
          </a:xfrm>
          <a:prstGeom prst="roundRect">
            <a:avLst>
              <a:gd name="adj" fmla="val 4545"/>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0" name="Shape 8"/>
          <p:cNvSpPr/>
          <p:nvPr/>
        </p:nvSpPr>
        <p:spPr>
          <a:xfrm>
            <a:off x="640080" y="1737360"/>
            <a:ext cx="457200" cy="457200"/>
          </a:xfrm>
          <a:prstGeom prst="ellipse">
            <a:avLst/>
          </a:prstGeom>
          <a:solidFill>
            <a:srgbClr val="E07B5F"/>
          </a:solidFill>
          <a:ln w="12700">
            <a:solidFill>
              <a:srgbClr val="E07B5F"/>
            </a:solidFill>
            <a:prstDash val="solid"/>
          </a:ln>
        </p:spPr>
      </p:sp>
      <p:pic>
        <p:nvPicPr>
          <p:cNvPr id="11" name="Image 0" descr="preencoded.png">    </p:cNvPr>
          <p:cNvPicPr>
            <a:picLocks noChangeAspect="1"/>
          </p:cNvPicPr>
          <p:nvPr/>
        </p:nvPicPr>
        <p:blipFill>
          <a:blip r:embed="rId1"/>
          <a:stretch>
            <a:fillRect/>
          </a:stretch>
        </p:blipFill>
        <p:spPr>
          <a:xfrm>
            <a:off x="754380" y="1851660"/>
            <a:ext cx="228600" cy="228600"/>
          </a:xfrm>
          <a:prstGeom prst="rect">
            <a:avLst/>
          </a:prstGeom>
        </p:spPr>
      </p:pic>
      <p:sp>
        <p:nvSpPr>
          <p:cNvPr id="12" name="Shape 9"/>
          <p:cNvSpPr/>
          <p:nvPr/>
        </p:nvSpPr>
        <p:spPr>
          <a:xfrm>
            <a:off x="2286000" y="1828800"/>
            <a:ext cx="640080" cy="237744"/>
          </a:xfrm>
          <a:prstGeom prst="roundRect">
            <a:avLst>
              <a:gd name="adj" fmla="val 50000"/>
            </a:avLst>
          </a:prstGeom>
          <a:solidFill>
            <a:srgbClr val="E07B5F"/>
          </a:solidFill>
          <a:ln w="12700">
            <a:solidFill>
              <a:srgbClr val="E07B5F"/>
            </a:solidFill>
            <a:prstDash val="solid"/>
          </a:ln>
        </p:spPr>
      </p:sp>
      <p:sp>
        <p:nvSpPr>
          <p:cNvPr id="13" name="Text 10"/>
          <p:cNvSpPr txBox="1"/>
          <p:nvPr/>
        </p:nvSpPr>
        <p:spPr>
          <a:xfrm>
            <a:off x="2286000" y="1828800"/>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4" name="Text 11"/>
          <p:cNvSpPr txBox="1"/>
          <p:nvPr/>
        </p:nvSpPr>
        <p:spPr>
          <a:xfrm>
            <a:off x="640080" y="2331720"/>
            <a:ext cx="2286000" cy="320040"/>
          </a:xfrm>
          <a:prstGeom prst="rect">
            <a:avLst/>
          </a:prstGeom>
          <a:noFill/>
          <a:ln/>
        </p:spPr>
        <p:txBody>
          <a:bodyPr wrap="square" lIns="0" tIns="0" rIns="0" bIns="0" rtlCol="0" anchor="ctr"/>
          <a:lstStyle/>
          <a:p>
            <a:pPr indent="0" marL="0">
              <a:buNone/>
            </a:pPr>
            <a:r>
              <a:rPr lang="en-US" sz="1600" b="1" dirty="0">
                <a:solidFill>
                  <a:srgbClr val="0C3B5E"/>
                </a:solidFill>
                <a:latin typeface="Calibri" pitchFamily="34" charset="0"/>
                <a:ea typeface="Calibri" pitchFamily="34" charset="-122"/>
                <a:cs typeface="Calibri" pitchFamily="34" charset="-120"/>
              </a:rPr>
              <a:t>Bill totals</a:t>
            </a:r>
            <a:endParaRPr lang="en-US" sz="1600" dirty="0"/>
          </a:p>
        </p:txBody>
      </p:sp>
      <p:sp>
        <p:nvSpPr>
          <p:cNvPr id="15" name="Text 12"/>
          <p:cNvSpPr txBox="1"/>
          <p:nvPr/>
        </p:nvSpPr>
        <p:spPr>
          <a:xfrm>
            <a:off x="640080" y="2697480"/>
            <a:ext cx="2286000" cy="77724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Total differs from the sum of line items in 44,998 of 45,000 bills</a:t>
            </a:r>
            <a:endParaRPr lang="en-US" sz="1150" dirty="0"/>
          </a:p>
        </p:txBody>
      </p:sp>
      <p:sp>
        <p:nvSpPr>
          <p:cNvPr id="16" name="Shape 13"/>
          <p:cNvSpPr/>
          <p:nvPr/>
        </p:nvSpPr>
        <p:spPr>
          <a:xfrm>
            <a:off x="3246120" y="1554480"/>
            <a:ext cx="2651760" cy="2011680"/>
          </a:xfrm>
          <a:prstGeom prst="roundRect">
            <a:avLst>
              <a:gd name="adj" fmla="val 4545"/>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17" name="Shape 14"/>
          <p:cNvSpPr/>
          <p:nvPr/>
        </p:nvSpPr>
        <p:spPr>
          <a:xfrm>
            <a:off x="3429000" y="1737360"/>
            <a:ext cx="457200" cy="457200"/>
          </a:xfrm>
          <a:prstGeom prst="ellipse">
            <a:avLst/>
          </a:prstGeom>
          <a:solidFill>
            <a:srgbClr val="E07B5F"/>
          </a:solidFill>
          <a:ln w="12700">
            <a:solidFill>
              <a:srgbClr val="E07B5F"/>
            </a:solidFill>
            <a:prstDash val="solid"/>
          </a:ln>
        </p:spPr>
      </p:sp>
      <p:pic>
        <p:nvPicPr>
          <p:cNvPr id="18" name="Image 1" descr="preencoded.png">    </p:cNvPr>
          <p:cNvPicPr>
            <a:picLocks noChangeAspect="1"/>
          </p:cNvPicPr>
          <p:nvPr/>
        </p:nvPicPr>
        <p:blipFill>
          <a:blip r:embed="rId2"/>
          <a:stretch>
            <a:fillRect/>
          </a:stretch>
        </p:blipFill>
        <p:spPr>
          <a:xfrm>
            <a:off x="3543300" y="1851660"/>
            <a:ext cx="228600" cy="228600"/>
          </a:xfrm>
          <a:prstGeom prst="rect">
            <a:avLst/>
          </a:prstGeom>
        </p:spPr>
      </p:pic>
      <p:sp>
        <p:nvSpPr>
          <p:cNvPr id="19" name="Shape 15"/>
          <p:cNvSpPr/>
          <p:nvPr/>
        </p:nvSpPr>
        <p:spPr>
          <a:xfrm>
            <a:off x="5074920" y="1828800"/>
            <a:ext cx="640080" cy="237744"/>
          </a:xfrm>
          <a:prstGeom prst="roundRect">
            <a:avLst>
              <a:gd name="adj" fmla="val 50000"/>
            </a:avLst>
          </a:prstGeom>
          <a:solidFill>
            <a:srgbClr val="E07B5F"/>
          </a:solidFill>
          <a:ln w="12700">
            <a:solidFill>
              <a:srgbClr val="E07B5F"/>
            </a:solidFill>
            <a:prstDash val="solid"/>
          </a:ln>
        </p:spPr>
      </p:sp>
      <p:sp>
        <p:nvSpPr>
          <p:cNvPr id="20" name="Text 16"/>
          <p:cNvSpPr txBox="1"/>
          <p:nvPr/>
        </p:nvSpPr>
        <p:spPr>
          <a:xfrm>
            <a:off x="5074920" y="1828800"/>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1" name="Text 17"/>
          <p:cNvSpPr txBox="1"/>
          <p:nvPr/>
        </p:nvSpPr>
        <p:spPr>
          <a:xfrm>
            <a:off x="3429000" y="2331720"/>
            <a:ext cx="2286000" cy="320040"/>
          </a:xfrm>
          <a:prstGeom prst="rect">
            <a:avLst/>
          </a:prstGeom>
          <a:noFill/>
          <a:ln/>
        </p:spPr>
        <p:txBody>
          <a:bodyPr wrap="square" lIns="0" tIns="0" rIns="0" bIns="0" rtlCol="0" anchor="ctr"/>
          <a:lstStyle/>
          <a:p>
            <a:pPr indent="0" marL="0">
              <a:buNone/>
            </a:pPr>
            <a:r>
              <a:rPr lang="en-US" sz="1600" b="1" dirty="0">
                <a:solidFill>
                  <a:srgbClr val="0C3B5E"/>
                </a:solidFill>
                <a:latin typeface="Calibri" pitchFamily="34" charset="0"/>
                <a:ea typeface="Calibri" pitchFamily="34" charset="-122"/>
                <a:cs typeface="Calibri" pitchFamily="34" charset="-120"/>
              </a:rPr>
              <a:t>Bill dates</a:t>
            </a:r>
            <a:endParaRPr lang="en-US" sz="1600" dirty="0"/>
          </a:p>
        </p:txBody>
      </p:sp>
      <p:sp>
        <p:nvSpPr>
          <p:cNvPr id="22" name="Text 18"/>
          <p:cNvSpPr txBox="1"/>
          <p:nvPr/>
        </p:nvSpPr>
        <p:spPr>
          <a:xfrm>
            <a:off x="3429000" y="2697480"/>
            <a:ext cx="2286000" cy="77724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44,894 bills fall outside the admission stay window</a:t>
            </a:r>
            <a:endParaRPr lang="en-US" sz="1150" dirty="0"/>
          </a:p>
        </p:txBody>
      </p:sp>
      <p:sp>
        <p:nvSpPr>
          <p:cNvPr id="23" name="Shape 19"/>
          <p:cNvSpPr/>
          <p:nvPr/>
        </p:nvSpPr>
        <p:spPr>
          <a:xfrm>
            <a:off x="6035040" y="1554480"/>
            <a:ext cx="2651760" cy="2011680"/>
          </a:xfrm>
          <a:prstGeom prst="roundRect">
            <a:avLst>
              <a:gd name="adj" fmla="val 4545"/>
            </a:avLst>
          </a:prstGeom>
          <a:solidFill>
            <a:srgbClr val="FFFFFF"/>
          </a:solidFill>
          <a:ln w="12700">
            <a:solidFill>
              <a:srgbClr val="E2E8F0"/>
            </a:solidFill>
            <a:prstDash val="solid"/>
          </a:ln>
          <a:effectLst>
            <a:outerShdw sx="100000" sy="100000" kx="0" ky="0" algn="bl" rotWithShape="0" blurRad="101600" dist="38100" dir="5400000">
              <a:srgbClr val="000000">
                <a:alpha val="16000"/>
              </a:srgbClr>
            </a:outerShdw>
          </a:effectLst>
        </p:spPr>
      </p:sp>
      <p:sp>
        <p:nvSpPr>
          <p:cNvPr id="24" name="Shape 20"/>
          <p:cNvSpPr/>
          <p:nvPr/>
        </p:nvSpPr>
        <p:spPr>
          <a:xfrm>
            <a:off x="6217920" y="1737360"/>
            <a:ext cx="457200" cy="457200"/>
          </a:xfrm>
          <a:prstGeom prst="ellipse">
            <a:avLst/>
          </a:prstGeom>
          <a:solidFill>
            <a:srgbClr val="E07B5F"/>
          </a:solidFill>
          <a:ln w="12700">
            <a:solidFill>
              <a:srgbClr val="E07B5F"/>
            </a:solidFill>
            <a:prstDash val="solid"/>
          </a:ln>
        </p:spPr>
      </p:sp>
      <p:pic>
        <p:nvPicPr>
          <p:cNvPr id="25" name="Image 2" descr="preencoded.png">    </p:cNvPr>
          <p:cNvPicPr>
            <a:picLocks noChangeAspect="1"/>
          </p:cNvPicPr>
          <p:nvPr/>
        </p:nvPicPr>
        <p:blipFill>
          <a:blip r:embed="rId3"/>
          <a:stretch>
            <a:fillRect/>
          </a:stretch>
        </p:blipFill>
        <p:spPr>
          <a:xfrm>
            <a:off x="6332220" y="1851660"/>
            <a:ext cx="228600" cy="228600"/>
          </a:xfrm>
          <a:prstGeom prst="rect">
            <a:avLst/>
          </a:prstGeom>
        </p:spPr>
      </p:pic>
      <p:sp>
        <p:nvSpPr>
          <p:cNvPr id="26" name="Shape 21"/>
          <p:cNvSpPr/>
          <p:nvPr/>
        </p:nvSpPr>
        <p:spPr>
          <a:xfrm>
            <a:off x="7863840" y="1828800"/>
            <a:ext cx="640080" cy="237744"/>
          </a:xfrm>
          <a:prstGeom prst="roundRect">
            <a:avLst>
              <a:gd name="adj" fmla="val 50000"/>
            </a:avLst>
          </a:prstGeom>
          <a:solidFill>
            <a:srgbClr val="E07B5F"/>
          </a:solidFill>
          <a:ln w="12700">
            <a:solidFill>
              <a:srgbClr val="E07B5F"/>
            </a:solidFill>
            <a:prstDash val="solid"/>
          </a:ln>
        </p:spPr>
      </p:sp>
      <p:sp>
        <p:nvSpPr>
          <p:cNvPr id="27" name="Text 22"/>
          <p:cNvSpPr txBox="1"/>
          <p:nvPr/>
        </p:nvSpPr>
        <p:spPr>
          <a:xfrm>
            <a:off x="7863840" y="1828800"/>
            <a:ext cx="64008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8" name="Text 23"/>
          <p:cNvSpPr txBox="1"/>
          <p:nvPr/>
        </p:nvSpPr>
        <p:spPr>
          <a:xfrm>
            <a:off x="6217920" y="2331720"/>
            <a:ext cx="2286000" cy="320040"/>
          </a:xfrm>
          <a:prstGeom prst="rect">
            <a:avLst/>
          </a:prstGeom>
          <a:noFill/>
          <a:ln/>
        </p:spPr>
        <p:txBody>
          <a:bodyPr wrap="square" lIns="0" tIns="0" rIns="0" bIns="0" rtlCol="0" anchor="ctr"/>
          <a:lstStyle/>
          <a:p>
            <a:pPr indent="0" marL="0">
              <a:buNone/>
            </a:pPr>
            <a:r>
              <a:rPr lang="en-US" sz="1600" b="1" dirty="0">
                <a:solidFill>
                  <a:srgbClr val="0C3B5E"/>
                </a:solidFill>
                <a:latin typeface="Calibri" pitchFamily="34" charset="0"/>
                <a:ea typeface="Calibri" pitchFamily="34" charset="-122"/>
                <a:cs typeface="Calibri" pitchFamily="34" charset="-120"/>
              </a:rPr>
              <a:t>Bed status</a:t>
            </a:r>
            <a:endParaRPr lang="en-US" sz="1600" dirty="0"/>
          </a:p>
        </p:txBody>
      </p:sp>
      <p:sp>
        <p:nvSpPr>
          <p:cNvPr id="29" name="Text 24"/>
          <p:cNvSpPr txBox="1"/>
          <p:nvPr/>
        </p:nvSpPr>
        <p:spPr>
          <a:xfrm>
            <a:off x="6217920" y="2697480"/>
            <a:ext cx="2286000" cy="77724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All admissions are Discharged, yet 270 beds show Occupied</a:t>
            </a:r>
            <a:endParaRPr lang="en-US" sz="1150" dirty="0"/>
          </a:p>
        </p:txBody>
      </p:sp>
      <p:sp>
        <p:nvSpPr>
          <p:cNvPr id="30" name="Shape 25"/>
          <p:cNvSpPr/>
          <p:nvPr/>
        </p:nvSpPr>
        <p:spPr>
          <a:xfrm>
            <a:off x="457200" y="3749040"/>
            <a:ext cx="8229600" cy="822960"/>
          </a:xfrm>
          <a:prstGeom prst="roundRect">
            <a:avLst>
              <a:gd name="adj" fmla="val 11111"/>
            </a:avLst>
          </a:prstGeom>
          <a:solidFill>
            <a:srgbClr val="0C3B5E"/>
          </a:solidFill>
          <a:ln w="12700">
            <a:solidFill>
              <a:srgbClr val="0C3B5E"/>
            </a:solidFill>
            <a:prstDash val="solid"/>
          </a:ln>
          <a:effectLst>
            <a:outerShdw sx="100000" sy="100000" kx="0" ky="0" algn="bl" rotWithShape="0" blurRad="101600" dist="38100" dir="5400000">
              <a:srgbClr val="000000">
                <a:alpha val="16000"/>
              </a:srgbClr>
            </a:outerShdw>
          </a:effectLst>
        </p:spPr>
      </p:sp>
      <p:sp>
        <p:nvSpPr>
          <p:cNvPr id="31" name="Shape 26"/>
          <p:cNvSpPr/>
          <p:nvPr/>
        </p:nvSpPr>
        <p:spPr>
          <a:xfrm>
            <a:off x="640080" y="3931920"/>
            <a:ext cx="457200" cy="457200"/>
          </a:xfrm>
          <a:prstGeom prst="ellipse">
            <a:avLst/>
          </a:prstGeom>
          <a:solidFill>
            <a:srgbClr val="1B7F86"/>
          </a:solidFill>
          <a:ln w="12700">
            <a:solidFill>
              <a:srgbClr val="1B7F86"/>
            </a:solidFill>
            <a:prstDash val="solid"/>
          </a:ln>
        </p:spPr>
      </p:sp>
      <p:pic>
        <p:nvPicPr>
          <p:cNvPr id="32" name="Image 3" descr="preencoded.png">    </p:cNvPr>
          <p:cNvPicPr>
            <a:picLocks noChangeAspect="1"/>
          </p:cNvPicPr>
          <p:nvPr/>
        </p:nvPicPr>
        <p:blipFill>
          <a:blip r:embed="rId4"/>
          <a:stretch>
            <a:fillRect/>
          </a:stretch>
        </p:blipFill>
        <p:spPr>
          <a:xfrm>
            <a:off x="754380" y="4046220"/>
            <a:ext cx="228600" cy="228600"/>
          </a:xfrm>
          <a:prstGeom prst="rect">
            <a:avLst/>
          </a:prstGeom>
        </p:spPr>
      </p:pic>
      <p:sp>
        <p:nvSpPr>
          <p:cNvPr id="33" name="Text 27"/>
          <p:cNvSpPr txBox="1"/>
          <p:nvPr/>
        </p:nvSpPr>
        <p:spPr>
          <a:xfrm>
            <a:off x="1280160" y="3749040"/>
            <a:ext cx="7223760" cy="822960"/>
          </a:xfrm>
          <a:prstGeom prst="rect">
            <a:avLst/>
          </a:prstGeom>
          <a:noFill/>
          <a:ln/>
        </p:spPr>
        <p:txBody>
          <a:bodyPr wrap="square" lIns="0" tIns="0" rIns="0" bIns="0" rtlCol="0" anchor="ctr"/>
          <a:lstStyle/>
          <a:p>
            <a:pPr indent="0" marL="0">
              <a:buNone/>
            </a:pPr>
            <a:r>
              <a:rPr lang="en-US" sz="1200" b="1" dirty="0">
                <a:solidFill>
                  <a:srgbClr val="EBC99A"/>
                </a:solidFill>
                <a:latin typeface="Calibri" pitchFamily="34" charset="0"/>
                <a:ea typeface="Calibri" pitchFamily="34" charset="-122"/>
                <a:cs typeface="Calibri" pitchFamily="34" charset="-120"/>
              </a:rPr>
              <a:t>Next steps: </a:t>
            </a:r>
            <a:pPr indent="0" marL="0">
              <a:buNone/>
            </a:pPr>
            <a:r>
              <a:rPr lang="en-US" sz="1200" dirty="0">
                <a:solidFill>
                  <a:srgbClr val="FFFFFF"/>
                </a:solidFill>
                <a:latin typeface="Calibri" pitchFamily="34" charset="0"/>
                <a:ea typeface="Calibri" pitchFamily="34" charset="-122"/>
                <a:cs typeface="Calibri" pitchFamily="34" charset="-120"/>
              </a:rPr>
              <a:t>agree on one official revenue column, confirm bill-date and bed-status handling with dashboard owners, and decide which Medium findings to fix or document.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583680" y="2194560"/>
            <a:ext cx="3657600" cy="3657600"/>
          </a:xfrm>
          <a:prstGeom prst="ellipse">
            <a:avLst/>
          </a:prstGeom>
          <a:solidFill>
            <a:srgbClr val="1B7F86">
              <a:alpha val="55000"/>
            </a:srgbClr>
          </a:solidFill>
          <a:ln w="12700">
            <a:solidFill>
              <a:srgbClr val="1B7F86">
                <a:alpha val="55000"/>
              </a:srgbClr>
            </a:solidFill>
            <a:prstDash val="solid"/>
          </a:ln>
        </p:spPr>
      </p:sp>
      <p:sp>
        <p:nvSpPr>
          <p:cNvPr id="3" name="Shape 1"/>
          <p:cNvSpPr/>
          <p:nvPr/>
        </p:nvSpPr>
        <p:spPr>
          <a:xfrm>
            <a:off x="7863840" y="-731520"/>
            <a:ext cx="2194560" cy="2194560"/>
          </a:xfrm>
          <a:prstGeom prst="ellipse">
            <a:avLst/>
          </a:prstGeom>
          <a:solidFill>
            <a:srgbClr val="E07B5F">
              <a:alpha val="40000"/>
            </a:srgbClr>
          </a:solidFill>
          <a:ln w="12700">
            <a:solidFill>
              <a:srgbClr val="E07B5F">
                <a:alpha val="40000"/>
              </a:srgbClr>
            </a:solidFill>
            <a:prstDash val="solid"/>
          </a:ln>
        </p:spPr>
      </p:sp>
      <p:sp>
        <p:nvSpPr>
          <p:cNvPr id="4" name="Text 2"/>
          <p:cNvSpPr txBox="1"/>
          <p:nvPr/>
        </p:nvSpPr>
        <p:spPr>
          <a:xfrm>
            <a:off x="640080" y="45720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Conclusion</a:t>
            </a:r>
            <a:endParaRPr lang="en-US" sz="3400" dirty="0"/>
          </a:p>
        </p:txBody>
      </p:sp>
      <p:sp>
        <p:nvSpPr>
          <p:cNvPr id="5" name="Text 3"/>
          <p:cNvSpPr txBox="1"/>
          <p:nvPr/>
        </p:nvSpPr>
        <p:spPr>
          <a:xfrm>
            <a:off x="640080" y="1143000"/>
            <a:ext cx="6858000" cy="548640"/>
          </a:xfrm>
          <a:prstGeom prst="rect">
            <a:avLst/>
          </a:prstGeom>
          <a:noFill/>
          <a:ln/>
        </p:spPr>
        <p:txBody>
          <a:bodyPr wrap="square" lIns="0" tIns="0" rIns="0" bIns="0" rtlCol="0" anchor="t"/>
          <a:lstStyle/>
          <a:p>
            <a:pPr indent="0" marL="0">
              <a:buNone/>
            </a:pPr>
            <a:r>
              <a:rPr lang="en-US" sz="1500" dirty="0">
                <a:solidFill>
                  <a:srgbClr val="EBC99A"/>
                </a:solidFill>
                <a:latin typeface="Calibri" pitchFamily="34" charset="0"/>
                <a:ea typeface="Calibri" pitchFamily="34" charset="-122"/>
                <a:cs typeface="Calibri" pitchFamily="34" charset="-120"/>
              </a:rPr>
              <a:t>Clean data, a clear story and verified keys give the team dashboards it can trust.</a:t>
            </a:r>
            <a:endParaRPr lang="en-US" sz="1500" dirty="0"/>
          </a:p>
        </p:txBody>
      </p:sp>
      <p:sp>
        <p:nvSpPr>
          <p:cNvPr id="6" name="Shape 4"/>
          <p:cNvSpPr/>
          <p:nvPr/>
        </p:nvSpPr>
        <p:spPr>
          <a:xfrm>
            <a:off x="640080" y="2011680"/>
            <a:ext cx="1874520" cy="1417320"/>
          </a:xfrm>
          <a:prstGeom prst="roundRect">
            <a:avLst>
              <a:gd name="adj" fmla="val 6452"/>
            </a:avLst>
          </a:prstGeom>
          <a:solidFill>
            <a:srgbClr val="FFFFFF">
              <a:alpha val="10000"/>
            </a:srgbClr>
          </a:solidFill>
          <a:ln w="12700">
            <a:solidFill>
              <a:srgbClr val="FFFFFF">
                <a:alpha val="35000"/>
              </a:srgbClr>
            </a:solidFill>
            <a:prstDash val="solid"/>
          </a:ln>
        </p:spPr>
      </p:sp>
      <p:sp>
        <p:nvSpPr>
          <p:cNvPr id="7" name="Shape 5"/>
          <p:cNvSpPr/>
          <p:nvPr/>
        </p:nvSpPr>
        <p:spPr>
          <a:xfrm>
            <a:off x="777240" y="2148840"/>
            <a:ext cx="457200" cy="457200"/>
          </a:xfrm>
          <a:prstGeom prst="ellipse">
            <a:avLst/>
          </a:prstGeom>
          <a:solidFill>
            <a:srgbClr val="1B7F86"/>
          </a:solidFill>
          <a:ln w="12700">
            <a:solidFill>
              <a:srgbClr val="1B7F86"/>
            </a:solidFill>
            <a:prstDash val="solid"/>
          </a:ln>
        </p:spPr>
      </p:sp>
      <p:pic>
        <p:nvPicPr>
          <p:cNvPr id="8" name="Image 0" descr="preencoded.png">    </p:cNvPr>
          <p:cNvPicPr>
            <a:picLocks noChangeAspect="1"/>
          </p:cNvPicPr>
          <p:nvPr/>
        </p:nvPicPr>
        <p:blipFill>
          <a:blip r:embed="rId2"/>
          <a:stretch>
            <a:fillRect/>
          </a:stretch>
        </p:blipFill>
        <p:spPr>
          <a:xfrm>
            <a:off x="891540" y="2263140"/>
            <a:ext cx="228600" cy="228600"/>
          </a:xfrm>
          <a:prstGeom prst="rect">
            <a:avLst/>
          </a:prstGeom>
        </p:spPr>
      </p:pic>
      <p:sp>
        <p:nvSpPr>
          <p:cNvPr id="9" name="Text 6"/>
          <p:cNvSpPr txBox="1"/>
          <p:nvPr/>
        </p:nvSpPr>
        <p:spPr>
          <a:xfrm>
            <a:off x="1325880" y="2148840"/>
            <a:ext cx="1097280" cy="457200"/>
          </a:xfrm>
          <a:prstGeom prst="rect">
            <a:avLst/>
          </a:prstGeom>
          <a:noFill/>
          <a:ln/>
        </p:spPr>
        <p:txBody>
          <a:bodyPr wrap="square" lIns="0" tIns="0" rIns="0" bIns="0" rtlCol="0" anchor="ctr"/>
          <a:lstStyle/>
          <a:p>
            <a:pPr indent="0" marL="0">
              <a:buNone/>
            </a:pPr>
            <a:r>
              <a:rPr lang="en-US" sz="1700" b="1" dirty="0">
                <a:solidFill>
                  <a:srgbClr val="EBC99A"/>
                </a:solidFill>
                <a:latin typeface="Calibri" pitchFamily="34" charset="0"/>
                <a:ea typeface="Calibri" pitchFamily="34" charset="-122"/>
                <a:cs typeface="Calibri" pitchFamily="34" charset="-120"/>
              </a:rPr>
              <a:t>Clean</a:t>
            </a:r>
            <a:endParaRPr lang="en-US" sz="1700" dirty="0"/>
          </a:p>
        </p:txBody>
      </p:sp>
      <p:sp>
        <p:nvSpPr>
          <p:cNvPr id="10" name="Text 7"/>
          <p:cNvSpPr txBox="1"/>
          <p:nvPr/>
        </p:nvSpPr>
        <p:spPr>
          <a:xfrm>
            <a:off x="777240" y="2743200"/>
            <a:ext cx="1645920" cy="5943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Consistent IDs, dates, departments</a:t>
            </a:r>
            <a:endParaRPr lang="en-US" sz="1150" dirty="0"/>
          </a:p>
        </p:txBody>
      </p:sp>
      <p:sp>
        <p:nvSpPr>
          <p:cNvPr id="11" name="Shape 8"/>
          <p:cNvSpPr/>
          <p:nvPr/>
        </p:nvSpPr>
        <p:spPr>
          <a:xfrm>
            <a:off x="2651760" y="2011680"/>
            <a:ext cx="1874520" cy="1417320"/>
          </a:xfrm>
          <a:prstGeom prst="roundRect">
            <a:avLst>
              <a:gd name="adj" fmla="val 6452"/>
            </a:avLst>
          </a:prstGeom>
          <a:solidFill>
            <a:srgbClr val="FFFFFF">
              <a:alpha val="10000"/>
            </a:srgbClr>
          </a:solidFill>
          <a:ln w="12700">
            <a:solidFill>
              <a:srgbClr val="FFFFFF">
                <a:alpha val="35000"/>
              </a:srgbClr>
            </a:solidFill>
            <a:prstDash val="solid"/>
          </a:ln>
        </p:spPr>
      </p:sp>
      <p:sp>
        <p:nvSpPr>
          <p:cNvPr id="12" name="Shape 9"/>
          <p:cNvSpPr/>
          <p:nvPr/>
        </p:nvSpPr>
        <p:spPr>
          <a:xfrm>
            <a:off x="2788920" y="2148840"/>
            <a:ext cx="457200" cy="457200"/>
          </a:xfrm>
          <a:prstGeom prst="ellipse">
            <a:avLst/>
          </a:prstGeom>
          <a:solidFill>
            <a:srgbClr val="E07B5F"/>
          </a:solidFill>
          <a:ln w="12700">
            <a:solidFill>
              <a:srgbClr val="E07B5F"/>
            </a:solidFill>
            <a:prstDash val="solid"/>
          </a:ln>
        </p:spPr>
      </p:sp>
      <p:pic>
        <p:nvPicPr>
          <p:cNvPr id="13" name="Image 1" descr="preencoded.png">    </p:cNvPr>
          <p:cNvPicPr>
            <a:picLocks noChangeAspect="1"/>
          </p:cNvPicPr>
          <p:nvPr/>
        </p:nvPicPr>
        <p:blipFill>
          <a:blip r:embed="rId3"/>
          <a:stretch>
            <a:fillRect/>
          </a:stretch>
        </p:blipFill>
        <p:spPr>
          <a:xfrm>
            <a:off x="2903220" y="2263140"/>
            <a:ext cx="228600" cy="228600"/>
          </a:xfrm>
          <a:prstGeom prst="rect">
            <a:avLst/>
          </a:prstGeom>
        </p:spPr>
      </p:pic>
      <p:sp>
        <p:nvSpPr>
          <p:cNvPr id="14" name="Text 10"/>
          <p:cNvSpPr txBox="1"/>
          <p:nvPr/>
        </p:nvSpPr>
        <p:spPr>
          <a:xfrm>
            <a:off x="3337560" y="2148840"/>
            <a:ext cx="1097280" cy="457200"/>
          </a:xfrm>
          <a:prstGeom prst="rect">
            <a:avLst/>
          </a:prstGeom>
          <a:noFill/>
          <a:ln/>
        </p:spPr>
        <p:txBody>
          <a:bodyPr wrap="square" lIns="0" tIns="0" rIns="0" bIns="0" rtlCol="0" anchor="ctr"/>
          <a:lstStyle/>
          <a:p>
            <a:pPr indent="0" marL="0">
              <a:buNone/>
            </a:pPr>
            <a:r>
              <a:rPr lang="en-US" sz="1700" b="1" dirty="0">
                <a:solidFill>
                  <a:srgbClr val="EBC99A"/>
                </a:solidFill>
                <a:latin typeface="Calibri" pitchFamily="34" charset="0"/>
                <a:ea typeface="Calibri" pitchFamily="34" charset="-122"/>
                <a:cs typeface="Calibri" pitchFamily="34" charset="-120"/>
              </a:rPr>
              <a:t>Plan</a:t>
            </a:r>
            <a:endParaRPr lang="en-US" sz="1700" dirty="0"/>
          </a:p>
        </p:txBody>
      </p:sp>
      <p:sp>
        <p:nvSpPr>
          <p:cNvPr id="15" name="Text 11"/>
          <p:cNvSpPr txBox="1"/>
          <p:nvPr/>
        </p:nvSpPr>
        <p:spPr>
          <a:xfrm>
            <a:off x="2788920" y="2743200"/>
            <a:ext cx="1645920" cy="5943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Storyboard for 3 dashboards</a:t>
            </a:r>
            <a:endParaRPr lang="en-US" sz="1150" dirty="0"/>
          </a:p>
        </p:txBody>
      </p:sp>
      <p:sp>
        <p:nvSpPr>
          <p:cNvPr id="16" name="Shape 12"/>
          <p:cNvSpPr/>
          <p:nvPr/>
        </p:nvSpPr>
        <p:spPr>
          <a:xfrm>
            <a:off x="4663440" y="2011680"/>
            <a:ext cx="1874520" cy="1417320"/>
          </a:xfrm>
          <a:prstGeom prst="roundRect">
            <a:avLst>
              <a:gd name="adj" fmla="val 6452"/>
            </a:avLst>
          </a:prstGeom>
          <a:solidFill>
            <a:srgbClr val="FFFFFF">
              <a:alpha val="10000"/>
            </a:srgbClr>
          </a:solidFill>
          <a:ln w="12700">
            <a:solidFill>
              <a:srgbClr val="FFFFFF">
                <a:alpha val="35000"/>
              </a:srgbClr>
            </a:solidFill>
            <a:prstDash val="solid"/>
          </a:ln>
        </p:spPr>
      </p:sp>
      <p:sp>
        <p:nvSpPr>
          <p:cNvPr id="17" name="Shape 13"/>
          <p:cNvSpPr/>
          <p:nvPr/>
        </p:nvSpPr>
        <p:spPr>
          <a:xfrm>
            <a:off x="4800600" y="2148840"/>
            <a:ext cx="457200" cy="457200"/>
          </a:xfrm>
          <a:prstGeom prst="ellipse">
            <a:avLst/>
          </a:prstGeom>
          <a:solidFill>
            <a:srgbClr val="3D5A8A"/>
          </a:solidFill>
          <a:ln w="12700">
            <a:solidFill>
              <a:srgbClr val="3D5A8A"/>
            </a:solidFill>
            <a:prstDash val="solid"/>
          </a:ln>
        </p:spPr>
      </p:sp>
      <p:pic>
        <p:nvPicPr>
          <p:cNvPr id="18" name="Image 2" descr="preencoded.png">    </p:cNvPr>
          <p:cNvPicPr>
            <a:picLocks noChangeAspect="1"/>
          </p:cNvPicPr>
          <p:nvPr/>
        </p:nvPicPr>
        <p:blipFill>
          <a:blip r:embed="rId4"/>
          <a:stretch>
            <a:fillRect/>
          </a:stretch>
        </p:blipFill>
        <p:spPr>
          <a:xfrm>
            <a:off x="4914900" y="2263140"/>
            <a:ext cx="228600" cy="228600"/>
          </a:xfrm>
          <a:prstGeom prst="rect">
            <a:avLst/>
          </a:prstGeom>
        </p:spPr>
      </p:pic>
      <p:sp>
        <p:nvSpPr>
          <p:cNvPr id="19" name="Text 14"/>
          <p:cNvSpPr txBox="1"/>
          <p:nvPr/>
        </p:nvSpPr>
        <p:spPr>
          <a:xfrm>
            <a:off x="5349240" y="2148840"/>
            <a:ext cx="1097280" cy="457200"/>
          </a:xfrm>
          <a:prstGeom prst="rect">
            <a:avLst/>
          </a:prstGeom>
          <a:noFill/>
          <a:ln/>
        </p:spPr>
        <p:txBody>
          <a:bodyPr wrap="square" lIns="0" tIns="0" rIns="0" bIns="0" rtlCol="0" anchor="ctr"/>
          <a:lstStyle/>
          <a:p>
            <a:pPr indent="0" marL="0">
              <a:buNone/>
            </a:pPr>
            <a:r>
              <a:rPr lang="en-US" sz="1700" b="1" dirty="0">
                <a:solidFill>
                  <a:srgbClr val="EBC99A"/>
                </a:solidFill>
                <a:latin typeface="Calibri" pitchFamily="34" charset="0"/>
                <a:ea typeface="Calibri" pitchFamily="34" charset="-122"/>
                <a:cs typeface="Calibri" pitchFamily="34" charset="-120"/>
              </a:rPr>
              <a:t>Analyze</a:t>
            </a:r>
            <a:endParaRPr lang="en-US" sz="1700" dirty="0"/>
          </a:p>
        </p:txBody>
      </p:sp>
      <p:sp>
        <p:nvSpPr>
          <p:cNvPr id="20" name="Text 15"/>
          <p:cNvSpPr txBox="1"/>
          <p:nvPr/>
        </p:nvSpPr>
        <p:spPr>
          <a:xfrm>
            <a:off x="4800600" y="2743200"/>
            <a:ext cx="1645920" cy="5943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Efficiency across 6 departments</a:t>
            </a:r>
            <a:endParaRPr lang="en-US" sz="1150" dirty="0"/>
          </a:p>
        </p:txBody>
      </p:sp>
      <p:sp>
        <p:nvSpPr>
          <p:cNvPr id="21" name="Shape 16"/>
          <p:cNvSpPr/>
          <p:nvPr/>
        </p:nvSpPr>
        <p:spPr>
          <a:xfrm>
            <a:off x="6675120" y="2011680"/>
            <a:ext cx="1874520" cy="1417320"/>
          </a:xfrm>
          <a:prstGeom prst="roundRect">
            <a:avLst>
              <a:gd name="adj" fmla="val 6452"/>
            </a:avLst>
          </a:prstGeom>
          <a:solidFill>
            <a:srgbClr val="FFFFFF">
              <a:alpha val="10000"/>
            </a:srgbClr>
          </a:solidFill>
          <a:ln w="12700">
            <a:solidFill>
              <a:srgbClr val="FFFFFF">
                <a:alpha val="35000"/>
              </a:srgbClr>
            </a:solidFill>
            <a:prstDash val="solid"/>
          </a:ln>
        </p:spPr>
      </p:sp>
      <p:sp>
        <p:nvSpPr>
          <p:cNvPr id="22" name="Shape 17"/>
          <p:cNvSpPr/>
          <p:nvPr/>
        </p:nvSpPr>
        <p:spPr>
          <a:xfrm>
            <a:off x="6812280" y="2148840"/>
            <a:ext cx="457200" cy="457200"/>
          </a:xfrm>
          <a:prstGeom prst="ellipse">
            <a:avLst/>
          </a:prstGeom>
          <a:solidFill>
            <a:srgbClr val="8B5E83"/>
          </a:solidFill>
          <a:ln w="12700">
            <a:solidFill>
              <a:srgbClr val="8B5E83"/>
            </a:solidFill>
            <a:prstDash val="solid"/>
          </a:ln>
        </p:spPr>
      </p:sp>
      <p:pic>
        <p:nvPicPr>
          <p:cNvPr id="23" name="Image 3" descr="preencoded.png">    </p:cNvPr>
          <p:cNvPicPr>
            <a:picLocks noChangeAspect="1"/>
          </p:cNvPicPr>
          <p:nvPr/>
        </p:nvPicPr>
        <p:blipFill>
          <a:blip r:embed="rId5"/>
          <a:stretch>
            <a:fillRect/>
          </a:stretch>
        </p:blipFill>
        <p:spPr>
          <a:xfrm>
            <a:off x="6926580" y="2263140"/>
            <a:ext cx="228600" cy="228600"/>
          </a:xfrm>
          <a:prstGeom prst="rect">
            <a:avLst/>
          </a:prstGeom>
        </p:spPr>
      </p:pic>
      <p:sp>
        <p:nvSpPr>
          <p:cNvPr id="24" name="Text 18"/>
          <p:cNvSpPr txBox="1"/>
          <p:nvPr/>
        </p:nvSpPr>
        <p:spPr>
          <a:xfrm>
            <a:off x="7360920" y="2148840"/>
            <a:ext cx="1097280" cy="457200"/>
          </a:xfrm>
          <a:prstGeom prst="rect">
            <a:avLst/>
          </a:prstGeom>
          <a:noFill/>
          <a:ln/>
        </p:spPr>
        <p:txBody>
          <a:bodyPr wrap="square" lIns="0" tIns="0" rIns="0" bIns="0" rtlCol="0" anchor="ctr"/>
          <a:lstStyle/>
          <a:p>
            <a:pPr indent="0" marL="0">
              <a:buNone/>
            </a:pPr>
            <a:r>
              <a:rPr lang="en-US" sz="1700" b="1" dirty="0">
                <a:solidFill>
                  <a:srgbClr val="EBC99A"/>
                </a:solidFill>
                <a:latin typeface="Calibri" pitchFamily="34" charset="0"/>
                <a:ea typeface="Calibri" pitchFamily="34" charset="-122"/>
                <a:cs typeface="Calibri" pitchFamily="34" charset="-120"/>
              </a:rPr>
              <a:t>Verify</a:t>
            </a:r>
            <a:endParaRPr lang="en-US" sz="1700" dirty="0"/>
          </a:p>
        </p:txBody>
      </p:sp>
      <p:sp>
        <p:nvSpPr>
          <p:cNvPr id="25" name="Text 19"/>
          <p:cNvSpPr txBox="1"/>
          <p:nvPr/>
        </p:nvSpPr>
        <p:spPr>
          <a:xfrm>
            <a:off x="6812280" y="2743200"/>
            <a:ext cx="1645920" cy="5943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19 PKs, 23 FKs, 13 checks</a:t>
            </a:r>
            <a:endParaRPr lang="en-US" sz="1150" dirty="0"/>
          </a:p>
        </p:txBody>
      </p:sp>
      <p:sp>
        <p:nvSpPr>
          <p:cNvPr id="26" name="Text 20"/>
          <p:cNvSpPr txBox="1"/>
          <p:nvPr/>
        </p:nvSpPr>
        <p:spPr>
          <a:xfrm>
            <a:off x="640080" y="3703320"/>
            <a:ext cx="7315200" cy="3657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Future work: resolve the High findings, add real-time data, and automate data checks.</a:t>
            </a:r>
            <a:endParaRPr lang="en-US" sz="1300" dirty="0"/>
          </a:p>
        </p:txBody>
      </p:sp>
      <p:sp>
        <p:nvSpPr>
          <p:cNvPr id="27" name="Text 21"/>
          <p:cNvSpPr txBox="1"/>
          <p:nvPr/>
        </p:nvSpPr>
        <p:spPr>
          <a:xfrm>
            <a:off x="640080" y="4251960"/>
            <a:ext cx="36576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MedTrack_DV – Member 6 Portfolio</dc:title>
  <dc:subject>PptxGenJS Presentation</dc:subject>
  <dc:creator>PptxGenJS</dc:creator>
  <cp:lastModifiedBy>PptxGenJS</cp:lastModifiedBy>
  <cp:revision>1</cp:revision>
  <dcterms:created xsi:type="dcterms:W3CDTF">2026-10-06T14:53:37Z</dcterms:created>
  <dcterms:modified xsi:type="dcterms:W3CDTF">2026-10-06T14:53:37Z</dcterms:modified>
</cp:coreProperties>
</file>