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6858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PROJECT PRESENTATION  • 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6766560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Hospital Performance</a:t>
            </a:r>
          </a:p>
          <a:p>
            <a:pPr>
              <a:spcAft>
                <a:spcPts val="400"/>
              </a:spcAft>
              <a:defRPr sz="31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07792"/>
            <a:ext cx="630936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Interactive hospital operations analysis using Tableau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3822191"/>
            <a:ext cx="438912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206240"/>
            <a:ext cx="585216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C273A"/>
                </a:solidFill>
                <a:latin typeface="Aptos"/>
              </a:defRPr>
            </a:pPr>
            <a:r>
              <a:t>Presented by: Yasaswini Pulamarasetti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394960"/>
            <a:ext cx="384048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DATA  →  INSIGHT  → 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9" name="Right Triangle 18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Triangle 19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4343400"/>
            <a:ext cx="246888" cy="731520"/>
          </a:xfrm>
          <a:prstGeom prst="rect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2" y="3977639"/>
            <a:ext cx="246888" cy="1097280"/>
          </a:xfrm>
          <a:prstGeom prst="rect">
            <a:avLst/>
          </a:prstGeom>
          <a:solidFill>
            <a:srgbClr val="22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13063" y="4114800"/>
            <a:ext cx="246888" cy="960120"/>
          </a:xfrm>
          <a:prstGeom prst="rect">
            <a:avLst/>
          </a:prstGeom>
          <a:solidFill>
            <a:srgbClr val="22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976" y="3657600"/>
            <a:ext cx="246888" cy="1417320"/>
          </a:xfrm>
          <a:prstGeom prst="rect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90888" y="3794760"/>
            <a:ext cx="246888" cy="1280160"/>
          </a:xfrm>
          <a:prstGeom prst="rect">
            <a:avLst/>
          </a:prstGeom>
          <a:solidFill>
            <a:srgbClr val="22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3246120"/>
            <a:ext cx="246888" cy="1828800"/>
          </a:xfrm>
          <a:prstGeom prst="rect">
            <a:avLst/>
          </a:prstGeom>
          <a:solidFill>
            <a:srgbClr val="22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68712" y="3520439"/>
            <a:ext cx="246888" cy="1554480"/>
          </a:xfrm>
          <a:prstGeom prst="rect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07624" y="2926079"/>
            <a:ext cx="246888" cy="2148840"/>
          </a:xfrm>
          <a:prstGeom prst="rect">
            <a:avLst/>
          </a:prstGeom>
          <a:solidFill>
            <a:srgbClr val="22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One Tableau workbook brings four operational views into a single navigable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3474720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31089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01  HOSPITAL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68296"/>
            <a:ext cx="3108960" cy="1252727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Summary KPIs, discharge status, age distribution, disease counts and monthly operational trends.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828800"/>
            <a:ext cx="347472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984248"/>
            <a:ext cx="31089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02  PATIENT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68296"/>
            <a:ext cx="3108960" cy="1252727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Patient count, average wait time and age, ward distribution, race, length of stay and discharge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474720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84248"/>
            <a:ext cx="31089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03  DEPARTMENT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68296"/>
            <a:ext cx="3108960" cy="1252727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Readmission by department, average satisfaction, referral counts and monthly length of stay.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4069080"/>
            <a:ext cx="3474720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4224528"/>
            <a:ext cx="31089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04  RESOURCE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608576"/>
            <a:ext cx="3108960" cy="79552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Yearly patient counts, bed occupancy and department-level resource measures.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069080"/>
            <a:ext cx="347472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224528"/>
            <a:ext cx="31089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INTERACTION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608576"/>
            <a:ext cx="3108960" cy="79552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Navigation buttons and filters connect the four views.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Triangle 27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A consolidated visual interface supports easier exploration of hospital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32180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9560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68296"/>
            <a:ext cx="4956048" cy="276148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Hospital operational measures are spread across multiple charts and analytical views. Reviewing patient flow, department patterns, discharge outcomes and resource measures separately can make comparisons less convenient.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28800"/>
            <a:ext cx="532180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84248"/>
            <a:ext cx="49560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68296"/>
            <a:ext cx="4956048" cy="276148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• Consolidate four dashboard views in one workbook</a:t>
            </a:r>
          </a:p>
          <a:p>
            <a:pPr>
              <a:spcAft>
                <a:spcPts val="400"/>
              </a:spcAft>
              <a:defRPr sz="13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• Make navigation between views straightforward</a:t>
            </a:r>
          </a:p>
          <a:p>
            <a:pPr>
              <a:spcAft>
                <a:spcPts val="400"/>
              </a:spcAft>
              <a:defRPr sz="13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• Enable filter-based exploration of selected categories</a:t>
            </a:r>
          </a:p>
          <a:p>
            <a:pPr>
              <a:spcAft>
                <a:spcPts val="400"/>
              </a:spcAft>
              <a:defRPr sz="13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• Support chart-level comparisons</a:t>
            </a:r>
          </a:p>
          <a:p>
            <a:pPr>
              <a:spcAft>
                <a:spcPts val="400"/>
              </a:spcAft>
              <a:defRPr sz="13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• Present trends and distributions clearly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5156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Scope: the supplied workbook screenshots show a Tableau analytics project, not live hospital-system integration.</a:t>
            </a:r>
          </a:p>
        </p:txBody>
      </p:sp>
      <p:sp>
        <p:nvSpPr>
          <p:cNvPr id="16" name="Right Triangle 15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Data and measures shown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Fields and KPIs visible in the supplied Tableau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5303520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37759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HOSPITAL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76856"/>
            <a:ext cx="4937759" cy="79552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Total admissions; occupancy rate; average length of stay; readmission rate; bed utilization rate; discharge status; age, disease and monthly trends.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37360"/>
            <a:ext cx="530352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892807"/>
            <a:ext cx="4937759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PATIENT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76856"/>
            <a:ext cx="4937759" cy="79552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Patient count; average wait time; average age; resource utilization; ward; race; average length of stay; discharge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29000"/>
            <a:ext cx="5303520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584448"/>
            <a:ext cx="4937759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DEPARTMENT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968496"/>
            <a:ext cx="4937759" cy="79552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Readmission by department; average satisfaction by department; department referral counts; monthly length of stay.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429000"/>
            <a:ext cx="5303520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584448"/>
            <a:ext cx="4937759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RESOURCE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968496"/>
            <a:ext cx="4937759" cy="79552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Year of admission date; yearly patient counts; bed occupancy; occupied-bed and available-bed measures; department tiles.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5156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Use measures as represented in Tableau. Confirm units and KPI definitions against the source data before making operational claims.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Triangle 24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From source fields to interactive Tableau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331720"/>
            <a:ext cx="1645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761488"/>
            <a:ext cx="16916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Data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227832"/>
            <a:ext cx="16824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Hospital, patient,</a:t>
            </a:r>
          </a:p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department and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898648"/>
            <a:ext cx="2560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331720"/>
            <a:ext cx="1645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761488"/>
            <a:ext cx="16916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227832"/>
            <a:ext cx="16824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Check field types, dates,</a:t>
            </a:r>
          </a:p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categories and missing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898648"/>
            <a:ext cx="2560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331720"/>
            <a:ext cx="1645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761488"/>
            <a:ext cx="16916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3227832"/>
            <a:ext cx="16824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Build KPI views, counts,</a:t>
            </a:r>
          </a:p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comparisons and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898648"/>
            <a:ext cx="2560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331720"/>
            <a:ext cx="1645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761488"/>
            <a:ext cx="16916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3227832"/>
            <a:ext cx="16824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Arrange charts into</a:t>
            </a:r>
          </a:p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four dashboard layouts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7" y="2898648"/>
            <a:ext cx="256032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9255" y="2331720"/>
            <a:ext cx="16459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5" y="2761488"/>
            <a:ext cx="16916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Interact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9255" y="3227832"/>
            <a:ext cx="16824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Add navigation, filters</a:t>
            </a:r>
          </a:p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and chart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4663440"/>
            <a:ext cx="10058400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818888"/>
            <a:ext cx="96926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PRIMARY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202936"/>
            <a:ext cx="9692640" cy="246887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Tableau Desktop — used to build and connect the four dashboard views.</a:t>
            </a:r>
          </a:p>
        </p:txBody>
      </p:sp>
      <p:sp>
        <p:nvSpPr>
          <p:cNvPr id="35" name="Right Triangle 34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Triangle 35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Dashboard 1 · Hospital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Hospital-wide indicators, outcome distributions and operational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06</a:t>
            </a:r>
          </a:p>
        </p:txBody>
      </p:sp>
      <p:pic>
        <p:nvPicPr>
          <p:cNvPr id="8" name="Picture 7" descr="Screenshot 2026-10-12 172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2649"/>
            <a:ext cx="7223760" cy="4061381"/>
          </a:xfrm>
          <a:prstGeom prst="rect">
            <a:avLst/>
          </a:prstGeom>
          <a:ln>
            <a:solidFill/>
          </a:ln>
        </p:spPr>
      </p:pic>
      <p:sp>
        <p:nvSpPr>
          <p:cNvPr id="10" name="Rectangle 9"/>
          <p:cNvSpPr/>
          <p:nvPr/>
        </p:nvSpPr>
        <p:spPr>
          <a:xfrm>
            <a:off x="8183879" y="1737360"/>
            <a:ext cx="340156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7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276856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 screenshot shows total admissions 7,985; occupancy rate 81.83; average length of stay 15.59; readmission rate 0.4147; bed utilization rate 81.83; plus discharge, age, disease and monthly-trend charts.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136392"/>
            <a:ext cx="340156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291840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HOW 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675888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Use the Disease filter to explore disease-related views. Navigation buttons switch dashboards.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4535424"/>
            <a:ext cx="3401568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4690872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ANALYTICAL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5074920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Review KPI summaries, discharge categories, disease counts and trends over admission dates.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Triangle 21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Dashboard 2 · Patient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Patient counts, ward distribution, wait time and discharge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07</a:t>
            </a:r>
          </a:p>
        </p:txBody>
      </p:sp>
      <p:pic>
        <p:nvPicPr>
          <p:cNvPr id="8" name="Picture 7" descr="Screenshot 2026-10-12 172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2649"/>
            <a:ext cx="7223760" cy="4061381"/>
          </a:xfrm>
          <a:prstGeom prst="rect">
            <a:avLst/>
          </a:prstGeom>
          <a:ln>
            <a:solidFill/>
          </a:ln>
        </p:spPr>
      </p:pic>
      <p:sp>
        <p:nvSpPr>
          <p:cNvPr id="10" name="Rectangle 9"/>
          <p:cNvSpPr/>
          <p:nvPr/>
        </p:nvSpPr>
        <p:spPr>
          <a:xfrm>
            <a:off x="8183879" y="1737360"/>
            <a:ext cx="340156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7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276856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 screenshot shows patient count 7,985, average wait time 67.88, average age 47.19 and resource utilization 6,081, alongside ward, race, length-of-stay and discharge charts.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136392"/>
            <a:ext cx="340156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291840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HOW 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675888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Use the Hospital Ward filter to explore ward categories. Navigation buttons switch 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4535424"/>
            <a:ext cx="3401568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4690872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ANALYTICAL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5074920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Compare ward-level patient counts and displayed length-of-stay and discharge patterns.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Triangle 21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Dashboard 3 · Department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Department readmission, satisfaction, referral and monthly stay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08</a:t>
            </a:r>
          </a:p>
        </p:txBody>
      </p:sp>
      <p:pic>
        <p:nvPicPr>
          <p:cNvPr id="8" name="Picture 7" descr="Screenshot 2026-10-12 172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2649"/>
            <a:ext cx="7223760" cy="4061381"/>
          </a:xfrm>
          <a:prstGeom prst="rect">
            <a:avLst/>
          </a:prstGeom>
          <a:ln>
            <a:solidFill/>
          </a:ln>
        </p:spPr>
      </p:pic>
      <p:sp>
        <p:nvSpPr>
          <p:cNvPr id="10" name="Rectangle 9"/>
          <p:cNvSpPr/>
          <p:nvPr/>
        </p:nvSpPr>
        <p:spPr>
          <a:xfrm>
            <a:off x="8183879" y="1737360"/>
            <a:ext cx="340156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7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276856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 screenshot includes readmission by department, average satisfaction by department, department referral counts and monthly length of stay.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136392"/>
            <a:ext cx="340156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291840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HOW 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675888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Use the Department Referral filter to focus on selected categories. Navigation buttons switch 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4535424"/>
            <a:ext cx="3401568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4690872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ANALYTICAL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5074920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Compare department referral counts and readmission patterns; review satisfaction and monthly stay measures.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Triangle 21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Dashboard 4 · Resource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Yearly patient counts, bed occupancy and department-level resource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09</a:t>
            </a:r>
          </a:p>
        </p:txBody>
      </p:sp>
      <p:pic>
        <p:nvPicPr>
          <p:cNvPr id="8" name="Picture 7" descr="Screenshot 2026-10-12 1719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2649"/>
            <a:ext cx="7223760" cy="4061381"/>
          </a:xfrm>
          <a:prstGeom prst="rect">
            <a:avLst/>
          </a:prstGeom>
          <a:ln>
            <a:solidFill/>
          </a:ln>
        </p:spPr>
      </p:pic>
      <p:sp>
        <p:nvSpPr>
          <p:cNvPr id="10" name="Rectangle 9"/>
          <p:cNvSpPr/>
          <p:nvPr/>
        </p:nvSpPr>
        <p:spPr>
          <a:xfrm>
            <a:off x="8183879" y="1737360"/>
            <a:ext cx="340156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7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276856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 screenshot shows yearly patient counts from 2020–2024, bed-occupancy chart with occupied and available bed measures, and department-level tiles.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136392"/>
            <a:ext cx="340156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291840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HOW 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675888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Use the Year of Admission Date filter to focus on selected years. Navigation buttons switch dashboards.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4535424"/>
            <a:ext cx="3401568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4690872"/>
            <a:ext cx="303580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ANALYTICAL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5074920"/>
            <a:ext cx="3035808" cy="603504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Explore how displayed resource measures and patient counts vary across years and departments.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Triangle 21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Interactive navigation &amp;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Move between views and narrow the displayed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349300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NAVIGATION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68296"/>
            <a:ext cx="3127248" cy="93268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Four buttons link to Hospital Overview, Patient Flow, Department Analysis and Resource Utilization.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828800"/>
            <a:ext cx="349300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98424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DASHBOARD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68296"/>
            <a:ext cx="3127248" cy="93268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Visible filters include Disease, Hospital Ward, Department Referral and Year of Admission 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493008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8424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CHART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68296"/>
            <a:ext cx="3127248" cy="93268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Configured chart actions can filter related views when a mark is selected; verify behavior in Tableau.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16552"/>
            <a:ext cx="22402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2272B"/>
                </a:solidFill>
                <a:latin typeface="Aptos"/>
              </a:defRPr>
            </a:pPr>
            <a:r>
              <a:rPr>
                <a:solidFill/>
              </a:rPr>
              <a:t>Hospital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1" y="4416552"/>
            <a:ext cx="22402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Patient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4416552"/>
            <a:ext cx="22402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Department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4416552"/>
            <a:ext cx="22402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Resource Utilization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349240"/>
            <a:ext cx="100584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Screenshot evidence confirms visible filters and navigation; test each filter and action in the live workbook.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Triangle 29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Observations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881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Descriptive points visible in the supplied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HOSPITAL PERFORMANCE ANALYTICS  •  TABLEAU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FD2CC"/>
                </a:solidFill>
                <a:latin typeface="Aptos"/>
              </a:defRPr>
            </a:pPr>
            <a:r>
              <a:rPr>
                <a:solidFill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349300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PATIENT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22576"/>
            <a:ext cx="3127248" cy="106984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Displayed patient count: 7,985. Average wait time: 67.88; the unit is not visible in the screenshot.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783080"/>
            <a:ext cx="349300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93852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HOSPITAL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22576"/>
            <a:ext cx="3127248" cy="106984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Displayed average length of stay: 15.59. Confirm its unit and calculation definition in the source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3493008" cy="45720"/>
          </a:xfrm>
          <a:prstGeom prst="rect">
            <a:avLst/>
          </a:prstGeom>
          <a:solidFill>
            <a:srgbClr val="DFC68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3852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2BE5C"/>
                </a:solidFill>
                <a:latin typeface="Aptos"/>
              </a:defRPr>
            </a:pPr>
            <a:r>
              <a:rPr>
                <a:solidFill/>
              </a:rPr>
              <a:t>DEPARTMENT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22576"/>
            <a:ext cx="3127248" cy="106984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 visible referral-count table lists neurology at 2,796 and gastroenterology at 1,811.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886200"/>
            <a:ext cx="3493008" cy="45720"/>
          </a:xfrm>
          <a:prstGeom prst="rect">
            <a:avLst/>
          </a:prstGeom>
          <a:solidFill>
            <a:srgbClr val="97BEE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404164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5BBEB1"/>
                </a:solidFill>
                <a:latin typeface="Aptos"/>
              </a:defRPr>
            </a:pPr>
            <a:r>
              <a:rPr>
                <a:solidFill/>
              </a:rPr>
              <a:t>RESOURCE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25696"/>
            <a:ext cx="3127248" cy="84124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 bed-occupancy chart shows years 2020–2024; the screenshot alone does not explain why values change.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3886200"/>
            <a:ext cx="3493008" cy="45720"/>
          </a:xfrm>
          <a:prstGeom prst="rect">
            <a:avLst/>
          </a:prstGeom>
          <a:solidFill>
            <a:srgbClr val="F5A4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041648"/>
            <a:ext cx="3127248" cy="29260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8573"/>
                </a:solidFill>
                <a:latin typeface="Aptos"/>
              </a:defRPr>
            </a:pPr>
            <a:r>
              <a:rPr>
                <a:solidFill/>
              </a:rPr>
              <a:t>RESPONSIBLE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425696"/>
            <a:ext cx="3127248" cy="841248"/>
          </a:xfrm>
          <a:prstGeom prst="rect">
            <a:avLst/>
          </a:prstGeom>
          <a:noFill/>
          <a:ln>
            <a:solidFill/>
          </a:ln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AF7EF"/>
                </a:solidFill>
                <a:latin typeface="Aptos"/>
              </a:defRPr>
            </a:pPr>
            <a:r>
              <a:rPr>
                <a:solidFill/>
              </a:rPr>
              <a:t>These are dashboard observations, not proof of clinical quality or hospital-wide performance without validated definitions.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Triangle 27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622024" y="6291072"/>
            <a:ext cx="566928" cy="566928"/>
          </a:xfrm>
          <a:prstGeom prst="rtTriangle">
            <a:avLst/>
          </a:prstGeom>
          <a:solidFill>
            <a:srgbClr val="1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3327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102B5B"/>
                </a:solidFill>
                <a:latin typeface="Aptos"/>
              </a:defRPr>
            </a:pPr>
            <a:r>
              <a:rPr>
                <a:solidFill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0">
                <a:solidFill>
                  <a:srgbClr val="224E91"/>
                </a:solidFill>
                <a:latin typeface="Aptos"/>
              </a:defRPr>
            </a:pPr>
            <a:r>
              <a:rPr>
                <a:solidFill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77639"/>
            <a:ext cx="8503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0">
                <a:solidFill>
                  <a:srgbClr val="536274"/>
                </a:solidFill>
                <a:latin typeface="Aptos"/>
              </a:defRPr>
            </a:pPr>
            <a:r>
              <a:rPr>
                <a:solidFill/>
              </a:rPr>
              <a:t>Hospital Performance Analytics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754880"/>
            <a:ext cx="2514600" cy="54864"/>
          </a:xfrm>
          <a:prstGeom prst="rect">
            <a:avLst/>
          </a:prstGeom>
          <a:solidFill>
            <a:srgbClr val="22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