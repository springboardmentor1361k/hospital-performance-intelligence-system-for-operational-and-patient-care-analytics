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  <p:sldMasterId id="2147483652" r:id="rId2"/>
  </p:sldMasterIdLst>
  <p:notesMasterIdLst>
    <p:notesMasterId r:id="rId15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12192000"/>
  <p:embeddedFontLst>
    <p:embeddedFont>
      <p:font typeface="Public Sans" panose="020B0604020202020204" charset="0"/>
      <p:regular r:id="rId16"/>
    </p:embeddedFont>
    <p:embeddedFont>
      <p:font typeface="Public Sans Bold" panose="020B0604020202020204" charset="0"/>
      <p:regular r:id="rId17"/>
    </p:embeddedFont>
    <p:embeddedFont>
      <p:font typeface="Public Sans Medium" panose="020B0604020202020204" charset="0"/>
      <p:regular r:id="rId18"/>
    </p:embeddedFont>
    <p:embeddedFont>
      <p:font typeface="Sora ExtraBold" panose="020B0604020202020204" charset="0"/>
      <p:regular r:id="rId19"/>
    </p:embeddedFont>
    <p:embeddedFont>
      <p:font typeface="Sora SemiBold" panose="020B0604020202020204" charset="0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04" autoAdjust="0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16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font" Target="fonts/font3.fntdata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font" Target="fonts/font2.fntdata"/><Relationship Id="rId2" Type="http://schemas.openxmlformats.org/officeDocument/2006/relationships/slideMaster" Target="slideMasters/slideMaster2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font" Target="fonts/font4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31097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MedTrack_DV as an end-to-end intelligence system transforming raw hospital data into executive decision-making tools.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 the overarching mission: unifying clinical and administrative data streams into executive dashboards across four structured phases.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how Milestone 2 served as the vital bridge between data preparation and dashboard authoring via rigorous validation and prototyping.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the four core Tableau dashboards delivered in Milestone 3, detailing the specific operational lens each view provides.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visual identity choices: dark executive aesthetic paired with four global cross-filters and parameter-driven navigation.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Conclude with the validation results: the &gt;95% accuracy benchmark achieved, zero missing values, and the integration of one-click reset extensions.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CD5D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C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15000"/>
            </a:srgbClr>
          </a:solidFill>
          <a:ln/>
        </p:spPr>
      </p:sp>
      <p:pic>
        <p:nvPicPr>
          <p:cNvPr id="6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CD5D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C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77005" y="1016955"/>
            <a:ext cx="9140954" cy="33465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200" cap="all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62963" y="4869030"/>
            <a:ext cx="7152030" cy="9872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000" b="1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400" y="6492240"/>
            <a:ext cx="8582023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41" y="6477000"/>
            <a:ext cx="1885955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95E4919-E033-41C8-AEE2-17504250F7D3}" type="datetime1">
              <a:rPr lang="en-US" smtClean="0"/>
              <a:t>10/2/2026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8" y="6492240"/>
            <a:ext cx="657221" cy="36576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631FF2A-9DA0-DC5C-0C53-91FDE15093DD}"/>
              </a:ext>
            </a:extLst>
          </p:cNvPr>
          <p:cNvSpPr/>
          <p:nvPr/>
        </p:nvSpPr>
        <p:spPr>
          <a:xfrm>
            <a:off x="9110040" y="6155911"/>
            <a:ext cx="3081959" cy="6400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CA4208E-B529-0934-86E0-24278D43C68A}"/>
              </a:ext>
            </a:extLst>
          </p:cNvPr>
          <p:cNvSpPr/>
          <p:nvPr/>
        </p:nvSpPr>
        <p:spPr>
          <a:xfrm>
            <a:off x="3467745" y="6155911"/>
            <a:ext cx="5642289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275308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5"/>
            <a:ext cx="11125201" cy="746759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398" y="1748474"/>
            <a:ext cx="11125202" cy="472852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5526932-58BC-3B05-A619-8FE2BA7973DD}"/>
              </a:ext>
            </a:extLst>
          </p:cNvPr>
          <p:cNvSpPr/>
          <p:nvPr/>
        </p:nvSpPr>
        <p:spPr>
          <a:xfrm>
            <a:off x="634030" y="565606"/>
            <a:ext cx="11557968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4751EC6-9764-CDDF-E8BC-793AD483E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A395EC9-5212-9F09-E9FA-0AB62AFB6D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68458-1A7A-4A29-A16B-4424C6D3B5E6}" type="datetime1">
              <a:rPr lang="en-US" smtClean="0"/>
              <a:pPr/>
              <a:t>10/2/2026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86E48EB-E81D-8C6A-DBE6-738017E5A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2373538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3400" y="4572000"/>
            <a:ext cx="11125201" cy="111252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7200" cap="all" baseline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3400" y="5715000"/>
            <a:ext cx="11125201" cy="5334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2000" b="1" i="0" dirty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999" cy="3981764"/>
          </a:xfrm>
          <a:prstGeom prst="rect">
            <a:avLst/>
          </a:prstGeom>
          <a:blipFill dpi="0" rotWithShape="1">
            <a:blip r:embed="rId2">
              <a:alphaModFix amt="60000"/>
            </a:blip>
            <a:srcRect/>
            <a:stretch>
              <a:fillRect t="-419" b="-419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5B8C48-05E9-5280-3F6A-22F8BCBB47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33399" y="6477000"/>
            <a:ext cx="8576637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6C9C7-A264-237A-7F3C-46E6A7A9646D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110036" y="6476999"/>
            <a:ext cx="1880548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F2562D4-D383-4177-95F1-F65B47D1CEF7}" type="datetime1">
              <a:rPr lang="en-US" smtClean="0"/>
              <a:t>10/2/2026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BC820F-C031-6832-5CA0-B972903E0D5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995976" y="6477000"/>
            <a:ext cx="662624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24552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86071" y="1016955"/>
            <a:ext cx="3872530" cy="372681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000" cap="all" baseline="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86071" y="5134926"/>
            <a:ext cx="3868420" cy="111347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000" b="1" i="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7BE7EAD-CCCA-EA7C-0263-265AA3E43C5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7224095" cy="6858000"/>
          </a:xfrm>
          <a:custGeom>
            <a:avLst/>
            <a:gdLst>
              <a:gd name="connsiteX0" fmla="*/ 0 w 7224095"/>
              <a:gd name="connsiteY0" fmla="*/ 629614 h 6858000"/>
              <a:gd name="connsiteX1" fmla="*/ 7224095 w 7224095"/>
              <a:gd name="connsiteY1" fmla="*/ 629614 h 6858000"/>
              <a:gd name="connsiteX2" fmla="*/ 7224095 w 7224095"/>
              <a:gd name="connsiteY2" fmla="*/ 6858000 h 6858000"/>
              <a:gd name="connsiteX3" fmla="*/ 0 w 7224095"/>
              <a:gd name="connsiteY3" fmla="*/ 6858000 h 6858000"/>
              <a:gd name="connsiteX4" fmla="*/ 0 w 7224095"/>
              <a:gd name="connsiteY4" fmla="*/ 0 h 6858000"/>
              <a:gd name="connsiteX5" fmla="*/ 7224095 w 7224095"/>
              <a:gd name="connsiteY5" fmla="*/ 0 h 6858000"/>
              <a:gd name="connsiteX6" fmla="*/ 7224095 w 7224095"/>
              <a:gd name="connsiteY6" fmla="*/ 565606 h 6858000"/>
              <a:gd name="connsiteX7" fmla="*/ 0 w 7224095"/>
              <a:gd name="connsiteY7" fmla="*/ 56560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224095" h="6858000">
                <a:moveTo>
                  <a:pt x="0" y="629614"/>
                </a:moveTo>
                <a:lnTo>
                  <a:pt x="7224095" y="629614"/>
                </a:lnTo>
                <a:lnTo>
                  <a:pt x="7224095" y="6858000"/>
                </a:lnTo>
                <a:lnTo>
                  <a:pt x="0" y="6858000"/>
                </a:lnTo>
                <a:close/>
                <a:moveTo>
                  <a:pt x="0" y="0"/>
                </a:moveTo>
                <a:lnTo>
                  <a:pt x="7224095" y="0"/>
                </a:lnTo>
                <a:lnTo>
                  <a:pt x="7224095" y="565606"/>
                </a:lnTo>
                <a:lnTo>
                  <a:pt x="0" y="565606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167937" y="6476999"/>
            <a:ext cx="1895847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2" y="6476999"/>
            <a:ext cx="937594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99C7A302-1799-4123-960A-AC3BB0278DAE}" type="datetime1">
              <a:rPr lang="en-US" smtClean="0"/>
              <a:t>10/2/2026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8" y="6477000"/>
            <a:ext cx="657221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879DE85-4541-95AA-B871-7CBAD2BA1550}"/>
              </a:ext>
            </a:extLst>
          </p:cNvPr>
          <p:cNvSpPr/>
          <p:nvPr/>
        </p:nvSpPr>
        <p:spPr>
          <a:xfrm>
            <a:off x="0" y="565606"/>
            <a:ext cx="11557970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048503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33400" y="1143000"/>
            <a:ext cx="8576636" cy="527100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7200" cap="all" baseline="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400" y="6492240"/>
            <a:ext cx="8576636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41" y="6492240"/>
            <a:ext cx="1891337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34E88643-CA1F-4663-8C06-BD5ECF50899D}" type="datetime1">
              <a:rPr lang="en-US" smtClean="0"/>
              <a:t>10/2/2026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8" y="6492240"/>
            <a:ext cx="657222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5F1B314-6B95-45EC-8168-CEA297F1BD40}"/>
              </a:ext>
            </a:extLst>
          </p:cNvPr>
          <p:cNvSpPr/>
          <p:nvPr/>
        </p:nvSpPr>
        <p:spPr>
          <a:xfrm>
            <a:off x="634029" y="570037"/>
            <a:ext cx="8476007" cy="6154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4E8A7FA-CBEB-E74B-AC79-5D830DAFC993}"/>
              </a:ext>
            </a:extLst>
          </p:cNvPr>
          <p:cNvSpPr/>
          <p:nvPr/>
        </p:nvSpPr>
        <p:spPr>
          <a:xfrm>
            <a:off x="9110036" y="570037"/>
            <a:ext cx="3081964" cy="6154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6263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BAE97C67-C2EB-5515-0FDC-A535220C9DF0}"/>
              </a:ext>
            </a:extLst>
          </p:cNvPr>
          <p:cNvSpPr/>
          <p:nvPr/>
        </p:nvSpPr>
        <p:spPr>
          <a:xfrm>
            <a:off x="9110035" y="0"/>
            <a:ext cx="30819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399" y="1016955"/>
            <a:ext cx="8195646" cy="1127758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7200" cap="all" baseline="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3399" y="2510472"/>
            <a:ext cx="8190496" cy="3966527"/>
          </a:xfrm>
          <a:prstGeom prst="rect">
            <a:avLst/>
          </a:prstGeom>
        </p:spPr>
        <p:txBody>
          <a:bodyPr>
            <a:normAutofit/>
          </a:bodyPr>
          <a:lstStyle>
            <a:lvl1pPr marL="457200" indent="-4572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1pPr>
            <a:lvl2pPr marL="685800" indent="-4572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2pPr>
            <a:lvl3pPr marL="80010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3pPr>
            <a:lvl4pPr marL="102870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4pPr>
            <a:lvl5pPr marL="125730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5758481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91885" y="6492240"/>
            <a:ext cx="1763999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B73E6FC-8E19-48D4-B829-246931AD4AF3}" type="datetime1">
              <a:rPr lang="en-US" smtClean="0"/>
              <a:t>10/2/2026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61271" y="6492241"/>
            <a:ext cx="662624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58CA726-6257-4F3F-9296-A3CF5DCA19DB}"/>
              </a:ext>
            </a:extLst>
          </p:cNvPr>
          <p:cNvSpPr/>
          <p:nvPr/>
        </p:nvSpPr>
        <p:spPr>
          <a:xfrm>
            <a:off x="634029" y="2144714"/>
            <a:ext cx="8476007" cy="61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503870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C713386-53DE-AEBA-6318-6C7146DE227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43517" y="1386842"/>
            <a:ext cx="6315083" cy="1127758"/>
          </a:xfrm>
        </p:spPr>
        <p:txBody>
          <a:bodyPr>
            <a:normAutofit/>
          </a:bodyPr>
          <a:lstStyle>
            <a:lvl1pPr>
              <a:defRPr sz="7200" cap="all" baseline="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0440984A-B82C-18F1-2933-6DF295884CE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440055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43518" y="2886089"/>
            <a:ext cx="6315082" cy="3336911"/>
          </a:xfrm>
          <a:prstGeom prst="rect">
            <a:avLst/>
          </a:prstGeom>
        </p:spPr>
        <p:txBody>
          <a:bodyPr>
            <a:normAutofit/>
          </a:bodyPr>
          <a:lstStyle>
            <a:lvl1pPr marL="457200" indent="-4572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1pPr>
            <a:lvl2pPr marL="57150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2pPr>
            <a:lvl3pPr marL="80010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3pPr>
            <a:lvl4pPr marL="102870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4pPr>
            <a:lvl5pPr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43518" y="6477000"/>
            <a:ext cx="3771905" cy="381001"/>
          </a:xfrm>
          <a:prstGeom prst="rect">
            <a:avLst/>
          </a:prstGeo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20821" y="6477000"/>
            <a:ext cx="1875160" cy="381001"/>
          </a:xfrm>
          <a:prstGeom prst="rect">
            <a:avLst/>
          </a:prstGeom>
        </p:spPr>
        <p:txBody>
          <a:bodyPr/>
          <a:lstStyle/>
          <a:p>
            <a:fld id="{20AF2805-09FE-4E19-BD3D-273F9C4FB4DD}" type="datetime1">
              <a:rPr lang="en-US" smtClean="0"/>
              <a:t>10/2/2026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5986" y="6477000"/>
            <a:ext cx="662614" cy="381001"/>
          </a:xfrm>
          <a:prstGeom prst="rect">
            <a:avLst/>
          </a:prstGeo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8E5CA23-2176-4B29-AB27-EDD9AC417271}"/>
              </a:ext>
            </a:extLst>
          </p:cNvPr>
          <p:cNvSpPr/>
          <p:nvPr/>
        </p:nvSpPr>
        <p:spPr>
          <a:xfrm>
            <a:off x="4400554" y="2496190"/>
            <a:ext cx="7791446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1034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9" y="1016955"/>
            <a:ext cx="3491539" cy="4083580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62526" y="1016955"/>
            <a:ext cx="6696073" cy="408357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77000"/>
            <a:ext cx="8576637" cy="381001"/>
          </a:xfrm>
          <a:prstGeom prst="rect">
            <a:avLst/>
          </a:prstGeo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77000"/>
            <a:ext cx="1891338" cy="381001"/>
          </a:xfrm>
          <a:prstGeom prst="rect">
            <a:avLst/>
          </a:prstGeom>
        </p:spPr>
        <p:txBody>
          <a:bodyPr/>
          <a:lstStyle/>
          <a:p>
            <a:fld id="{1E532691-8605-4D75-9B37-0F29951CF35A}" type="datetime1">
              <a:rPr lang="en-US" smtClean="0"/>
              <a:t>10/2/2026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77000"/>
            <a:ext cx="657226" cy="381001"/>
          </a:xfrm>
          <a:prstGeom prst="rect">
            <a:avLst/>
          </a:prstGeo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AE531BB-71E1-57EF-0879-5979B0C95458}"/>
              </a:ext>
            </a:extLst>
          </p:cNvPr>
          <p:cNvSpPr/>
          <p:nvPr/>
        </p:nvSpPr>
        <p:spPr>
          <a:xfrm>
            <a:off x="4024938" y="570037"/>
            <a:ext cx="8167062" cy="595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31FD272-0797-A5C1-BAB9-E68F518B8158}"/>
              </a:ext>
            </a:extLst>
          </p:cNvPr>
          <p:cNvSpPr/>
          <p:nvPr/>
        </p:nvSpPr>
        <p:spPr>
          <a:xfrm>
            <a:off x="634030" y="570037"/>
            <a:ext cx="3390908" cy="5957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4237590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5"/>
            <a:ext cx="3486153" cy="2721451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cap="all" baseline="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62526" y="1016955"/>
            <a:ext cx="6696074" cy="549052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77000"/>
            <a:ext cx="8576637" cy="381001"/>
          </a:xfrm>
          <a:prstGeom prst="rect">
            <a:avLst/>
          </a:prstGeo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77000"/>
            <a:ext cx="1891338" cy="381001"/>
          </a:xfrm>
          <a:prstGeom prst="rect">
            <a:avLst/>
          </a:prstGeom>
        </p:spPr>
        <p:txBody>
          <a:bodyPr/>
          <a:lstStyle/>
          <a:p>
            <a:fld id="{AF504E6F-5E20-457A-A4D7-010D88E2AB6A}" type="datetime1">
              <a:rPr lang="en-US" smtClean="0"/>
              <a:t>10/2/2026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77000"/>
            <a:ext cx="657226" cy="381001"/>
          </a:xfrm>
          <a:prstGeom prst="rect">
            <a:avLst/>
          </a:prstGeo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B922775-D819-CE59-81DF-9A22F9309472}"/>
              </a:ext>
            </a:extLst>
          </p:cNvPr>
          <p:cNvSpPr/>
          <p:nvPr/>
        </p:nvSpPr>
        <p:spPr>
          <a:xfrm>
            <a:off x="4017310" y="565607"/>
            <a:ext cx="8174690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1D59CA-78A2-7B8F-A9C7-E86B47BEAE5E}"/>
              </a:ext>
            </a:extLst>
          </p:cNvPr>
          <p:cNvSpPr/>
          <p:nvPr/>
        </p:nvSpPr>
        <p:spPr>
          <a:xfrm>
            <a:off x="634030" y="570037"/>
            <a:ext cx="3390908" cy="5957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504393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2523" y="1016956"/>
            <a:ext cx="6696076" cy="731520"/>
          </a:xfrm>
          <a:prstGeom prst="rect">
            <a:avLst/>
          </a:prstGeom>
        </p:spPr>
        <p:txBody>
          <a:bodyPr anchor="t"/>
          <a:lstStyle>
            <a:lvl1pPr>
              <a:defRPr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99EF452C-FB1E-E93B-DCC5-1D98DE01795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400554" cy="6858000"/>
          </a:xfrm>
          <a:custGeom>
            <a:avLst/>
            <a:gdLst>
              <a:gd name="connsiteX0" fmla="*/ 0 w 4400554"/>
              <a:gd name="connsiteY0" fmla="*/ 634999 h 6858000"/>
              <a:gd name="connsiteX1" fmla="*/ 4400554 w 4400554"/>
              <a:gd name="connsiteY1" fmla="*/ 634999 h 6858000"/>
              <a:gd name="connsiteX2" fmla="*/ 4400554 w 4400554"/>
              <a:gd name="connsiteY2" fmla="*/ 6858000 h 6858000"/>
              <a:gd name="connsiteX3" fmla="*/ 0 w 4400554"/>
              <a:gd name="connsiteY3" fmla="*/ 6858000 h 6858000"/>
              <a:gd name="connsiteX4" fmla="*/ 0 w 4400554"/>
              <a:gd name="connsiteY4" fmla="*/ 0 h 6858000"/>
              <a:gd name="connsiteX5" fmla="*/ 4400554 w 4400554"/>
              <a:gd name="connsiteY5" fmla="*/ 0 h 6858000"/>
              <a:gd name="connsiteX6" fmla="*/ 4400554 w 4400554"/>
              <a:gd name="connsiteY6" fmla="*/ 570991 h 6858000"/>
              <a:gd name="connsiteX7" fmla="*/ 0 w 4400554"/>
              <a:gd name="connsiteY7" fmla="*/ 57099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400554" h="6858000">
                <a:moveTo>
                  <a:pt x="0" y="634999"/>
                </a:moveTo>
                <a:lnTo>
                  <a:pt x="4400554" y="634999"/>
                </a:lnTo>
                <a:lnTo>
                  <a:pt x="4400554" y="6858000"/>
                </a:lnTo>
                <a:lnTo>
                  <a:pt x="0" y="6858000"/>
                </a:lnTo>
                <a:close/>
                <a:moveTo>
                  <a:pt x="0" y="0"/>
                </a:moveTo>
                <a:lnTo>
                  <a:pt x="4400554" y="0"/>
                </a:lnTo>
                <a:lnTo>
                  <a:pt x="4400554" y="570991"/>
                </a:lnTo>
                <a:lnTo>
                  <a:pt x="0" y="570991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62523" y="2145668"/>
            <a:ext cx="6689892" cy="411839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964103" y="6477000"/>
            <a:ext cx="4707905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72013" y="6477000"/>
            <a:ext cx="1329365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533F4C8-FF6A-458A-9544-1F0DF90A3B6B}" type="datetime1">
              <a:rPr lang="en-US" smtClean="0"/>
              <a:t>10/2/2026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01379" y="6477000"/>
            <a:ext cx="657221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EC16BEA9-7D3A-E34B-4442-F0BFB853F3F8}"/>
              </a:ext>
            </a:extLst>
          </p:cNvPr>
          <p:cNvSpPr/>
          <p:nvPr/>
        </p:nvSpPr>
        <p:spPr>
          <a:xfrm>
            <a:off x="4408228" y="570993"/>
            <a:ext cx="7142064" cy="64006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462211-E1BA-E90A-00F8-E717C7293E42}"/>
              </a:ext>
            </a:extLst>
          </p:cNvPr>
          <p:cNvSpPr/>
          <p:nvPr/>
        </p:nvSpPr>
        <p:spPr>
          <a:xfrm>
            <a:off x="-2282" y="570991"/>
            <a:ext cx="4410510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21598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2163" y="1016955"/>
            <a:ext cx="7026437" cy="731520"/>
          </a:xfrm>
          <a:prstGeom prst="rect">
            <a:avLst/>
          </a:prstGeom>
        </p:spPr>
        <p:txBody>
          <a:bodyPr anchor="t"/>
          <a:lstStyle>
            <a:lvl1pPr>
              <a:defRPr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87476243-EB8F-9EFF-F789-0088ABBB0FB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3998133" cy="6858000"/>
          </a:xfrm>
          <a:custGeom>
            <a:avLst/>
            <a:gdLst>
              <a:gd name="connsiteX0" fmla="*/ 0 w 3998133"/>
              <a:gd name="connsiteY0" fmla="*/ 634999 h 6858000"/>
              <a:gd name="connsiteX1" fmla="*/ 3998133 w 3998133"/>
              <a:gd name="connsiteY1" fmla="*/ 634999 h 6858000"/>
              <a:gd name="connsiteX2" fmla="*/ 3998133 w 3998133"/>
              <a:gd name="connsiteY2" fmla="*/ 6858000 h 6858000"/>
              <a:gd name="connsiteX3" fmla="*/ 0 w 3998133"/>
              <a:gd name="connsiteY3" fmla="*/ 6858000 h 6858000"/>
              <a:gd name="connsiteX4" fmla="*/ 0 w 3998133"/>
              <a:gd name="connsiteY4" fmla="*/ 0 h 6858000"/>
              <a:gd name="connsiteX5" fmla="*/ 3998133 w 3998133"/>
              <a:gd name="connsiteY5" fmla="*/ 0 h 6858000"/>
              <a:gd name="connsiteX6" fmla="*/ 3998133 w 3998133"/>
              <a:gd name="connsiteY6" fmla="*/ 570991 h 6858000"/>
              <a:gd name="connsiteX7" fmla="*/ 0 w 3998133"/>
              <a:gd name="connsiteY7" fmla="*/ 57099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98133" h="6858000">
                <a:moveTo>
                  <a:pt x="0" y="634999"/>
                </a:moveTo>
                <a:lnTo>
                  <a:pt x="3998133" y="634999"/>
                </a:lnTo>
                <a:lnTo>
                  <a:pt x="3998133" y="6858000"/>
                </a:lnTo>
                <a:lnTo>
                  <a:pt x="0" y="6858000"/>
                </a:lnTo>
                <a:close/>
                <a:moveTo>
                  <a:pt x="0" y="0"/>
                </a:moveTo>
                <a:lnTo>
                  <a:pt x="3998133" y="0"/>
                </a:lnTo>
                <a:lnTo>
                  <a:pt x="3998133" y="570991"/>
                </a:lnTo>
                <a:lnTo>
                  <a:pt x="0" y="570991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32168" y="2145668"/>
            <a:ext cx="7026432" cy="407733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632167" y="6477000"/>
            <a:ext cx="5426231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058404" y="6477000"/>
            <a:ext cx="942970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A1E8540-4D23-42CD-8A63-F2EAD91093A7}" type="datetime1">
              <a:rPr lang="en-US" smtClean="0"/>
              <a:t>10/2/2026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01374" y="6477000"/>
            <a:ext cx="657226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ECF4FA5C-D406-8202-9143-DAEA62C5C872}"/>
              </a:ext>
            </a:extLst>
          </p:cNvPr>
          <p:cNvSpPr/>
          <p:nvPr/>
        </p:nvSpPr>
        <p:spPr>
          <a:xfrm>
            <a:off x="0" y="570992"/>
            <a:ext cx="4019552" cy="64008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082645EB-0315-BBF0-B28C-6A31158DE8D1}"/>
              </a:ext>
            </a:extLst>
          </p:cNvPr>
          <p:cNvSpPr/>
          <p:nvPr/>
        </p:nvSpPr>
        <p:spPr>
          <a:xfrm>
            <a:off x="3997235" y="570992"/>
            <a:ext cx="7560729" cy="64008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069025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1" y="1016955"/>
            <a:ext cx="6858000" cy="731519"/>
          </a:xfrm>
          <a:prstGeom prst="rect">
            <a:avLst/>
          </a:prstGeom>
        </p:spPr>
        <p:txBody>
          <a:bodyPr anchor="t"/>
          <a:lstStyle>
            <a:lvl1pPr>
              <a:defRPr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3401" y="2145668"/>
            <a:ext cx="6858000" cy="409352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33401" y="6464300"/>
            <a:ext cx="5366715" cy="39951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900115" y="6464300"/>
            <a:ext cx="929303" cy="39951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3B456EB-19FD-4A38-8010-F86DE924658C}" type="datetime1">
              <a:rPr lang="en-US" smtClean="0"/>
              <a:t>10/2/2026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829424" y="6464300"/>
            <a:ext cx="561977" cy="39951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070CE66A-15FE-D8FB-D711-D3BB0755F0D1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193866" y="1"/>
            <a:ext cx="3998133" cy="6858000"/>
          </a:xfrm>
          <a:custGeom>
            <a:avLst/>
            <a:gdLst>
              <a:gd name="connsiteX0" fmla="*/ 0 w 3998133"/>
              <a:gd name="connsiteY0" fmla="*/ 634999 h 6858000"/>
              <a:gd name="connsiteX1" fmla="*/ 3998133 w 3998133"/>
              <a:gd name="connsiteY1" fmla="*/ 634999 h 6858000"/>
              <a:gd name="connsiteX2" fmla="*/ 3998133 w 3998133"/>
              <a:gd name="connsiteY2" fmla="*/ 6858000 h 6858000"/>
              <a:gd name="connsiteX3" fmla="*/ 0 w 3998133"/>
              <a:gd name="connsiteY3" fmla="*/ 6858000 h 6858000"/>
              <a:gd name="connsiteX4" fmla="*/ 0 w 3998133"/>
              <a:gd name="connsiteY4" fmla="*/ 0 h 6858000"/>
              <a:gd name="connsiteX5" fmla="*/ 3998133 w 3998133"/>
              <a:gd name="connsiteY5" fmla="*/ 0 h 6858000"/>
              <a:gd name="connsiteX6" fmla="*/ 3998133 w 3998133"/>
              <a:gd name="connsiteY6" fmla="*/ 570991 h 6858000"/>
              <a:gd name="connsiteX7" fmla="*/ 0 w 3998133"/>
              <a:gd name="connsiteY7" fmla="*/ 57099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98133" h="6858000">
                <a:moveTo>
                  <a:pt x="0" y="634999"/>
                </a:moveTo>
                <a:lnTo>
                  <a:pt x="3998133" y="634999"/>
                </a:lnTo>
                <a:lnTo>
                  <a:pt x="3998133" y="6858000"/>
                </a:lnTo>
                <a:lnTo>
                  <a:pt x="0" y="6858000"/>
                </a:lnTo>
                <a:close/>
                <a:moveTo>
                  <a:pt x="0" y="0"/>
                </a:moveTo>
                <a:lnTo>
                  <a:pt x="3998133" y="0"/>
                </a:lnTo>
                <a:lnTo>
                  <a:pt x="3998133" y="570991"/>
                </a:lnTo>
                <a:lnTo>
                  <a:pt x="0" y="570991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E19B021D-A5A3-D515-C491-988160E0708C}"/>
              </a:ext>
            </a:extLst>
          </p:cNvPr>
          <p:cNvSpPr/>
          <p:nvPr/>
        </p:nvSpPr>
        <p:spPr>
          <a:xfrm>
            <a:off x="8172447" y="570992"/>
            <a:ext cx="4019552" cy="64008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F6879252-7B61-583A-CF4D-92BF27416ADC}"/>
              </a:ext>
            </a:extLst>
          </p:cNvPr>
          <p:cNvSpPr/>
          <p:nvPr/>
        </p:nvSpPr>
        <p:spPr>
          <a:xfrm>
            <a:off x="633137" y="570992"/>
            <a:ext cx="7560729" cy="64008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692549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1" y="1016955"/>
            <a:ext cx="4573438" cy="1328932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36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3401" y="2495232"/>
            <a:ext cx="4573438" cy="372776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400" y="6477000"/>
            <a:ext cx="2921550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54946" y="6477000"/>
            <a:ext cx="1100995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1ADCD4E-3EB5-4828-8896-DAF01418F813}" type="datetime1">
              <a:rPr lang="en-US" smtClean="0"/>
              <a:t>10/2/2026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53312" y="6477000"/>
            <a:ext cx="552253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58928" y="0"/>
            <a:ext cx="6533072" cy="6858000"/>
          </a:xfrm>
          <a:prstGeom prst="rect">
            <a:avLst/>
          </a:pr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103B3571-8BEB-7B5F-5141-60BE7E4F2B98}"/>
              </a:ext>
            </a:extLst>
          </p:cNvPr>
          <p:cNvSpPr/>
          <p:nvPr/>
        </p:nvSpPr>
        <p:spPr>
          <a:xfrm>
            <a:off x="631405" y="570990"/>
            <a:ext cx="5024894" cy="64008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09307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275" y="1016955"/>
            <a:ext cx="3445936" cy="1328932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7056A831-274A-4E01-51DC-29FC50834A4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33400" y="2495232"/>
            <a:ext cx="3445936" cy="372776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33400" y="6477000"/>
            <a:ext cx="2076777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610177" y="6477000"/>
            <a:ext cx="949766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48BB81F-FF8D-4CDB-8C81-6D8C7DBC8B8C}" type="datetime1">
              <a:rPr lang="en-US" smtClean="0"/>
              <a:t>10/2/2026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559943" y="6477000"/>
            <a:ext cx="429207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Picture Placeholder 10">
            <a:extLst>
              <a:ext uri="{FF2B5EF4-FFF2-40B4-BE49-F238E27FC236}">
                <a16:creationId xmlns:a16="http://schemas.microsoft.com/office/drawing/2014/main" id="{0BBEF0D8-DF37-CB82-D6FC-4B18E864B26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02979" y="0"/>
            <a:ext cx="7584144" cy="6858000"/>
          </a:xfrm>
          <a:prstGeom prst="rect">
            <a:avLst/>
          </a:pr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8DC2254B-5D42-9D5B-16C8-9FAF562F458A}"/>
              </a:ext>
            </a:extLst>
          </p:cNvPr>
          <p:cNvSpPr/>
          <p:nvPr/>
        </p:nvSpPr>
        <p:spPr>
          <a:xfrm>
            <a:off x="615697" y="570989"/>
            <a:ext cx="3987282" cy="64012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291146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88060" y="1016955"/>
            <a:ext cx="2770539" cy="1875475"/>
          </a:xfrm>
          <a:prstGeom prst="rect">
            <a:avLst/>
          </a:prstGeom>
        </p:spPr>
        <p:txBody>
          <a:bodyPr anchor="t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8326323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89055" y="3011335"/>
            <a:ext cx="2769544" cy="28449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  <a:lvl2pPr marL="228600" indent="0">
              <a:buNone/>
              <a:defRPr lang="en-US" dirty="0">
                <a:solidFill>
                  <a:schemeClr val="tx2"/>
                </a:solidFill>
              </a:defRPr>
            </a:lvl2pPr>
            <a:lvl3pPr marL="457200" indent="0">
              <a:buNone/>
              <a:defRPr lang="en-US" dirty="0">
                <a:solidFill>
                  <a:schemeClr val="tx2"/>
                </a:solidFill>
              </a:defRPr>
            </a:lvl3pPr>
            <a:lvl4pPr marL="685800" indent="0">
              <a:buNone/>
              <a:defRPr lang="en-US" dirty="0">
                <a:solidFill>
                  <a:schemeClr val="tx2"/>
                </a:solidFill>
              </a:defRPr>
            </a:lvl4pPr>
            <a:lvl5pPr marL="914400" indent="0">
              <a:buNone/>
              <a:defRPr lang="en-US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88061" y="6477000"/>
            <a:ext cx="1404460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92522" y="6477000"/>
            <a:ext cx="708857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CD491FD6-320B-4F77-8F99-6D2F5BCDF640}" type="datetime1">
              <a:rPr lang="en-US" smtClean="0"/>
              <a:t>10/2/2026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80" y="6477000"/>
            <a:ext cx="657220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3AEE3D4D-61F7-E7A0-0EB4-DE705A2CAF60}"/>
              </a:ext>
            </a:extLst>
          </p:cNvPr>
          <p:cNvSpPr/>
          <p:nvPr/>
        </p:nvSpPr>
        <p:spPr>
          <a:xfrm>
            <a:off x="8326322" y="570989"/>
            <a:ext cx="3332277" cy="64008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936578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3623948"/>
            <a:ext cx="3486152" cy="2599051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242949"/>
          </a:xfrm>
          <a:prstGeom prst="rect">
            <a:avLst/>
          </a:pr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05936" y="3623949"/>
            <a:ext cx="7252664" cy="25990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  <a:lvl2pPr marL="228600" indent="0">
              <a:buNone/>
              <a:defRPr lang="en-US" dirty="0">
                <a:solidFill>
                  <a:schemeClr val="tx2"/>
                </a:solidFill>
              </a:defRPr>
            </a:lvl2pPr>
            <a:lvl3pPr marL="457200" indent="0">
              <a:buNone/>
              <a:defRPr lang="en-US" dirty="0">
                <a:solidFill>
                  <a:schemeClr val="tx2"/>
                </a:solidFill>
              </a:defRPr>
            </a:lvl3pPr>
            <a:lvl4pPr marL="685800" indent="0">
              <a:buNone/>
              <a:defRPr lang="en-US" dirty="0">
                <a:solidFill>
                  <a:schemeClr val="tx2"/>
                </a:solidFill>
              </a:defRPr>
            </a:lvl4pPr>
            <a:lvl5pPr marL="914400" indent="0">
              <a:buNone/>
              <a:defRPr lang="en-US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77000"/>
            <a:ext cx="8576637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76999"/>
            <a:ext cx="1891338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708C1C0-E3FE-42AC-82A3-E6DC4F473B5F}" type="datetime1">
              <a:rPr lang="en-US" smtClean="0"/>
              <a:t>10/2/2026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77000"/>
            <a:ext cx="657226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9541699"/>
      </p:ext>
    </p:ext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1016955"/>
            <a:ext cx="11125199" cy="731519"/>
          </a:xfrm>
          <a:prstGeom prst="rect">
            <a:avLst/>
          </a:prstGeom>
        </p:spPr>
        <p:txBody>
          <a:bodyPr anchor="t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6" name="Picture Placeholder 11">
            <a:extLst>
              <a:ext uri="{FF2B5EF4-FFF2-40B4-BE49-F238E27FC236}">
                <a16:creationId xmlns:a16="http://schemas.microsoft.com/office/drawing/2014/main" id="{61ACD7CC-7A35-CC8D-F7DA-128B795065B1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0" y="2145668"/>
            <a:ext cx="6291878" cy="4728525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 marL="0" indent="0">
              <a:buNone/>
              <a:defRPr lang="en-US" dirty="0"/>
            </a:lvl1pPr>
          </a:lstStyle>
          <a:p>
            <a:pPr marL="228600" lvl="0" indent="-228600"/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843095" y="2145668"/>
            <a:ext cx="4815505" cy="419049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843095" y="6492240"/>
            <a:ext cx="3215297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058398" y="6492240"/>
            <a:ext cx="942982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3EEA351-3479-4085-8F9E-571D48233D05}" type="datetime1">
              <a:rPr lang="en-US" smtClean="0"/>
              <a:t>10/2/2026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01379" y="6492240"/>
            <a:ext cx="657221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4335081-FA52-F16F-A616-E20DA766DB57}"/>
              </a:ext>
            </a:extLst>
          </p:cNvPr>
          <p:cNvSpPr/>
          <p:nvPr/>
        </p:nvSpPr>
        <p:spPr>
          <a:xfrm>
            <a:off x="634030" y="565606"/>
            <a:ext cx="11557968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428228"/>
      </p:ext>
    </p:ext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9" y="1016955"/>
            <a:ext cx="3486153" cy="1316347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36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34030" y="2495233"/>
            <a:ext cx="3385517" cy="3727765"/>
          </a:xfrm>
          <a:prstGeom prst="rect">
            <a:avLst/>
          </a:pr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6142" y="1016954"/>
            <a:ext cx="7082457" cy="520604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77000"/>
            <a:ext cx="8576637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76999"/>
            <a:ext cx="1891338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7018939-3725-45C4-8448-060C1C945770}" type="datetime1">
              <a:rPr lang="en-US" smtClean="0"/>
              <a:t>10/2/2026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77000"/>
            <a:ext cx="657226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5CA24FE-7F15-0A35-2050-28F4CE33B91F}"/>
              </a:ext>
            </a:extLst>
          </p:cNvPr>
          <p:cNvSpPr/>
          <p:nvPr/>
        </p:nvSpPr>
        <p:spPr>
          <a:xfrm>
            <a:off x="634030" y="565606"/>
            <a:ext cx="338552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C9E0A62-7502-AFE4-4860-6DE00EB6D1D5}"/>
              </a:ext>
            </a:extLst>
          </p:cNvPr>
          <p:cNvSpPr/>
          <p:nvPr/>
        </p:nvSpPr>
        <p:spPr>
          <a:xfrm>
            <a:off x="4019547" y="565605"/>
            <a:ext cx="8172453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965076"/>
      </p:ext>
    </p:ext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4473C94E-2C8E-3F68-4792-D2F9DD866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2961" y="5109525"/>
            <a:ext cx="8195638" cy="744634"/>
          </a:xfrm>
        </p:spPr>
        <p:txBody>
          <a:bodyPr anchor="b">
            <a:normAutofit/>
          </a:bodyPr>
          <a:lstStyle>
            <a:lvl1pPr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6E6EBA2-EEB8-DB5B-897E-6DAE1530B3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33400" y="533400"/>
            <a:ext cx="11125200" cy="4576763"/>
          </a:xfrm>
        </p:spPr>
        <p:txBody>
          <a:bodyPr>
            <a:normAutofit/>
          </a:bodyPr>
          <a:lstStyle>
            <a:lvl1pPr marL="0" indent="0">
              <a:buNone/>
              <a:defRPr sz="30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77000"/>
            <a:ext cx="8576637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77000"/>
            <a:ext cx="1880546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A68E59-4168-43B1-871D-9D793958CB73}" type="datetime1">
              <a:rPr lang="en-US" smtClean="0"/>
              <a:t>10/2/2026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5976" y="6492241"/>
            <a:ext cx="662624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CD9F1A0-57DB-F034-0AB9-2E671ABA4CDD}"/>
              </a:ext>
            </a:extLst>
          </p:cNvPr>
          <p:cNvSpPr/>
          <p:nvPr/>
        </p:nvSpPr>
        <p:spPr>
          <a:xfrm>
            <a:off x="9110040" y="6155911"/>
            <a:ext cx="3081959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6B7340E-9893-2D44-91EA-76771EE522E6}"/>
              </a:ext>
            </a:extLst>
          </p:cNvPr>
          <p:cNvSpPr/>
          <p:nvPr/>
        </p:nvSpPr>
        <p:spPr>
          <a:xfrm>
            <a:off x="3467745" y="6155911"/>
            <a:ext cx="5642289" cy="6400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986048"/>
      </p:ext>
    </p:ext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33399" y="1016955"/>
            <a:ext cx="11125201" cy="484028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7200" b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228600" indent="0">
              <a:lnSpc>
                <a:spcPct val="90000"/>
              </a:lnSpc>
              <a:spcBef>
                <a:spcPts val="0"/>
              </a:spcBef>
              <a:buNone/>
              <a:defRPr sz="7200" b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457200" indent="0">
              <a:lnSpc>
                <a:spcPct val="90000"/>
              </a:lnSpc>
              <a:spcBef>
                <a:spcPts val="0"/>
              </a:spcBef>
              <a:buNone/>
              <a:defRPr sz="7200" b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685800" indent="0">
              <a:lnSpc>
                <a:spcPct val="90000"/>
              </a:lnSpc>
              <a:spcBef>
                <a:spcPts val="0"/>
              </a:spcBef>
              <a:buNone/>
              <a:defRPr sz="7200" b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914400" indent="0">
              <a:lnSpc>
                <a:spcPct val="90000"/>
              </a:lnSpc>
              <a:spcBef>
                <a:spcPts val="0"/>
              </a:spcBef>
              <a:buNone/>
              <a:defRPr sz="7200" b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0"/>
            <a:ext cx="8576637" cy="36576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39"/>
            <a:ext cx="1891338" cy="36576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3C8A96B5-6C84-4F87-863B-82F8A700BDB6}" type="datetime1">
              <a:rPr lang="en-US" smtClean="0"/>
              <a:t>10/2/2026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5976" y="6492240"/>
            <a:ext cx="662624" cy="36576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810F272-8DCB-3D9F-8EA6-FBDD6B7DFDA3}"/>
              </a:ext>
            </a:extLst>
          </p:cNvPr>
          <p:cNvSpPr/>
          <p:nvPr/>
        </p:nvSpPr>
        <p:spPr>
          <a:xfrm>
            <a:off x="9110040" y="6155911"/>
            <a:ext cx="3081959" cy="640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38ED97-EB88-D071-C45A-D0C32569D40D}"/>
              </a:ext>
            </a:extLst>
          </p:cNvPr>
          <p:cNvSpPr/>
          <p:nvPr/>
        </p:nvSpPr>
        <p:spPr>
          <a:xfrm>
            <a:off x="3467745" y="6155911"/>
            <a:ext cx="5642289" cy="6400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1386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7745" y="5216204"/>
            <a:ext cx="8190855" cy="64008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lnSpc>
                <a:spcPct val="120000"/>
              </a:lnSpc>
              <a:defRPr sz="2000" spc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33398" y="1016954"/>
            <a:ext cx="11125201" cy="3711571"/>
          </a:xfrm>
          <a:prstGeom prst="rect">
            <a:avLst/>
          </a:prstGeom>
        </p:spPr>
        <p:txBody>
          <a:bodyPr anchor="t">
            <a:normAutofit/>
          </a:bodyPr>
          <a:lstStyle>
            <a:lvl1pPr marL="164592" indent="-164592">
              <a:lnSpc>
                <a:spcPct val="90000"/>
              </a:lnSpc>
              <a:spcBef>
                <a:spcPts val="0"/>
              </a:spcBef>
              <a:buNone/>
              <a:defRPr sz="7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78961" cy="365760"/>
          </a:xfrm>
          <a:prstGeom prst="rect">
            <a:avLst/>
          </a:prstGeom>
        </p:spPr>
        <p:txBody>
          <a:bodyPr/>
          <a:lstStyle/>
          <a:p>
            <a:fld id="{0380565A-AEC2-4981-9BC9-2BD45633EEB3}" type="datetime1">
              <a:rPr lang="en-US" smtClean="0"/>
              <a:t>10/2/2026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68" y="6492241"/>
            <a:ext cx="657231" cy="365760"/>
          </a:xfrm>
          <a:prstGeom prst="rect">
            <a:avLst/>
          </a:prstGeo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22AFB11-60F0-1BFB-3EE2-25A317606ED4}"/>
              </a:ext>
            </a:extLst>
          </p:cNvPr>
          <p:cNvSpPr/>
          <p:nvPr/>
        </p:nvSpPr>
        <p:spPr>
          <a:xfrm>
            <a:off x="9110040" y="6155911"/>
            <a:ext cx="3081959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DB6C2DA-9756-1101-616C-92AE71300FD8}"/>
              </a:ext>
            </a:extLst>
          </p:cNvPr>
          <p:cNvSpPr/>
          <p:nvPr/>
        </p:nvSpPr>
        <p:spPr>
          <a:xfrm>
            <a:off x="3467745" y="6155911"/>
            <a:ext cx="5642289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454107"/>
      </p:ext>
    </p:ext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6"/>
            <a:ext cx="11125201" cy="731520"/>
          </a:xfrm>
          <a:prstGeom prst="rect">
            <a:avLst/>
          </a:prstGeom>
        </p:spPr>
        <p:txBody>
          <a:bodyPr anchor="t"/>
          <a:lstStyle>
            <a:lvl1pPr>
              <a:defRPr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7" name="Content Placeholder 5">
            <a:extLst>
              <a:ext uri="{FF2B5EF4-FFF2-40B4-BE49-F238E27FC236}">
                <a16:creationId xmlns:a16="http://schemas.microsoft.com/office/drawing/2014/main" id="{2D30AC1E-99F3-1176-72D1-F6FF258E307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33399" y="1883248"/>
            <a:ext cx="5075238" cy="433975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8" name="Content Placeholder 11">
            <a:extLst>
              <a:ext uri="{FF2B5EF4-FFF2-40B4-BE49-F238E27FC236}">
                <a16:creationId xmlns:a16="http://schemas.microsoft.com/office/drawing/2014/main" id="{54CE6F64-34A4-5E4B-21B9-E65B60D60DF7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83043" y="1883248"/>
            <a:ext cx="5075556" cy="433975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91338" cy="365760"/>
          </a:xfrm>
          <a:prstGeom prst="rect">
            <a:avLst/>
          </a:prstGeom>
        </p:spPr>
        <p:txBody>
          <a:bodyPr/>
          <a:lstStyle/>
          <a:p>
            <a:fld id="{D0114CA0-7CEA-48F6-8B27-4A03BEF1B362}" type="datetime1">
              <a:rPr lang="en-US" smtClean="0"/>
              <a:t>10/2/2026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5976" y="6492239"/>
            <a:ext cx="662624" cy="365761"/>
          </a:xfrm>
          <a:prstGeom prst="rect">
            <a:avLst/>
          </a:prstGeo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0DF6D21-8591-4FB9-5FF0-44B10800DC79}"/>
              </a:ext>
            </a:extLst>
          </p:cNvPr>
          <p:cNvSpPr/>
          <p:nvPr/>
        </p:nvSpPr>
        <p:spPr>
          <a:xfrm>
            <a:off x="634029" y="570037"/>
            <a:ext cx="8476007" cy="6154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A7345B5-8AF1-C46D-5FB8-FF298EC5943D}"/>
              </a:ext>
            </a:extLst>
          </p:cNvPr>
          <p:cNvSpPr/>
          <p:nvPr/>
        </p:nvSpPr>
        <p:spPr>
          <a:xfrm>
            <a:off x="9110036" y="570037"/>
            <a:ext cx="3081964" cy="61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628231"/>
      </p:ext>
    </p:ext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5"/>
            <a:ext cx="11125201" cy="731520"/>
          </a:xfrm>
          <a:prstGeom prst="rect">
            <a:avLst/>
          </a:prstGeom>
        </p:spPr>
        <p:txBody>
          <a:bodyPr anchor="t"/>
          <a:lstStyle>
            <a:lvl1pPr>
              <a:defRPr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3399" y="1883248"/>
            <a:ext cx="5074920" cy="37561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33399" y="2444434"/>
            <a:ext cx="5075238" cy="377856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83679" y="1883247"/>
            <a:ext cx="5074920" cy="37561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83043" y="2444434"/>
            <a:ext cx="5075556" cy="377856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91338" cy="365760"/>
          </a:xfrm>
          <a:prstGeom prst="rect">
            <a:avLst/>
          </a:prstGeom>
        </p:spPr>
        <p:txBody>
          <a:bodyPr/>
          <a:lstStyle/>
          <a:p>
            <a:fld id="{1EDD8A06-915F-45A0-B576-0929C47FD8AE}" type="datetime1">
              <a:rPr lang="en-US" smtClean="0"/>
              <a:t>10/2/2026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92241"/>
            <a:ext cx="657226" cy="365760"/>
          </a:xfrm>
          <a:prstGeom prst="rect">
            <a:avLst/>
          </a:prstGeo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B0A7ECD-2835-13DC-1392-DC6E9D6B14EE}"/>
              </a:ext>
            </a:extLst>
          </p:cNvPr>
          <p:cNvSpPr/>
          <p:nvPr/>
        </p:nvSpPr>
        <p:spPr>
          <a:xfrm>
            <a:off x="634029" y="570037"/>
            <a:ext cx="8476007" cy="6154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3FF6D6A-BF5E-8499-2E05-993B26BA4977}"/>
              </a:ext>
            </a:extLst>
          </p:cNvPr>
          <p:cNvSpPr/>
          <p:nvPr/>
        </p:nvSpPr>
        <p:spPr>
          <a:xfrm>
            <a:off x="9110036" y="570037"/>
            <a:ext cx="3081964" cy="61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389252"/>
      </p:ext>
    </p:ext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5"/>
            <a:ext cx="11125201" cy="1112519"/>
          </a:xfrm>
          <a:prstGeom prst="rect">
            <a:avLst/>
          </a:prstGeom>
        </p:spPr>
        <p:txBody>
          <a:bodyPr anchor="t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9133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4D05E5D-68FD-447C-A2DD-5EC26B56527F}" type="datetime1">
              <a:rPr lang="en-US" smtClean="0"/>
              <a:t>10/2/2026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5976" y="6492241"/>
            <a:ext cx="662624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0F7BCB4-DC28-7382-4A0F-0498411C4247}"/>
              </a:ext>
            </a:extLst>
          </p:cNvPr>
          <p:cNvSpPr/>
          <p:nvPr/>
        </p:nvSpPr>
        <p:spPr>
          <a:xfrm>
            <a:off x="634029" y="570037"/>
            <a:ext cx="8476007" cy="6154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5560D8-36FC-D0D1-04BB-54F2CCBC8B5E}"/>
              </a:ext>
            </a:extLst>
          </p:cNvPr>
          <p:cNvSpPr/>
          <p:nvPr/>
        </p:nvSpPr>
        <p:spPr>
          <a:xfrm>
            <a:off x="9110036" y="570037"/>
            <a:ext cx="3081964" cy="6154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849733"/>
      </p:ext>
    </p:extLst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91338" cy="365760"/>
          </a:xfrm>
          <a:prstGeom prst="rect">
            <a:avLst/>
          </a:prstGeom>
        </p:spPr>
        <p:txBody>
          <a:bodyPr/>
          <a:lstStyle/>
          <a:p>
            <a:fld id="{E5D97B4D-FF2F-4402-9FD4-AE767FCF1FF3}" type="datetime1">
              <a:rPr lang="en-US" smtClean="0"/>
              <a:t>10/2/2026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92241"/>
            <a:ext cx="657226" cy="365760"/>
          </a:xfrm>
          <a:prstGeom prst="rect">
            <a:avLst/>
          </a:prstGeo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816471"/>
      </p:ext>
    </p:extLst>
  </p:cSld>
  <p:clrMapOvr>
    <a:masterClrMapping/>
  </p:clrMapOvr>
  <p:hf sldNum="0"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5"/>
            <a:ext cx="11125201" cy="1860235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3398" y="3258190"/>
            <a:ext cx="11125201" cy="29648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  <a:lvl2pPr marL="228600" indent="0">
              <a:buNone/>
              <a:defRPr>
                <a:solidFill>
                  <a:schemeClr val="tx2"/>
                </a:solidFill>
              </a:defRPr>
            </a:lvl2pPr>
            <a:lvl3pPr marL="457200" indent="0">
              <a:buNone/>
              <a:defRPr>
                <a:solidFill>
                  <a:schemeClr val="tx2"/>
                </a:solidFill>
              </a:defRPr>
            </a:lvl3pPr>
            <a:lvl4pPr marL="685800" indent="0">
              <a:buNone/>
              <a:defRPr>
                <a:solidFill>
                  <a:schemeClr val="tx2"/>
                </a:solidFill>
              </a:defRPr>
            </a:lvl4pPr>
            <a:lvl5pPr marL="914400" indent="0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504949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C57766D-ED87-4A0C-9B23-F4979C5AA24E}" type="datetime1">
              <a:rPr lang="en-US" smtClean="0"/>
              <a:t>10/2/2026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14990" y="6492241"/>
            <a:ext cx="1043610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0612DD4-C154-5A34-CBE2-09022345DFF5}"/>
              </a:ext>
            </a:extLst>
          </p:cNvPr>
          <p:cNvSpPr/>
          <p:nvPr/>
        </p:nvSpPr>
        <p:spPr>
          <a:xfrm>
            <a:off x="634029" y="570037"/>
            <a:ext cx="8476007" cy="6154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245B82D-4F13-20D2-DD25-C26E60C48A92}"/>
              </a:ext>
            </a:extLst>
          </p:cNvPr>
          <p:cNvSpPr/>
          <p:nvPr/>
        </p:nvSpPr>
        <p:spPr>
          <a:xfrm>
            <a:off x="9110036" y="570037"/>
            <a:ext cx="3081964" cy="6154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9342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1016955"/>
            <a:ext cx="8576636" cy="1842020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3400" y="4614992"/>
            <a:ext cx="8576506" cy="160800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228600" indent="0">
              <a:buNone/>
              <a:defRPr sz="200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457200" indent="0">
              <a:buNone/>
              <a:defRPr sz="200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685800" indent="0">
              <a:buNone/>
              <a:defRPr sz="200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914400" indent="0">
              <a:buNone/>
              <a:defRPr sz="200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400" y="6492241"/>
            <a:ext cx="8576636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9133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01450B2-75D0-4277-B6D7-7B5D301DCF72}" type="datetime1">
              <a:rPr lang="en-US" smtClean="0"/>
              <a:t>10/2/2026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92241"/>
            <a:ext cx="657226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C0E45243-34A7-09D9-589C-A28D8FB592BD}"/>
              </a:ext>
            </a:extLst>
          </p:cNvPr>
          <p:cNvSpPr/>
          <p:nvPr/>
        </p:nvSpPr>
        <p:spPr>
          <a:xfrm>
            <a:off x="634029" y="570037"/>
            <a:ext cx="8476007" cy="6154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377B2CF5-DB49-E6FB-F72A-24AA38988AEC}"/>
              </a:ext>
            </a:extLst>
          </p:cNvPr>
          <p:cNvSpPr/>
          <p:nvPr/>
        </p:nvSpPr>
        <p:spPr>
          <a:xfrm>
            <a:off x="9110036" y="570037"/>
            <a:ext cx="3081964" cy="6154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8835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76161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21.xml"/><Relationship Id="rId26" Type="http://schemas.openxmlformats.org/officeDocument/2006/relationships/slideLayout" Target="../slideLayouts/slideLayout29.xml"/><Relationship Id="rId3" Type="http://schemas.openxmlformats.org/officeDocument/2006/relationships/slideLayout" Target="../slideLayouts/slideLayout6.xml"/><Relationship Id="rId21" Type="http://schemas.openxmlformats.org/officeDocument/2006/relationships/slideLayout" Target="../slideLayouts/slideLayout24.xml"/><Relationship Id="rId7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20.xml"/><Relationship Id="rId25" Type="http://schemas.openxmlformats.org/officeDocument/2006/relationships/slideLayout" Target="../slideLayouts/slideLayout28.xml"/><Relationship Id="rId2" Type="http://schemas.openxmlformats.org/officeDocument/2006/relationships/slideLayout" Target="../slideLayouts/slideLayout5.xml"/><Relationship Id="rId16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3.xml"/><Relationship Id="rId29" Type="http://schemas.openxmlformats.org/officeDocument/2006/relationships/theme" Target="../theme/theme2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2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8.xml"/><Relationship Id="rId23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13.xml"/><Relationship Id="rId19" Type="http://schemas.openxmlformats.org/officeDocument/2006/relationships/slideLayout" Target="../slideLayouts/slideLayout22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7.xml"/><Relationship Id="rId22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5"/>
            <a:ext cx="11125201" cy="74675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3398" y="1748474"/>
            <a:ext cx="11125202" cy="47285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3399" y="6476998"/>
            <a:ext cx="8576637" cy="3810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110036" y="6476998"/>
            <a:ext cx="1885951" cy="3810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5F68458-1A7A-4A29-A16B-4424C6D3B5E6}" type="datetime1">
              <a:rPr lang="en-US" smtClean="0"/>
              <a:pPr/>
              <a:t>10/2/2026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01379" y="6476998"/>
            <a:ext cx="657221" cy="3810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89888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2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68" r:id="rId16"/>
    <p:sldLayoutId id="2147483669" r:id="rId17"/>
    <p:sldLayoutId id="2147483670" r:id="rId18"/>
    <p:sldLayoutId id="2147483671" r:id="rId19"/>
    <p:sldLayoutId id="2147483672" r:id="rId20"/>
    <p:sldLayoutId id="2147483673" r:id="rId21"/>
    <p:sldLayoutId id="2147483674" r:id="rId22"/>
    <p:sldLayoutId id="2147483675" r:id="rId23"/>
    <p:sldLayoutId id="2147483676" r:id="rId24"/>
    <p:sldLayoutId id="2147483677" r:id="rId25"/>
    <p:sldLayoutId id="2147483678" r:id="rId26"/>
    <p:sldLayoutId id="2147483679" r:id="rId27"/>
    <p:sldLayoutId id="2147483680" r:id="rId28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b="0" kern="1200" spc="0" baseline="0">
          <a:solidFill>
            <a:schemeClr val="tx2"/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1pPr>
      <a:lvl2pPr marL="457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2pPr>
      <a:lvl3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3pPr>
      <a:lvl4pPr marL="914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4pPr>
      <a:lvl5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0" orient="horz" pos="2160">
          <p15:clr>
            <a:srgbClr val="F26B43"/>
          </p15:clr>
        </p15:guide>
        <p15:guide id="31" pos="3840">
          <p15:clr>
            <a:srgbClr val="F26B43"/>
          </p15:clr>
        </p15:guide>
        <p15:guide id="32" pos="336">
          <p15:clr>
            <a:srgbClr val="F26B43"/>
          </p15:clr>
        </p15:guide>
        <p15:guide id="33" pos="7344">
          <p15:clr>
            <a:srgbClr val="F26B43"/>
          </p15:clr>
        </p15:guide>
        <p15:guide id="34" orient="horz" pos="4080">
          <p15:clr>
            <a:srgbClr val="F26B43"/>
          </p15:clr>
        </p15:guide>
        <p15:guide id="35" orient="horz" pos="1344">
          <p15:clr>
            <a:srgbClr val="F26B43"/>
          </p15:clr>
        </p15:guide>
        <p15:guide id="36" orient="horz" pos="38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5156" y="660400"/>
            <a:ext cx="1655423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kern="100" spc="96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EXECUTIVE REVIEW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2877768" y="660400"/>
            <a:ext cx="2410459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kern="100" spc="96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HEALTHCARE INTELLIGENCE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5156" y="1170880"/>
            <a:ext cx="8527837" cy="711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5600" kern="100" spc="-84" dirty="0">
                <a:solidFill>
                  <a:srgbClr val="FFFFFF"/>
                </a:solidFill>
                <a:latin typeface="Sora ExtraBold" pitchFamily="34" charset="0"/>
                <a:ea typeface="Sora ExtraBold" pitchFamily="34" charset="-122"/>
                <a:cs typeface="Sora ExtraBold" pitchFamily="34" charset="-120"/>
              </a:rPr>
              <a:t>MedTrack_DV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765156" y="2097980"/>
            <a:ext cx="9137421" cy="368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Hospital Performance Intelligence System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65156" y="2898080"/>
            <a:ext cx="913742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kern="100" spc="12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Executive Operations Briefing · From Raw Healthcare Data to Decision Dashboards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642824" y="660400"/>
            <a:ext cx="12700" cy="205680"/>
          </a:xfrm>
          <a:prstGeom prst="rect">
            <a:avLst/>
          </a:prstGeom>
          <a:solidFill>
            <a:srgbClr val="A7B3BE"/>
          </a:solidFill>
          <a:ln/>
        </p:spPr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83D9200-BBF3-1512-FCA1-F49710779231}"/>
              </a:ext>
            </a:extLst>
          </p:cNvPr>
          <p:cNvSpPr txBox="1"/>
          <p:nvPr/>
        </p:nvSpPr>
        <p:spPr>
          <a:xfrm>
            <a:off x="7589520" y="1371600"/>
            <a:ext cx="3837324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C0C0C0"/>
                </a:highlight>
              </a:rPr>
              <a:t>Presented By – Aman singh rawat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910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3200" kern="100" spc="-32" dirty="0">
                <a:solidFill>
                  <a:srgbClr val="1B2632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Raw hospital data became executive dashboards in four milestones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09585" y="1862733"/>
            <a:ext cx="6309262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kern="100" spc="-18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Comprehensive Operational Scope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09585" y="2326878"/>
            <a:ext cx="6309262" cy="533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Analyzes hospital operations, patient flow, department performance, resource utilization and patient outcomes.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09585" y="3114873"/>
            <a:ext cx="6309262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kern="100" spc="-18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End-to-End Analytics Pipeline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09585" y="3579019"/>
            <a:ext cx="6309262" cy="533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Data preparation, validation, KPI development and dashboarding turn raw healthcare data into insight for management.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09585" y="4367014"/>
            <a:ext cx="6309262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kern="100" spc="-18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Executive Decision Focus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09585" y="4831159"/>
            <a:ext cx="6309262" cy="533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Engineered specifically to support operational directors and clinical leaders with timely, actionable intelligence.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09585" y="5644555"/>
            <a:ext cx="630926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Structured delivery lifecycle ensuring rigorous data governance from ingestion to visual analytics.</a:t>
            </a:r>
            <a:endParaRPr lang="en-US" sz="125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5936" y="1735733"/>
            <a:ext cx="4206174" cy="2485231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7375936" y="4347865"/>
            <a:ext cx="4206174" cy="1900535"/>
          </a:xfrm>
          <a:prstGeom prst="rect">
            <a:avLst/>
          </a:prstGeom>
          <a:solidFill>
            <a:srgbClr val="E7EAF0"/>
          </a:solidFill>
          <a:ln/>
        </p:spPr>
      </p:sp>
      <p:sp>
        <p:nvSpPr>
          <p:cNvPr id="12" name="Text 9"/>
          <p:cNvSpPr/>
          <p:nvPr/>
        </p:nvSpPr>
        <p:spPr>
          <a:xfrm>
            <a:off x="7629929" y="4672013"/>
            <a:ext cx="3698187" cy="1252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System designed to bridge the gap between transactional electronic records and strategic hospital management.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609585" y="2981523"/>
            <a:ext cx="6309262" cy="12700"/>
          </a:xfrm>
          <a:prstGeom prst="rect">
            <a:avLst/>
          </a:prstGeom>
          <a:solidFill>
            <a:srgbClr val="A7B3BE"/>
          </a:solidFill>
          <a:ln/>
        </p:spPr>
      </p:sp>
      <p:sp>
        <p:nvSpPr>
          <p:cNvPr id="14" name="Shape 11"/>
          <p:cNvSpPr/>
          <p:nvPr/>
        </p:nvSpPr>
        <p:spPr>
          <a:xfrm>
            <a:off x="609585" y="4233664"/>
            <a:ext cx="6309262" cy="12700"/>
          </a:xfrm>
          <a:prstGeom prst="rect">
            <a:avLst/>
          </a:prstGeom>
          <a:solidFill>
            <a:srgbClr val="A7B3BE"/>
          </a:solidFill>
          <a:ln/>
        </p:spPr>
      </p:sp>
      <p:sp>
        <p:nvSpPr>
          <p:cNvPr id="15" name="Text 12"/>
          <p:cNvSpPr/>
          <p:nvPr/>
        </p:nvSpPr>
        <p:spPr>
          <a:xfrm>
            <a:off x="11402132" y="6451898"/>
            <a:ext cx="789563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100" kern="100" spc="44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2036366"/>
            <a:ext cx="10972526" cy="910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3200" kern="100" spc="-32" dirty="0">
                <a:solidFill>
                  <a:srgbClr val="1B2632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Four milestones took the project from data to deployment</a:t>
            </a:r>
            <a:endParaRPr lang="en-US" sz="3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3162498"/>
            <a:ext cx="539736" cy="5397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9585" y="3895923"/>
            <a:ext cx="2514537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kern="100" spc="-18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M1: Data collection and preparation</a:t>
            </a:r>
            <a:endParaRPr lang="en-US" sz="18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1310" y="3162498"/>
            <a:ext cx="539736" cy="5397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581310" y="3895923"/>
            <a:ext cx="2285943" cy="925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kern="100" spc="-18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M2: KPI development and dashboard preparation</a:t>
            </a:r>
            <a:endParaRPr lang="en-US" sz="18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4442" y="3162498"/>
            <a:ext cx="539736" cy="53975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324442" y="3895923"/>
            <a:ext cx="2285943" cy="925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kern="100" spc="-18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M3: Dashboard development and integration</a:t>
            </a:r>
            <a:endParaRPr lang="en-US" sz="18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67573" y="3162498"/>
            <a:ext cx="539736" cy="53975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9067573" y="3895923"/>
            <a:ext cx="2514537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kern="100" spc="-18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M4: Testing, validation and delivery</a:t>
            </a:r>
            <a:endParaRPr lang="en-US" sz="1800" dirty="0"/>
          </a:p>
        </p:txBody>
      </p:sp>
      <p:sp>
        <p:nvSpPr>
          <p:cNvPr id="11" name="Shape 5"/>
          <p:cNvSpPr/>
          <p:nvPr/>
        </p:nvSpPr>
        <p:spPr>
          <a:xfrm>
            <a:off x="3346366" y="3162498"/>
            <a:ext cx="12700" cy="1659136"/>
          </a:xfrm>
          <a:prstGeom prst="rect">
            <a:avLst/>
          </a:prstGeom>
          <a:solidFill>
            <a:srgbClr val="A7B3BE"/>
          </a:solidFill>
          <a:ln/>
        </p:spPr>
      </p:sp>
      <p:sp>
        <p:nvSpPr>
          <p:cNvPr id="12" name="Shape 6"/>
          <p:cNvSpPr/>
          <p:nvPr/>
        </p:nvSpPr>
        <p:spPr>
          <a:xfrm>
            <a:off x="6089498" y="3162498"/>
            <a:ext cx="12700" cy="1659136"/>
          </a:xfrm>
          <a:prstGeom prst="rect">
            <a:avLst/>
          </a:prstGeom>
          <a:solidFill>
            <a:srgbClr val="A7B3BE"/>
          </a:solidFill>
          <a:ln/>
        </p:spPr>
      </p:sp>
      <p:sp>
        <p:nvSpPr>
          <p:cNvPr id="13" name="Shape 7"/>
          <p:cNvSpPr/>
          <p:nvPr/>
        </p:nvSpPr>
        <p:spPr>
          <a:xfrm>
            <a:off x="8832629" y="3162498"/>
            <a:ext cx="12700" cy="1659136"/>
          </a:xfrm>
          <a:prstGeom prst="rect">
            <a:avLst/>
          </a:prstGeom>
          <a:solidFill>
            <a:srgbClr val="A7B3BE"/>
          </a:solidFill>
          <a:ln/>
        </p:spPr>
      </p:sp>
      <p:sp>
        <p:nvSpPr>
          <p:cNvPr id="14" name="Text 8"/>
          <p:cNvSpPr/>
          <p:nvPr/>
        </p:nvSpPr>
        <p:spPr>
          <a:xfrm>
            <a:off x="11398263" y="6451898"/>
            <a:ext cx="793432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100" kern="100" spc="44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910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3200" kern="100" spc="-32" dirty="0">
                <a:solidFill>
                  <a:srgbClr val="1B2632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Milestone 1 turned a Kaggle dataset into a clean, analysis-ready file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09585" y="1672233"/>
            <a:ext cx="2628834" cy="4576167"/>
          </a:xfrm>
          <a:prstGeom prst="roundRect">
            <a:avLst>
              <a:gd name="adj" fmla="val 1232"/>
            </a:avLst>
          </a:prstGeom>
          <a:solidFill>
            <a:srgbClr val="E7EAF0"/>
          </a:solidFill>
          <a:ln/>
        </p:spPr>
      </p:sp>
      <p:sp>
        <p:nvSpPr>
          <p:cNvPr id="4" name="Text 2"/>
          <p:cNvSpPr/>
          <p:nvPr/>
        </p:nvSpPr>
        <p:spPr>
          <a:xfrm>
            <a:off x="838179" y="1900833"/>
            <a:ext cx="2171646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kern="100" spc="-18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Raw data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38179" y="2364978"/>
            <a:ext cx="2171646" cy="939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Collected from Kaggle and loaded with Python.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3390815" y="1672233"/>
            <a:ext cx="2628834" cy="4576167"/>
          </a:xfrm>
          <a:prstGeom prst="roundRect">
            <a:avLst>
              <a:gd name="adj" fmla="val 1232"/>
            </a:avLst>
          </a:prstGeom>
          <a:solidFill>
            <a:srgbClr val="E7EAF0"/>
          </a:solidFill>
          <a:ln/>
        </p:spPr>
      </p:sp>
      <p:sp>
        <p:nvSpPr>
          <p:cNvPr id="7" name="Text 5"/>
          <p:cNvSpPr/>
          <p:nvPr/>
        </p:nvSpPr>
        <p:spPr>
          <a:xfrm>
            <a:off x="3619409" y="1900833"/>
            <a:ext cx="2171646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kern="100" spc="-18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Quality assessment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619409" y="2364978"/>
            <a:ext cx="2171646" cy="18782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Checks for missing values, duplicates, wrong data types, invalid dates and inconsistent categories.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172046" y="1672233"/>
            <a:ext cx="2628834" cy="4576167"/>
          </a:xfrm>
          <a:prstGeom prst="roundRect">
            <a:avLst>
              <a:gd name="adj" fmla="val 1232"/>
            </a:avLst>
          </a:prstGeom>
          <a:solidFill>
            <a:srgbClr val="E7EAF0"/>
          </a:solidFill>
          <a:ln/>
        </p:spPr>
      </p:sp>
      <p:sp>
        <p:nvSpPr>
          <p:cNvPr id="10" name="Text 8"/>
          <p:cNvSpPr/>
          <p:nvPr/>
        </p:nvSpPr>
        <p:spPr>
          <a:xfrm>
            <a:off x="6400640" y="1900833"/>
            <a:ext cx="2171646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kern="100" spc="-18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Cleaning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640" y="2364978"/>
            <a:ext cx="2171646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Cleaned in Python notebooks.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953276" y="1672233"/>
            <a:ext cx="2628834" cy="4576167"/>
          </a:xfrm>
          <a:prstGeom prst="roundRect">
            <a:avLst>
              <a:gd name="adj" fmla="val 1232"/>
            </a:avLst>
          </a:prstGeom>
          <a:solidFill>
            <a:srgbClr val="E7EAF0"/>
          </a:solidFill>
          <a:ln/>
        </p:spPr>
      </p:sp>
      <p:sp>
        <p:nvSpPr>
          <p:cNvPr id="13" name="Text 11"/>
          <p:cNvSpPr/>
          <p:nvPr/>
        </p:nvSpPr>
        <p:spPr>
          <a:xfrm>
            <a:off x="9181870" y="1900833"/>
            <a:ext cx="2171646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kern="100" spc="-18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Clean CSV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181870" y="2364978"/>
            <a:ext cx="2171646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Standardized CSV for Milestone 2.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1397766" y="6451898"/>
            <a:ext cx="793929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100" kern="100" spc="44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910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3200" kern="100" spc="-32" dirty="0">
                <a:solidFill>
                  <a:srgbClr val="1B2632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The raw data covers admissions, departments, billing and resources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09585" y="3414613"/>
            <a:ext cx="3428914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Patient and hospital identifiers, admission and discharge details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4495688" y="3414613"/>
            <a:ext cx="3200320" cy="939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Department types, demographics, readmission information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153196" y="3414613"/>
            <a:ext cx="3428914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Billing, test-result and resource fields used to build KPIs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260743" y="3414613"/>
            <a:ext cx="12700" cy="939105"/>
          </a:xfrm>
          <a:prstGeom prst="rect">
            <a:avLst/>
          </a:prstGeom>
          <a:solidFill>
            <a:srgbClr val="A7B3BE"/>
          </a:solidFill>
          <a:ln/>
        </p:spPr>
      </p:sp>
      <p:sp>
        <p:nvSpPr>
          <p:cNvPr id="7" name="Shape 5"/>
          <p:cNvSpPr/>
          <p:nvPr/>
        </p:nvSpPr>
        <p:spPr>
          <a:xfrm>
            <a:off x="7918252" y="3414613"/>
            <a:ext cx="12700" cy="939105"/>
          </a:xfrm>
          <a:prstGeom prst="rect">
            <a:avLst/>
          </a:prstGeom>
          <a:solidFill>
            <a:srgbClr val="A7B3BE"/>
          </a:solidFill>
          <a:ln/>
        </p:spPr>
      </p:sp>
      <p:sp>
        <p:nvSpPr>
          <p:cNvPr id="8" name="Text 6"/>
          <p:cNvSpPr/>
          <p:nvPr/>
        </p:nvSpPr>
        <p:spPr>
          <a:xfrm>
            <a:off x="11395881" y="6451898"/>
            <a:ext cx="795814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100" kern="100" spc="44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96" dirty="0">
                <a:solidFill>
                  <a:srgbClr val="536270"/>
                </a:solidFill>
                <a:latin typeface="Public Sans Medium" pitchFamily="34" charset="0"/>
                <a:ea typeface="Public Sans Medium" pitchFamily="34" charset="-122"/>
                <a:cs typeface="Public Sans Medium" pitchFamily="34" charset="-120"/>
              </a:rPr>
              <a:t>CORE METRICS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893366"/>
            <a:ext cx="10972526" cy="455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3200" kern="100" spc="-32" dirty="0">
                <a:solidFill>
                  <a:srgbClr val="1B2632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Six KPIs measure how the hospital performs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09585" y="1564382"/>
            <a:ext cx="3505112" cy="2179241"/>
          </a:xfrm>
          <a:prstGeom prst="roundRect">
            <a:avLst>
              <a:gd name="adj" fmla="val 1486"/>
            </a:avLst>
          </a:prstGeom>
          <a:solidFill>
            <a:srgbClr val="E7EAF0"/>
          </a:solidFill>
          <a:ln/>
        </p:spPr>
      </p:sp>
      <p:sp>
        <p:nvSpPr>
          <p:cNvPr id="5" name="Shape 3"/>
          <p:cNvSpPr/>
          <p:nvPr/>
        </p:nvSpPr>
        <p:spPr>
          <a:xfrm>
            <a:off x="812780" y="1767582"/>
            <a:ext cx="647684" cy="64770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4701" y="1929507"/>
            <a:ext cx="323842" cy="3238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2542282"/>
            <a:ext cx="3098722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kern="100" spc="-18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Total Admissions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12780" y="3006427"/>
            <a:ext cx="3301917" cy="266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Total admission records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4419489" y="1564382"/>
            <a:ext cx="3352716" cy="2179241"/>
          </a:xfrm>
          <a:prstGeom prst="roundRect">
            <a:avLst>
              <a:gd name="adj" fmla="val 1486"/>
            </a:avLst>
          </a:prstGeom>
          <a:solidFill>
            <a:srgbClr val="E7EAF0"/>
          </a:solidFill>
          <a:ln/>
        </p:spPr>
      </p:sp>
      <p:sp>
        <p:nvSpPr>
          <p:cNvPr id="10" name="Shape 7"/>
          <p:cNvSpPr/>
          <p:nvPr/>
        </p:nvSpPr>
        <p:spPr>
          <a:xfrm>
            <a:off x="4622684" y="1767582"/>
            <a:ext cx="647684" cy="64770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4605" y="1929507"/>
            <a:ext cx="323842" cy="32385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22684" y="2542282"/>
            <a:ext cx="2946326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kern="100" spc="-18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Occupancy Rate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622684" y="3006427"/>
            <a:ext cx="2946326" cy="533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Occupied beds relative to total beds</a:t>
            </a:r>
            <a:endParaRPr lang="en-US" sz="1450" dirty="0"/>
          </a:p>
        </p:txBody>
      </p:sp>
      <p:sp>
        <p:nvSpPr>
          <p:cNvPr id="14" name="Shape 10"/>
          <p:cNvSpPr/>
          <p:nvPr/>
        </p:nvSpPr>
        <p:spPr>
          <a:xfrm>
            <a:off x="8076998" y="1564382"/>
            <a:ext cx="3505112" cy="2179241"/>
          </a:xfrm>
          <a:prstGeom prst="roundRect">
            <a:avLst>
              <a:gd name="adj" fmla="val 1486"/>
            </a:avLst>
          </a:prstGeom>
          <a:solidFill>
            <a:srgbClr val="E7EAF0"/>
          </a:solidFill>
          <a:ln/>
        </p:spPr>
      </p:sp>
      <p:sp>
        <p:nvSpPr>
          <p:cNvPr id="15" name="Shape 11"/>
          <p:cNvSpPr/>
          <p:nvPr/>
        </p:nvSpPr>
        <p:spPr>
          <a:xfrm>
            <a:off x="8280193" y="1767582"/>
            <a:ext cx="647684" cy="64770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42114" y="1929507"/>
            <a:ext cx="323842" cy="32385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80193" y="2542282"/>
            <a:ext cx="3098722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kern="100" spc="-18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Average Length of Stay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8280193" y="3006427"/>
            <a:ext cx="3301917" cy="266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Average days patients stay</a:t>
            </a:r>
            <a:endParaRPr lang="en-US" sz="1450" dirty="0"/>
          </a:p>
        </p:txBody>
      </p:sp>
      <p:sp>
        <p:nvSpPr>
          <p:cNvPr id="19" name="Shape 14"/>
          <p:cNvSpPr/>
          <p:nvPr/>
        </p:nvSpPr>
        <p:spPr>
          <a:xfrm>
            <a:off x="609585" y="4048423"/>
            <a:ext cx="3505112" cy="2179241"/>
          </a:xfrm>
          <a:prstGeom prst="roundRect">
            <a:avLst>
              <a:gd name="adj" fmla="val 1486"/>
            </a:avLst>
          </a:prstGeom>
          <a:solidFill>
            <a:srgbClr val="E7EAF0"/>
          </a:solidFill>
          <a:ln/>
        </p:spPr>
      </p:sp>
      <p:sp>
        <p:nvSpPr>
          <p:cNvPr id="20" name="Shape 15"/>
          <p:cNvSpPr/>
          <p:nvPr/>
        </p:nvSpPr>
        <p:spPr>
          <a:xfrm>
            <a:off x="812780" y="4251623"/>
            <a:ext cx="647684" cy="64770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4701" y="4413548"/>
            <a:ext cx="323842" cy="32385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12780" y="5026323"/>
            <a:ext cx="3098722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kern="100" spc="-18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Readmission Rate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812780" y="5490468"/>
            <a:ext cx="3098722" cy="533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Percentage of patients identified as readmissions</a:t>
            </a:r>
            <a:endParaRPr lang="en-US" sz="1450" dirty="0"/>
          </a:p>
        </p:txBody>
      </p:sp>
      <p:sp>
        <p:nvSpPr>
          <p:cNvPr id="24" name="Shape 18"/>
          <p:cNvSpPr/>
          <p:nvPr/>
        </p:nvSpPr>
        <p:spPr>
          <a:xfrm>
            <a:off x="4419489" y="4048423"/>
            <a:ext cx="3352716" cy="2179241"/>
          </a:xfrm>
          <a:prstGeom prst="roundRect">
            <a:avLst>
              <a:gd name="adj" fmla="val 1486"/>
            </a:avLst>
          </a:prstGeom>
          <a:solidFill>
            <a:srgbClr val="E7EAF0"/>
          </a:solidFill>
          <a:ln/>
        </p:spPr>
      </p:sp>
      <p:sp>
        <p:nvSpPr>
          <p:cNvPr id="25" name="Shape 19"/>
          <p:cNvSpPr/>
          <p:nvPr/>
        </p:nvSpPr>
        <p:spPr>
          <a:xfrm>
            <a:off x="4622684" y="4251623"/>
            <a:ext cx="647684" cy="64770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84605" y="4413548"/>
            <a:ext cx="323842" cy="32385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622684" y="5026323"/>
            <a:ext cx="2946326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kern="100" spc="-18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Bed Utilization Rate</a:t>
            </a:r>
            <a:endParaRPr lang="en-US" sz="1800" dirty="0"/>
          </a:p>
        </p:txBody>
      </p:sp>
      <p:sp>
        <p:nvSpPr>
          <p:cNvPr id="28" name="Text 21"/>
          <p:cNvSpPr/>
          <p:nvPr/>
        </p:nvSpPr>
        <p:spPr>
          <a:xfrm>
            <a:off x="4622684" y="5490468"/>
            <a:ext cx="3149521" cy="266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Use of available bed capacity</a:t>
            </a:r>
            <a:endParaRPr lang="en-US" sz="1450" dirty="0"/>
          </a:p>
        </p:txBody>
      </p:sp>
      <p:sp>
        <p:nvSpPr>
          <p:cNvPr id="29" name="Shape 22"/>
          <p:cNvSpPr/>
          <p:nvPr/>
        </p:nvSpPr>
        <p:spPr>
          <a:xfrm>
            <a:off x="8076998" y="4048423"/>
            <a:ext cx="3505112" cy="2179241"/>
          </a:xfrm>
          <a:prstGeom prst="roundRect">
            <a:avLst>
              <a:gd name="adj" fmla="val 1486"/>
            </a:avLst>
          </a:prstGeom>
          <a:solidFill>
            <a:srgbClr val="E7EAF0"/>
          </a:solidFill>
          <a:ln/>
        </p:spPr>
      </p:sp>
      <p:sp>
        <p:nvSpPr>
          <p:cNvPr id="30" name="Shape 23"/>
          <p:cNvSpPr/>
          <p:nvPr/>
        </p:nvSpPr>
        <p:spPr>
          <a:xfrm>
            <a:off x="8280193" y="4251623"/>
            <a:ext cx="647684" cy="64770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42114" y="4413548"/>
            <a:ext cx="323842" cy="32385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280193" y="5026323"/>
            <a:ext cx="3098722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kern="100" spc="-18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Department Efficiency</a:t>
            </a:r>
            <a:endParaRPr lang="en-US" sz="1800" dirty="0"/>
          </a:p>
        </p:txBody>
      </p:sp>
      <p:sp>
        <p:nvSpPr>
          <p:cNvPr id="33" name="Text 25"/>
          <p:cNvSpPr/>
          <p:nvPr/>
        </p:nvSpPr>
        <p:spPr>
          <a:xfrm>
            <a:off x="8280193" y="5490468"/>
            <a:ext cx="3098722" cy="533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Department-level operational performance</a:t>
            </a:r>
            <a:endParaRPr lang="en-US" sz="1450" dirty="0"/>
          </a:p>
        </p:txBody>
      </p:sp>
      <p:sp>
        <p:nvSpPr>
          <p:cNvPr id="34" name="Text 26"/>
          <p:cNvSpPr/>
          <p:nvPr/>
        </p:nvSpPr>
        <p:spPr>
          <a:xfrm>
            <a:off x="11399354" y="6451898"/>
            <a:ext cx="792341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100" kern="100" spc="44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96" dirty="0">
                <a:solidFill>
                  <a:srgbClr val="536270"/>
                </a:solidFill>
                <a:latin typeface="Public Sans Medium" pitchFamily="34" charset="0"/>
                <a:ea typeface="Public Sans Medium" pitchFamily="34" charset="-122"/>
                <a:cs typeface="Public Sans Medium" pitchFamily="34" charset="-120"/>
              </a:rPr>
              <a:t>MILESTONE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893366"/>
            <a:ext cx="10972526" cy="910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3200" kern="100" spc="-32" dirty="0">
                <a:solidFill>
                  <a:srgbClr val="1B2632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Milestone 2 validated the data, built the KPIs and planned the dashboard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09585" y="2209998"/>
            <a:ext cx="3589843" cy="2450604"/>
          </a:xfrm>
          <a:prstGeom prst="rect">
            <a:avLst/>
          </a:prstGeom>
          <a:solidFill>
            <a:srgbClr val="E7EAF0"/>
          </a:solidFill>
          <a:ln/>
        </p:spPr>
      </p:sp>
      <p:sp>
        <p:nvSpPr>
          <p:cNvPr id="5" name="Text 3"/>
          <p:cNvSpPr/>
          <p:nvPr/>
        </p:nvSpPr>
        <p:spPr>
          <a:xfrm>
            <a:off x="863578" y="2463998"/>
            <a:ext cx="3335849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96" dirty="0">
                <a:solidFill>
                  <a:srgbClr val="536270"/>
                </a:solidFill>
                <a:latin typeface="Public Sans Medium" pitchFamily="34" charset="0"/>
                <a:ea typeface="Public Sans Medium" pitchFamily="34" charset="-122"/>
                <a:cs typeface="Public Sans Medium" pitchFamily="34" charset="-120"/>
              </a:rPr>
              <a:t>PHASE 2.1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63578" y="2843014"/>
            <a:ext cx="3081756" cy="38100"/>
          </a:xfrm>
          <a:prstGeom prst="roundRect">
            <a:avLst>
              <a:gd name="adj" fmla="val 49999"/>
            </a:avLst>
          </a:prstGeom>
          <a:solidFill>
            <a:srgbClr val="1B2632"/>
          </a:solidFill>
          <a:ln/>
        </p:spPr>
      </p:sp>
      <p:sp>
        <p:nvSpPr>
          <p:cNvPr id="7" name="Text 5"/>
          <p:cNvSpPr/>
          <p:nvPr/>
        </p:nvSpPr>
        <p:spPr>
          <a:xfrm>
            <a:off x="863578" y="3128764"/>
            <a:ext cx="3081856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kern="100" spc="-18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Data Validation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3578" y="3592909"/>
            <a:ext cx="3081856" cy="533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Cleaned dataset validated before any KPI calculation.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300926" y="2209998"/>
            <a:ext cx="3589843" cy="2450604"/>
          </a:xfrm>
          <a:prstGeom prst="rect">
            <a:avLst/>
          </a:prstGeom>
          <a:solidFill>
            <a:srgbClr val="E7EAF0"/>
          </a:solidFill>
          <a:ln/>
        </p:spPr>
      </p:sp>
      <p:sp>
        <p:nvSpPr>
          <p:cNvPr id="10" name="Text 8"/>
          <p:cNvSpPr/>
          <p:nvPr/>
        </p:nvSpPr>
        <p:spPr>
          <a:xfrm>
            <a:off x="4554920" y="2463998"/>
            <a:ext cx="3335849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96" dirty="0">
                <a:solidFill>
                  <a:srgbClr val="536270"/>
                </a:solidFill>
                <a:latin typeface="Public Sans Medium" pitchFamily="34" charset="0"/>
                <a:ea typeface="Public Sans Medium" pitchFamily="34" charset="-122"/>
                <a:cs typeface="Public Sans Medium" pitchFamily="34" charset="-120"/>
              </a:rPr>
              <a:t>PHASE 2.2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54920" y="2843014"/>
            <a:ext cx="3081756" cy="38100"/>
          </a:xfrm>
          <a:prstGeom prst="roundRect">
            <a:avLst>
              <a:gd name="adj" fmla="val 49999"/>
            </a:avLst>
          </a:prstGeom>
          <a:solidFill>
            <a:srgbClr val="1B2632"/>
          </a:solidFill>
          <a:ln/>
        </p:spPr>
      </p:sp>
      <p:sp>
        <p:nvSpPr>
          <p:cNvPr id="12" name="Text 10"/>
          <p:cNvSpPr/>
          <p:nvPr/>
        </p:nvSpPr>
        <p:spPr>
          <a:xfrm>
            <a:off x="4554920" y="3128764"/>
            <a:ext cx="3081856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kern="100" spc="-18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Excel Modeling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54920" y="3592909"/>
            <a:ext cx="3081856" cy="533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Final dataset exported to Excel for dashboard work.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7992267" y="2209998"/>
            <a:ext cx="3589843" cy="2450604"/>
          </a:xfrm>
          <a:prstGeom prst="rect">
            <a:avLst/>
          </a:prstGeom>
          <a:noFill/>
          <a:ln w="6350">
            <a:solidFill>
              <a:srgbClr val="A7B3B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52611" y="2470348"/>
            <a:ext cx="332950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96" dirty="0">
                <a:solidFill>
                  <a:srgbClr val="536270"/>
                </a:solidFill>
                <a:latin typeface="Public Sans Medium" pitchFamily="34" charset="0"/>
                <a:ea typeface="Public Sans Medium" pitchFamily="34" charset="-122"/>
                <a:cs typeface="Public Sans Medium" pitchFamily="34" charset="-120"/>
              </a:rPr>
              <a:t>PHASE 2.3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52611" y="2849364"/>
            <a:ext cx="3069057" cy="38100"/>
          </a:xfrm>
          <a:prstGeom prst="roundRect">
            <a:avLst>
              <a:gd name="adj" fmla="val 49999"/>
            </a:avLst>
          </a:prstGeom>
          <a:solidFill>
            <a:srgbClr val="0E7C86"/>
          </a:solidFill>
          <a:ln/>
        </p:spPr>
      </p:sp>
      <p:sp>
        <p:nvSpPr>
          <p:cNvPr id="17" name="Text 15"/>
          <p:cNvSpPr/>
          <p:nvPr/>
        </p:nvSpPr>
        <p:spPr>
          <a:xfrm>
            <a:off x="8252611" y="3135114"/>
            <a:ext cx="3069156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kern="100" spc="-18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Storyboard &amp; Prototype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252611" y="3599259"/>
            <a:ext cx="3069156" cy="8009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Dashboard storyboard and an initial Tableau prototype verified the approach.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09585" y="4813002"/>
            <a:ext cx="10972526" cy="1375370"/>
          </a:xfrm>
          <a:prstGeom prst="rect">
            <a:avLst/>
          </a:prstGeom>
          <a:solidFill>
            <a:srgbClr val="E7EAF0"/>
          </a:solidFill>
          <a:ln/>
        </p:spPr>
      </p:sp>
      <p:sp>
        <p:nvSpPr>
          <p:cNvPr id="20" name="Text 18"/>
          <p:cNvSpPr/>
          <p:nvPr/>
        </p:nvSpPr>
        <p:spPr>
          <a:xfrm>
            <a:off x="914377" y="5041602"/>
            <a:ext cx="1036294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800" kern="100" spc="-36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Pre-Development Verification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14377" y="5425777"/>
            <a:ext cx="10362941" cy="533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Wireframing interactions, view hierarchies, and KPI formulas in Milestone 2 eliminated scope creep and confirmed technical feasibility before full Tableau authoring.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11404116" y="6451898"/>
            <a:ext cx="787579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100" kern="100" spc="44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96" dirty="0">
                <a:solidFill>
                  <a:srgbClr val="536270"/>
                </a:solidFill>
                <a:latin typeface="Public Sans Medium" pitchFamily="34" charset="0"/>
                <a:ea typeface="Public Sans Medium" pitchFamily="34" charset="-122"/>
                <a:cs typeface="Public Sans Medium" pitchFamily="34" charset="-120"/>
              </a:rPr>
              <a:t>MILESTONE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893366"/>
            <a:ext cx="10972526" cy="910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3200" kern="100" spc="-32" dirty="0">
                <a:solidFill>
                  <a:srgbClr val="1B2632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Milestone 3 delivered four interactive Tableau dashboards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09585" y="2019498"/>
            <a:ext cx="5422764" cy="2050951"/>
          </a:xfrm>
          <a:prstGeom prst="rect">
            <a:avLst/>
          </a:prstGeom>
          <a:solidFill>
            <a:srgbClr val="E7EAF0"/>
          </a:solidFill>
          <a:ln/>
        </p:spPr>
      </p:sp>
      <p:sp>
        <p:nvSpPr>
          <p:cNvPr id="5" name="Text 3"/>
          <p:cNvSpPr/>
          <p:nvPr/>
        </p:nvSpPr>
        <p:spPr>
          <a:xfrm>
            <a:off x="838179" y="2248098"/>
            <a:ext cx="496557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800" kern="100" spc="-36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Hospital Overview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179" y="2632273"/>
            <a:ext cx="5194170" cy="266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Executive KPIs and monthly occupancy trends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159346" y="2019498"/>
            <a:ext cx="5422764" cy="2050951"/>
          </a:xfrm>
          <a:prstGeom prst="rect">
            <a:avLst/>
          </a:prstGeom>
          <a:solidFill>
            <a:srgbClr val="E7EAF0"/>
          </a:solidFill>
          <a:ln/>
        </p:spPr>
      </p:sp>
      <p:sp>
        <p:nvSpPr>
          <p:cNvPr id="8" name="Text 6"/>
          <p:cNvSpPr/>
          <p:nvPr/>
        </p:nvSpPr>
        <p:spPr>
          <a:xfrm>
            <a:off x="6387940" y="2248098"/>
            <a:ext cx="496557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800" kern="100" spc="-36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Patient Flow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387940" y="2632273"/>
            <a:ext cx="4965576" cy="533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Admissions vs discharges, length of stay by department, peak load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09585" y="4197449"/>
            <a:ext cx="5422764" cy="2050951"/>
          </a:xfrm>
          <a:prstGeom prst="rect">
            <a:avLst/>
          </a:prstGeom>
          <a:solidFill>
            <a:srgbClr val="E7EAF0"/>
          </a:solidFill>
          <a:ln/>
        </p:spPr>
      </p:sp>
      <p:sp>
        <p:nvSpPr>
          <p:cNvPr id="11" name="Text 9"/>
          <p:cNvSpPr/>
          <p:nvPr/>
        </p:nvSpPr>
        <p:spPr>
          <a:xfrm>
            <a:off x="838179" y="4426049"/>
            <a:ext cx="496557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800" kern="100" spc="-36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Department Analytics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38179" y="4810224"/>
            <a:ext cx="4965576" cy="533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Efficiency comparison, capacity vs occupancy tree maps, staff distribution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159346" y="4197449"/>
            <a:ext cx="5422764" cy="2050951"/>
          </a:xfrm>
          <a:prstGeom prst="rect">
            <a:avLst/>
          </a:prstGeom>
          <a:solidFill>
            <a:srgbClr val="E7EAF0"/>
          </a:solidFill>
          <a:ln/>
        </p:spPr>
      </p:sp>
      <p:sp>
        <p:nvSpPr>
          <p:cNvPr id="14" name="Text 12"/>
          <p:cNvSpPr/>
          <p:nvPr/>
        </p:nvSpPr>
        <p:spPr>
          <a:xfrm>
            <a:off x="6387940" y="4426049"/>
            <a:ext cx="496557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800" kern="100" spc="-36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Resource Utilization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387940" y="4810224"/>
            <a:ext cx="5194170" cy="266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Bed utilization, active clinical staff, equipment grids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11395881" y="6451898"/>
            <a:ext cx="795814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100" kern="100" spc="44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96" dirty="0">
                <a:solidFill>
                  <a:srgbClr val="536270"/>
                </a:solidFill>
                <a:latin typeface="Public Sans Medium" pitchFamily="34" charset="0"/>
                <a:ea typeface="Public Sans Medium" pitchFamily="34" charset="-122"/>
                <a:cs typeface="Public Sans Medium" pitchFamily="34" charset="-120"/>
              </a:rPr>
              <a:t>VISUAL DESIGN &amp; CONTROLS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893366"/>
            <a:ext cx="10972526" cy="910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3200" kern="100" spc="-32" dirty="0">
                <a:solidFill>
                  <a:srgbClr val="1B2632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An executive dark theme and global filters tie the dashboards together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09585" y="1955998"/>
            <a:ext cx="2647884" cy="13893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5" name="Text 3"/>
          <p:cNvSpPr/>
          <p:nvPr/>
        </p:nvSpPr>
        <p:spPr>
          <a:xfrm>
            <a:off x="787380" y="2133798"/>
            <a:ext cx="247008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Background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87380" y="2541786"/>
            <a:ext cx="2292293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kern="100" spc="-32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#0F172A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87380" y="2900561"/>
            <a:ext cx="2470088" cy="266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Slate canvas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3384465" y="1955998"/>
            <a:ext cx="2647884" cy="13893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" name="Text 7"/>
          <p:cNvSpPr/>
          <p:nvPr/>
        </p:nvSpPr>
        <p:spPr>
          <a:xfrm>
            <a:off x="3562261" y="2133798"/>
            <a:ext cx="247008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Container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562261" y="2541786"/>
            <a:ext cx="2292293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kern="100" spc="-32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#1E293B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62261" y="2900561"/>
            <a:ext cx="2470088" cy="266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Card surface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159346" y="1955998"/>
            <a:ext cx="2647884" cy="1389360"/>
          </a:xfrm>
          <a:prstGeom prst="rect">
            <a:avLst/>
          </a:prstGeom>
          <a:solidFill>
            <a:srgbClr val="00F2FE"/>
          </a:solidFill>
          <a:ln/>
        </p:spPr>
      </p:sp>
      <p:sp>
        <p:nvSpPr>
          <p:cNvPr id="13" name="Text 11"/>
          <p:cNvSpPr/>
          <p:nvPr/>
        </p:nvSpPr>
        <p:spPr>
          <a:xfrm>
            <a:off x="6337141" y="2133798"/>
            <a:ext cx="247008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Primary Accent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337141" y="2541786"/>
            <a:ext cx="2292293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kern="100" spc="-32" dirty="0">
                <a:solidFill>
                  <a:srgbClr val="0F172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#00F2FE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37141" y="2900561"/>
            <a:ext cx="2470088" cy="266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50" dirty="0">
                <a:solidFill>
                  <a:srgbClr val="0F172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Cyan highlight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8934226" y="1955998"/>
            <a:ext cx="2647884" cy="13893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9112022" y="2133798"/>
            <a:ext cx="247008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Alert Accent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112022" y="2541786"/>
            <a:ext cx="2292293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kern="100" spc="-32" dirty="0">
                <a:solidFill>
                  <a:srgbClr val="0F172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#F59E0B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112022" y="2900561"/>
            <a:ext cx="2470088" cy="266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50" dirty="0">
                <a:solidFill>
                  <a:srgbClr val="0F172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Amber attention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609585" y="3573959"/>
            <a:ext cx="5257668" cy="1722338"/>
          </a:xfrm>
          <a:prstGeom prst="roundRect">
            <a:avLst>
              <a:gd name="adj" fmla="val 1880"/>
            </a:avLst>
          </a:prstGeom>
          <a:solidFill>
            <a:srgbClr val="E7EAF0"/>
          </a:solidFill>
          <a:ln/>
        </p:spPr>
      </p:sp>
      <p:sp>
        <p:nvSpPr>
          <p:cNvPr id="21" name="Text 19"/>
          <p:cNvSpPr/>
          <p:nvPr/>
        </p:nvSpPr>
        <p:spPr>
          <a:xfrm>
            <a:off x="838179" y="3802559"/>
            <a:ext cx="4800480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kern="100" spc="-18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Global Filter Architecture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38179" y="4266704"/>
            <a:ext cx="4800480" cy="533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Global filters synchronized across all views for </a:t>
            </a:r>
            <a:r>
              <a:rPr lang="en-US" sz="1450" b="1" dirty="0">
                <a:solidFill>
                  <a:srgbClr val="3A4756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Hospital</a:t>
            </a: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, </a:t>
            </a:r>
            <a:r>
              <a:rPr lang="en-US" sz="1450" b="1" dirty="0">
                <a:solidFill>
                  <a:srgbClr val="3A4756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Department</a:t>
            </a: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, </a:t>
            </a:r>
            <a:r>
              <a:rPr lang="en-US" sz="1450" b="1" dirty="0">
                <a:solidFill>
                  <a:srgbClr val="3A4756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Region</a:t>
            </a: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, and </a:t>
            </a:r>
            <a:r>
              <a:rPr lang="en-US" sz="1450" b="1" dirty="0">
                <a:solidFill>
                  <a:srgbClr val="3A4756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Date Range</a:t>
            </a: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.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6324442" y="3573959"/>
            <a:ext cx="5257668" cy="1722338"/>
          </a:xfrm>
          <a:prstGeom prst="roundRect">
            <a:avLst>
              <a:gd name="adj" fmla="val 1880"/>
            </a:avLst>
          </a:prstGeom>
          <a:solidFill>
            <a:srgbClr val="E7EAF0"/>
          </a:solidFill>
          <a:ln/>
        </p:spPr>
      </p:sp>
      <p:sp>
        <p:nvSpPr>
          <p:cNvPr id="24" name="Text 22"/>
          <p:cNvSpPr/>
          <p:nvPr/>
        </p:nvSpPr>
        <p:spPr>
          <a:xfrm>
            <a:off x="6553036" y="3802559"/>
            <a:ext cx="4800480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kern="100" spc="-18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Interactive Parameter Actions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553036" y="4266704"/>
            <a:ext cx="4800480" cy="8009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Parameter actions enable cross-tab navigation and context-preserving drilldowns between overview and detail sheets.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609585" y="6034088"/>
            <a:ext cx="1158211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Engineered for executive readability in control rooms and high-contrast analytical environments.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1399056" y="6451898"/>
            <a:ext cx="792639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100" kern="100" spc="44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96" dirty="0">
                <a:solidFill>
                  <a:srgbClr val="536270"/>
                </a:solidFill>
                <a:latin typeface="Public Sans Medium" pitchFamily="34" charset="0"/>
                <a:ea typeface="Public Sans Medium" pitchFamily="34" charset="-122"/>
                <a:cs typeface="Public Sans Medium" pitchFamily="34" charset="-120"/>
              </a:rPr>
              <a:t>MILESTONE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893366"/>
            <a:ext cx="10972526" cy="455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3200" kern="100" spc="-32" dirty="0">
                <a:solidFill>
                  <a:srgbClr val="1B2632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Milestone 4 proved the numbers and the interactivity</a:t>
            </a:r>
            <a:endParaRPr lang="en-US" sz="3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1564382"/>
          <a:ext cx="10972525" cy="1637564"/>
        </p:xfrm>
        <a:graphic>
          <a:graphicData uri="http://schemas.openxmlformats.org/drawingml/2006/table">
            <a:tbl>
              <a:tblPr/>
              <a:tblGrid>
                <a:gridCol w="27431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3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797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kern="100" spc="-18" dirty="0">
                          <a:solidFill>
                            <a:srgbClr val="1B2632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KPI accuracy</a:t>
                      </a:r>
                      <a:endParaRPr lang="en-US" sz="18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7B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3A475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KPIs cross-verified against Python baseline outputs; &gt;95% accuracy target met</a:t>
                      </a: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7B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797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kern="100" spc="-18" dirty="0">
                          <a:solidFill>
                            <a:srgbClr val="1B2632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Values and filters</a:t>
                      </a:r>
                      <a:endParaRPr lang="en-US" sz="18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7B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7B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3A475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Zero missing or broken values; global filter reactivity tested</a:t>
                      </a: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7B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7B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162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kern="100" spc="-18" dirty="0">
                          <a:solidFill>
                            <a:srgbClr val="1B2632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Reset Filter Extension</a:t>
                      </a:r>
                      <a:endParaRPr lang="en-US" sz="18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7B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3A475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Added to all 4 dashboard views for one-click resets</a:t>
                      </a: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7B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09585" y="4954588"/>
            <a:ext cx="5422764" cy="1293813"/>
          </a:xfrm>
          <a:prstGeom prst="rect">
            <a:avLst/>
          </a:prstGeom>
          <a:solidFill>
            <a:srgbClr val="E4EAEF"/>
          </a:solidFill>
          <a:ln/>
        </p:spPr>
      </p:sp>
      <p:sp>
        <p:nvSpPr>
          <p:cNvPr id="6" name="Text 3"/>
          <p:cNvSpPr/>
          <p:nvPr/>
        </p:nvSpPr>
        <p:spPr>
          <a:xfrm>
            <a:off x="838179" y="5132388"/>
            <a:ext cx="4965576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4000" kern="100" spc="-80" dirty="0">
                <a:solidFill>
                  <a:srgbClr val="0E7C86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&gt;95%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838179" y="5856288"/>
            <a:ext cx="519417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Accuracy target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159346" y="4954588"/>
            <a:ext cx="5422764" cy="1293813"/>
          </a:xfrm>
          <a:prstGeom prst="rect">
            <a:avLst/>
          </a:prstGeom>
          <a:solidFill>
            <a:srgbClr val="E4EAEF"/>
          </a:solidFill>
          <a:ln/>
        </p:spPr>
      </p:sp>
      <p:sp>
        <p:nvSpPr>
          <p:cNvPr id="9" name="Text 6"/>
          <p:cNvSpPr/>
          <p:nvPr/>
        </p:nvSpPr>
        <p:spPr>
          <a:xfrm>
            <a:off x="6387940" y="5132388"/>
            <a:ext cx="4965576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4000" kern="100" spc="-80" dirty="0">
                <a:solidFill>
                  <a:srgbClr val="0E7C86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4 of 4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6387940" y="5856288"/>
            <a:ext cx="519417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Dashboard views</a:t>
            </a:r>
            <a:endParaRPr lang="en-US" sz="1250" dirty="0"/>
          </a:p>
        </p:txBody>
      </p:sp>
      <p:sp>
        <p:nvSpPr>
          <p:cNvPr id="4" name="Text 8"/>
          <p:cNvSpPr/>
          <p:nvPr/>
        </p:nvSpPr>
        <p:spPr>
          <a:xfrm>
            <a:off x="11428523" y="6451898"/>
            <a:ext cx="763172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100" kern="100" spc="44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237CF4B-9056-94AC-8C15-B2C8A05A2681}"/>
              </a:ext>
            </a:extLst>
          </p:cNvPr>
          <p:cNvSpPr txBox="1"/>
          <p:nvPr/>
        </p:nvSpPr>
        <p:spPr>
          <a:xfrm>
            <a:off x="3188474" y="3167390"/>
            <a:ext cx="664729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highlight>
                  <a:srgbClr val="808000"/>
                </a:highlight>
              </a:rPr>
              <a:t>https://drive.google.com/file/d/1MtWdLkUd9vMQ8K1q20w_vtM1hxFd0N1p/view?usp=sharing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0B649A-B7E6-9D73-2985-0617EB3A20D4}"/>
              </a:ext>
            </a:extLst>
          </p:cNvPr>
          <p:cNvSpPr txBox="1"/>
          <p:nvPr/>
        </p:nvSpPr>
        <p:spPr>
          <a:xfrm>
            <a:off x="4126726" y="2072722"/>
            <a:ext cx="41505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  <a:highlight>
                  <a:srgbClr val="FFFF00"/>
                </a:highlight>
              </a:rPr>
              <a:t>Final Tableau Dashboard file google drive link :  </a:t>
            </a:r>
          </a:p>
        </p:txBody>
      </p:sp>
    </p:spTree>
    <p:extLst>
      <p:ext uri="{BB962C8B-B14F-4D97-AF65-F5344CB8AC3E}">
        <p14:creationId xmlns:p14="http://schemas.microsoft.com/office/powerpoint/2010/main" val="24927477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D7EB285-8F8E-EF4C-255F-9318D7820162}"/>
              </a:ext>
            </a:extLst>
          </p:cNvPr>
          <p:cNvSpPr txBox="1"/>
          <p:nvPr/>
        </p:nvSpPr>
        <p:spPr>
          <a:xfrm>
            <a:off x="3962399" y="3032760"/>
            <a:ext cx="391668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highlight>
                  <a:srgbClr val="008080"/>
                </a:highlight>
              </a:rPr>
              <a:t>Thankyou</a:t>
            </a:r>
          </a:p>
        </p:txBody>
      </p:sp>
    </p:spTree>
    <p:extLst>
      <p:ext uri="{BB962C8B-B14F-4D97-AF65-F5344CB8AC3E}">
        <p14:creationId xmlns:p14="http://schemas.microsoft.com/office/powerpoint/2010/main" val="1692602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dulo">
  <a:themeElements>
    <a:clrScheme name="Project Status Report">
      <a:dk1>
        <a:srgbClr val="000000"/>
      </a:dk1>
      <a:lt1>
        <a:srgbClr val="FFFFFF"/>
      </a:lt1>
      <a:dk2>
        <a:srgbClr val="3B4546"/>
      </a:dk2>
      <a:lt2>
        <a:srgbClr val="E7E6E6"/>
      </a:lt2>
      <a:accent1>
        <a:srgbClr val="B36041"/>
      </a:accent1>
      <a:accent2>
        <a:srgbClr val="6F8185"/>
      </a:accent2>
      <a:accent3>
        <a:srgbClr val="C78F8F"/>
      </a:accent3>
      <a:accent4>
        <a:srgbClr val="647961"/>
      </a:accent4>
      <a:accent5>
        <a:srgbClr val="B09C54"/>
      </a:accent5>
      <a:accent6>
        <a:srgbClr val="9AA749"/>
      </a:accent6>
      <a:hlink>
        <a:srgbClr val="75A073"/>
      </a:hlink>
      <a:folHlink>
        <a:srgbClr val="BD9C5C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dulo" id="{37AC43F2-9181-4AE3-B669-CCC580C183C1}" vid="{7A2AE0A7-E8DE-4D1D-AEB1-3FD192448292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755</Words>
  <Application>Microsoft Office PowerPoint</Application>
  <PresentationFormat>Widescreen</PresentationFormat>
  <Paragraphs>129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Arial</vt:lpstr>
      <vt:lpstr>Public Sans</vt:lpstr>
      <vt:lpstr>Public Sans Bold</vt:lpstr>
      <vt:lpstr>Sora ExtraBold</vt:lpstr>
      <vt:lpstr>Sora SemiBold</vt:lpstr>
      <vt:lpstr>Public Sans Medium</vt:lpstr>
      <vt:lpstr>Office Theme</vt:lpstr>
      <vt:lpstr>Modulo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aman singh rawat</cp:lastModifiedBy>
  <cp:revision>3</cp:revision>
  <dcterms:created xsi:type="dcterms:W3CDTF">2026-10-02T06:27:11Z</dcterms:created>
  <dcterms:modified xsi:type="dcterms:W3CDTF">2026-10-02T06:59:16Z</dcterms:modified>
</cp:coreProperties>
</file>