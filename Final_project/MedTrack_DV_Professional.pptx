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9EF86B8F-5850-1FF0-19DF-E73F1D47BDE6}">
          <p14:sldIdLst>
            <p14:sldId id="256"/>
            <p14:sldId id="257"/>
            <p14:sldId id="258"/>
          </p14:sldIdLst>
        </p14:section>
        <p14:section name="Milestones" id="{525FFCAB-0E55-A946-BBFA-6079F4E31D74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Close" id="{72CF53C0-CDA2-8813-690C-0567CAAAD5AB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17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41396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MedTrack_DV as an end-to-end intelligence system turning raw hospital data into executive decision-making tools.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Unifying clinical and administrative data into executive dashboards across four structured phases.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four milestones from data preparation to delivery.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collected from Kaggle, assessed, cleaned in Python and exported as a standard 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core metrics that drive every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Milestone 2 bridged data preparation and dashboard authoring through validation and prototyping.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dashboards, each giving a distinct operational lens.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Hospital-wide operational status: admissions, bed occupancy and monthly inflow, outflow and readmission trends.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Admission vs discharge velocity, length of stay and readmissions, with a wait-time vs stay bottleneck 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Departmental workload, billing, condition mix and readmission risk compared side by side.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Bed capacity, staff deployment and equipment utilization tracked across every department.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Dark executive look with four global cross-filters and parameter-driven navigation.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Validation results: &gt;95% accuracy, zero missing values, one-click reset on all views.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Share the Google Drive link to the final Tableau dashboard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371600"/>
            <a:ext cx="51206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8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2377440"/>
            <a:ext cx="51206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marL="0" indent="0" algn="l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2400" dirty="0"/>
          </a:p>
        </p:txBody>
      </p:sp>
      <p:sp>
        <p:nvSpPr>
          <p:cNvPr id="3" name="Text 0"/>
          <p:cNvSpPr/>
          <p:nvPr/>
        </p:nvSpPr>
        <p:spPr>
          <a:xfrm>
            <a:off x="54864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MedTrack_DV  ·  Hospital Performance Intelligence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548640" y="1143000"/>
            <a:ext cx="548640" cy="45720"/>
          </a:xfrm>
          <a:prstGeom prst="rect">
            <a:avLst/>
          </a:prstGeom>
          <a:solidFill>
            <a:srgbClr val="00F2FE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MtWdLkUd9vMQ8K1q20w_vtM1hxFd0N1p/view?usp=sharing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37160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800" b="1" dirty="0">
                <a:solidFill>
                  <a:schemeClr val="bg1"/>
                </a:solidFill>
              </a:rPr>
              <a:t>MedTrack_DV</a:t>
            </a:r>
            <a:endParaRPr lang="en-US" sz="48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237744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chemeClr val="bg2"/>
                </a:solidFill>
              </a:rPr>
              <a:t>Hospital Performance Intelligence System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960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EXECUTIVE REVIEW  ·  HEALTHCARE INTELLIGENCE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0175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</a:rPr>
              <a:t>From raw healthcare data to decision dashboards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114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</a:rPr>
              <a:t>Presented by Aman Singh Rawat</a:t>
            </a:r>
            <a:endParaRPr lang="en-US" sz="1300" dirty="0"/>
          </a:p>
        </p:txBody>
      </p:sp>
      <p:sp>
        <p:nvSpPr>
          <p:cNvPr id="7" name="Deco bar 0"/>
          <p:cNvSpPr/>
          <p:nvPr/>
        </p:nvSpPr>
        <p:spPr>
          <a:xfrm>
            <a:off x="6309360" y="3108960"/>
            <a:ext cx="237744" cy="10972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Deco bar 1"/>
          <p:cNvSpPr/>
          <p:nvPr/>
        </p:nvSpPr>
        <p:spPr>
          <a:xfrm>
            <a:off x="6675120" y="2468880"/>
            <a:ext cx="237744" cy="17373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Deco bar 2"/>
          <p:cNvSpPr/>
          <p:nvPr/>
        </p:nvSpPr>
        <p:spPr>
          <a:xfrm>
            <a:off x="7040880" y="2834640"/>
            <a:ext cx="237744" cy="13716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Deco bar 3"/>
          <p:cNvSpPr/>
          <p:nvPr/>
        </p:nvSpPr>
        <p:spPr>
          <a:xfrm>
            <a:off x="7406640" y="1828800"/>
            <a:ext cx="237744" cy="23774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Deco bar 4"/>
          <p:cNvSpPr/>
          <p:nvPr/>
        </p:nvSpPr>
        <p:spPr>
          <a:xfrm>
            <a:off x="7772400" y="2377440"/>
            <a:ext cx="237744" cy="18288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Deco bar 5"/>
          <p:cNvSpPr/>
          <p:nvPr/>
        </p:nvSpPr>
        <p:spPr>
          <a:xfrm>
            <a:off x="8138160" y="1463040"/>
            <a:ext cx="237744" cy="274320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Deco bar 6"/>
          <p:cNvSpPr/>
          <p:nvPr/>
        </p:nvSpPr>
        <p:spPr>
          <a:xfrm>
            <a:off x="8503920" y="2011680"/>
            <a:ext cx="237744" cy="21945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bg1"/>
                </a:solidFill>
              </a:rPr>
              <a:t>Raw hospital data became executive dashboards in four milestones</a:t>
            </a:r>
            <a:endParaRPr lang="en-US" sz="2400" dirty="0"/>
          </a:p>
        </p:txBody>
      </p:sp>
      <p:sp>
        <p:nvSpPr>
          <p:cNvPr id="4" name="Card 0"/>
          <p:cNvSpPr/>
          <p:nvPr/>
        </p:nvSpPr>
        <p:spPr>
          <a:xfrm>
            <a:off x="548640" y="1417320"/>
            <a:ext cx="2560320" cy="2377440"/>
          </a:xfrm>
          <a:prstGeom prst="roundRect">
            <a:avLst>
              <a:gd name="adj" fmla="val 3077"/>
            </a:avLst>
          </a:prstGeom>
          <a:solidFill>
            <a:schemeClr val="tx2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5" name="Top accent 0"/>
          <p:cNvSpPr/>
          <p:nvPr/>
        </p:nvSpPr>
        <p:spPr>
          <a:xfrm>
            <a:off x="548640" y="1417320"/>
            <a:ext cx="2560320" cy="5486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459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01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2402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Operational scope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65176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Hospital operations, patient flow, department performance, resource utilization and patient outcomes.</a:t>
            </a:r>
            <a:endParaRPr lang="en-US" sz="1200" dirty="0"/>
          </a:p>
        </p:txBody>
      </p:sp>
      <p:sp>
        <p:nvSpPr>
          <p:cNvPr id="9" name="Card 1"/>
          <p:cNvSpPr/>
          <p:nvPr/>
        </p:nvSpPr>
        <p:spPr>
          <a:xfrm>
            <a:off x="3291840" y="1417320"/>
            <a:ext cx="2560320" cy="2377440"/>
          </a:xfrm>
          <a:prstGeom prst="roundRect">
            <a:avLst>
              <a:gd name="adj" fmla="val 3077"/>
            </a:avLst>
          </a:prstGeom>
          <a:solidFill>
            <a:schemeClr val="tx2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0" name="Top accent 1"/>
          <p:cNvSpPr/>
          <p:nvPr/>
        </p:nvSpPr>
        <p:spPr>
          <a:xfrm>
            <a:off x="3291840" y="1417320"/>
            <a:ext cx="2560320" cy="5486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520440" y="16459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02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3520440" y="22402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End-to-end pipeline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3520440" y="265176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Data preparation, validation, KPI development and dashboarding turn raw data into insight.</a:t>
            </a:r>
            <a:endParaRPr lang="en-US" sz="1200" dirty="0"/>
          </a:p>
        </p:txBody>
      </p:sp>
      <p:sp>
        <p:nvSpPr>
          <p:cNvPr id="14" name="Card 2"/>
          <p:cNvSpPr/>
          <p:nvPr/>
        </p:nvSpPr>
        <p:spPr>
          <a:xfrm>
            <a:off x="6035040" y="1417320"/>
            <a:ext cx="2560320" cy="2377440"/>
          </a:xfrm>
          <a:prstGeom prst="roundRect">
            <a:avLst>
              <a:gd name="adj" fmla="val 3077"/>
            </a:avLst>
          </a:prstGeom>
          <a:solidFill>
            <a:schemeClr val="tx2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5" name="Top accent 2"/>
          <p:cNvSpPr/>
          <p:nvPr/>
        </p:nvSpPr>
        <p:spPr>
          <a:xfrm>
            <a:off x="6035040" y="1417320"/>
            <a:ext cx="2560320" cy="5486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263640" y="16459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03</a:t>
            </a:r>
            <a:endParaRPr lang="en-US" sz="2800" dirty="0"/>
          </a:p>
        </p:txBody>
      </p:sp>
      <p:sp>
        <p:nvSpPr>
          <p:cNvPr id="17" name="Text 14"/>
          <p:cNvSpPr txBox="1"/>
          <p:nvPr/>
        </p:nvSpPr>
        <p:spPr>
          <a:xfrm>
            <a:off x="6263640" y="22402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Executive decision focus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6263640" y="265176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Bridges transactional records and strategic hospital management with timely, actionable intelligence.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40690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bg2"/>
                </a:solidFill>
              </a:rPr>
              <a:t>Structured delivery lifecycle with data governance from ingestion to visual analytics.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bg1"/>
                </a:solidFill>
              </a:rPr>
              <a:t>Four milestones took the project from data to deployment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914400" y="2103120"/>
            <a:ext cx="7315200" cy="0"/>
          </a:xfrm>
          <a:prstGeom prst="line">
            <a:avLst/>
          </a:prstGeom>
          <a:noFill/>
          <a:ln w="25400">
            <a:solidFill>
              <a:srgbClr val="334155"/>
            </a:solidFill>
            <a:prstDash val="solid"/>
          </a:ln>
        </p:spPr>
      </p:sp>
      <p:sp>
        <p:nvSpPr>
          <p:cNvPr id="5" name="Node M1"/>
          <p:cNvSpPr/>
          <p:nvPr/>
        </p:nvSpPr>
        <p:spPr>
          <a:xfrm>
            <a:off x="1005840" y="18288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0584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M1</a:t>
            </a:r>
            <a:endParaRPr lang="en-US" sz="1400" dirty="0"/>
          </a:p>
        </p:txBody>
      </p:sp>
      <p:sp>
        <p:nvSpPr>
          <p:cNvPr id="7" name="Milestone card 1"/>
          <p:cNvSpPr/>
          <p:nvPr/>
        </p:nvSpPr>
        <p:spPr>
          <a:xfrm>
            <a:off x="274320" y="2743200"/>
            <a:ext cx="2011680" cy="146304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29260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1"/>
                </a:solidFill>
              </a:rPr>
              <a:t>MILESTONE 1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2461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</a:rPr>
              <a:t>Data collection and preparation</a:t>
            </a:r>
            <a:endParaRPr lang="en-US" sz="1300" dirty="0"/>
          </a:p>
        </p:txBody>
      </p:sp>
      <p:sp>
        <p:nvSpPr>
          <p:cNvPr id="10" name="Node M2"/>
          <p:cNvSpPr/>
          <p:nvPr/>
        </p:nvSpPr>
        <p:spPr>
          <a:xfrm>
            <a:off x="3200400" y="18288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20040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M2</a:t>
            </a:r>
            <a:endParaRPr lang="en-US" sz="1400" dirty="0"/>
          </a:p>
        </p:txBody>
      </p:sp>
      <p:sp>
        <p:nvSpPr>
          <p:cNvPr id="12" name="Milestone card 2"/>
          <p:cNvSpPr/>
          <p:nvPr/>
        </p:nvSpPr>
        <p:spPr>
          <a:xfrm>
            <a:off x="2468880" y="2743200"/>
            <a:ext cx="2011680" cy="146304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651760" y="29260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1"/>
                </a:solidFill>
              </a:rPr>
              <a:t>MILESTONE 2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2651760" y="32461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</a:rPr>
              <a:t>KPI development and dashboard preparation</a:t>
            </a:r>
            <a:endParaRPr lang="en-US" sz="1300" dirty="0"/>
          </a:p>
        </p:txBody>
      </p:sp>
      <p:sp>
        <p:nvSpPr>
          <p:cNvPr id="15" name="Node M3"/>
          <p:cNvSpPr/>
          <p:nvPr/>
        </p:nvSpPr>
        <p:spPr>
          <a:xfrm>
            <a:off x="5394960" y="18288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39496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M3</a:t>
            </a:r>
            <a:endParaRPr lang="en-US" sz="1400" dirty="0"/>
          </a:p>
        </p:txBody>
      </p:sp>
      <p:sp>
        <p:nvSpPr>
          <p:cNvPr id="17" name="Milestone card 3"/>
          <p:cNvSpPr/>
          <p:nvPr/>
        </p:nvSpPr>
        <p:spPr>
          <a:xfrm>
            <a:off x="4663440" y="2743200"/>
            <a:ext cx="2011680" cy="146304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846320" y="29260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1"/>
                </a:solidFill>
              </a:rPr>
              <a:t>MILESTONE 3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4846320" y="32461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</a:rPr>
              <a:t>Dashboard development and integration</a:t>
            </a:r>
            <a:endParaRPr lang="en-US" sz="1300" dirty="0"/>
          </a:p>
        </p:txBody>
      </p:sp>
      <p:sp>
        <p:nvSpPr>
          <p:cNvPr id="20" name="Node M4"/>
          <p:cNvSpPr/>
          <p:nvPr/>
        </p:nvSpPr>
        <p:spPr>
          <a:xfrm>
            <a:off x="7589520" y="18288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58952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M4</a:t>
            </a:r>
            <a:endParaRPr lang="en-US" sz="1400" dirty="0"/>
          </a:p>
        </p:txBody>
      </p:sp>
      <p:sp>
        <p:nvSpPr>
          <p:cNvPr id="22" name="Milestone card 4"/>
          <p:cNvSpPr/>
          <p:nvPr/>
        </p:nvSpPr>
        <p:spPr>
          <a:xfrm>
            <a:off x="6858000" y="2743200"/>
            <a:ext cx="2011680" cy="146304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040880" y="29260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1"/>
                </a:solidFill>
              </a:rPr>
              <a:t>MILESTONE 4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7040880" y="32461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</a:rPr>
              <a:t>Testing, validation and delivery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bg1"/>
                </a:solidFill>
              </a:rPr>
              <a:t>Milestone 1 turned a Kaggle dataset into a clean, analysis-ready file</a:t>
            </a:r>
            <a:endParaRPr lang="en-US" sz="2400" dirty="0"/>
          </a:p>
        </p:txBody>
      </p:sp>
      <p:sp>
        <p:nvSpPr>
          <p:cNvPr id="4" name="Stage 0"/>
          <p:cNvSpPr/>
          <p:nvPr/>
        </p:nvSpPr>
        <p:spPr>
          <a:xfrm>
            <a:off x="548640" y="1417320"/>
            <a:ext cx="1828800" cy="182880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13232" y="157276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1"/>
                </a:solidFill>
              </a:rPr>
              <a:t>STEP 1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713232" y="184708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Raw data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13232" y="224028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</a:rPr>
              <a:t>Collected from Kaggle and loaded with Python.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2377440" y="21031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2"/>
                </a:solidFill>
              </a:rPr>
              <a:t>›</a:t>
            </a:r>
            <a:endParaRPr lang="en-US" sz="2200" dirty="0"/>
          </a:p>
        </p:txBody>
      </p:sp>
      <p:sp>
        <p:nvSpPr>
          <p:cNvPr id="9" name="Stage 1"/>
          <p:cNvSpPr/>
          <p:nvPr/>
        </p:nvSpPr>
        <p:spPr>
          <a:xfrm>
            <a:off x="2651760" y="1417320"/>
            <a:ext cx="1828800" cy="182880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816352" y="157276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1"/>
                </a:solidFill>
              </a:rPr>
              <a:t>STEP 2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2816352" y="184708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Quality assessment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2816352" y="224028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</a:rPr>
              <a:t>Checks for missing values, duplicates, wrong data types, invalid dates, inconsistent categories.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4480560" y="21031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2"/>
                </a:solidFill>
              </a:rPr>
              <a:t>›</a:t>
            </a:r>
            <a:endParaRPr lang="en-US" sz="2200" dirty="0"/>
          </a:p>
        </p:txBody>
      </p:sp>
      <p:sp>
        <p:nvSpPr>
          <p:cNvPr id="14" name="Stage 2"/>
          <p:cNvSpPr/>
          <p:nvPr/>
        </p:nvSpPr>
        <p:spPr>
          <a:xfrm>
            <a:off x="4754880" y="1417320"/>
            <a:ext cx="1828800" cy="182880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919472" y="157276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1"/>
                </a:solidFill>
              </a:rPr>
              <a:t>STEP 3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4919472" y="184708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Cleaning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4919472" y="224028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</a:rPr>
              <a:t>Cleaned in Python notebooks.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583680" y="21031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2"/>
                </a:solidFill>
              </a:rPr>
              <a:t>›</a:t>
            </a:r>
            <a:endParaRPr lang="en-US" sz="2200" dirty="0"/>
          </a:p>
        </p:txBody>
      </p:sp>
      <p:sp>
        <p:nvSpPr>
          <p:cNvPr id="19" name="Stage 3"/>
          <p:cNvSpPr/>
          <p:nvPr/>
        </p:nvSpPr>
        <p:spPr>
          <a:xfrm>
            <a:off x="6858000" y="1417320"/>
            <a:ext cx="1828800" cy="182880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022592" y="157276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1"/>
                </a:solidFill>
              </a:rPr>
              <a:t>STEP 4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7022592" y="184708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Clean CSV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7022592" y="224028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</a:rPr>
              <a:t>Standardized CSV for Milestone 2.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34747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2"/>
                </a:solidFill>
              </a:rPr>
              <a:t>WHAT THE DATA COVERS</a:t>
            </a:r>
            <a:endParaRPr lang="en-US" sz="1000" dirty="0"/>
          </a:p>
        </p:txBody>
      </p:sp>
      <p:sp>
        <p:nvSpPr>
          <p:cNvPr id="24" name="Data chip 0"/>
          <p:cNvSpPr/>
          <p:nvPr/>
        </p:nvSpPr>
        <p:spPr>
          <a:xfrm>
            <a:off x="548640" y="3749040"/>
            <a:ext cx="2560320" cy="777240"/>
          </a:xfrm>
          <a:prstGeom prst="roundRect">
            <a:avLst>
              <a:gd name="adj" fmla="val 9412"/>
            </a:avLst>
          </a:prstGeom>
          <a:solidFill>
            <a:schemeClr val="tx2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85800" y="38221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</a:rPr>
              <a:t>Admissions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685800" y="40690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</a:rPr>
              <a:t>Patient and hospital identifiers, admission and discharge details</a:t>
            </a:r>
            <a:endParaRPr lang="en-US" sz="1000" dirty="0"/>
          </a:p>
        </p:txBody>
      </p:sp>
      <p:sp>
        <p:nvSpPr>
          <p:cNvPr id="27" name="Data chip 1"/>
          <p:cNvSpPr/>
          <p:nvPr/>
        </p:nvSpPr>
        <p:spPr>
          <a:xfrm>
            <a:off x="3291840" y="3749040"/>
            <a:ext cx="2560320" cy="777240"/>
          </a:xfrm>
          <a:prstGeom prst="roundRect">
            <a:avLst>
              <a:gd name="adj" fmla="val 9412"/>
            </a:avLst>
          </a:prstGeom>
          <a:solidFill>
            <a:schemeClr val="tx2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429000" y="38221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</a:rPr>
              <a:t>Departments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3429000" y="40690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</a:rPr>
              <a:t>Department types, demographics, readmission information</a:t>
            </a:r>
            <a:endParaRPr lang="en-US" sz="1000" dirty="0"/>
          </a:p>
        </p:txBody>
      </p:sp>
      <p:sp>
        <p:nvSpPr>
          <p:cNvPr id="30" name="Data chip 2"/>
          <p:cNvSpPr/>
          <p:nvPr/>
        </p:nvSpPr>
        <p:spPr>
          <a:xfrm>
            <a:off x="6035040" y="3749040"/>
            <a:ext cx="2560320" cy="777240"/>
          </a:xfrm>
          <a:prstGeom prst="roundRect">
            <a:avLst>
              <a:gd name="adj" fmla="val 9412"/>
            </a:avLst>
          </a:prstGeom>
          <a:solidFill>
            <a:schemeClr val="tx2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172200" y="38221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</a:rPr>
              <a:t>Billing &amp; resources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6172200" y="40690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</a:rPr>
              <a:t>Billing, test-result and resource fields used for KPIs</a:t>
            </a:r>
            <a:endParaRPr lang="en-US" sz="10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bg1"/>
                </a:solidFill>
              </a:rPr>
              <a:t>Six KPIs measure how the hospital performs</a:t>
            </a:r>
            <a:endParaRPr lang="en-US" sz="2400" dirty="0"/>
          </a:p>
        </p:txBody>
      </p:sp>
      <p:sp>
        <p:nvSpPr>
          <p:cNvPr id="4" name="KPI 1"/>
          <p:cNvSpPr/>
          <p:nvPr/>
        </p:nvSpPr>
        <p:spPr>
          <a:xfrm>
            <a:off x="548640" y="1371600"/>
            <a:ext cx="2560320" cy="1417320"/>
          </a:xfrm>
          <a:prstGeom prst="roundRect">
            <a:avLst>
              <a:gd name="adj" fmla="val 5161"/>
            </a:avLst>
          </a:prstGeom>
          <a:solidFill>
            <a:schemeClr val="tx2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5361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01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1874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Total Admissions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21284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</a:rPr>
              <a:t>Total admission records</a:t>
            </a:r>
            <a:endParaRPr lang="en-US" sz="1100" dirty="0"/>
          </a:p>
        </p:txBody>
      </p:sp>
      <p:sp>
        <p:nvSpPr>
          <p:cNvPr id="8" name="KPI 2"/>
          <p:cNvSpPr/>
          <p:nvPr/>
        </p:nvSpPr>
        <p:spPr>
          <a:xfrm>
            <a:off x="3291840" y="1371600"/>
            <a:ext cx="2560320" cy="1417320"/>
          </a:xfrm>
          <a:prstGeom prst="roundRect">
            <a:avLst>
              <a:gd name="adj" fmla="val 5161"/>
            </a:avLst>
          </a:prstGeom>
          <a:solidFill>
            <a:schemeClr val="tx2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474720" y="15361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02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3474720" y="1874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Occupancy Rate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3474720" y="221284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</a:rPr>
              <a:t>Occupied beds relative to total beds</a:t>
            </a:r>
            <a:endParaRPr lang="en-US" sz="1100" dirty="0"/>
          </a:p>
        </p:txBody>
      </p:sp>
      <p:sp>
        <p:nvSpPr>
          <p:cNvPr id="12" name="KPI 3"/>
          <p:cNvSpPr/>
          <p:nvPr/>
        </p:nvSpPr>
        <p:spPr>
          <a:xfrm>
            <a:off x="6035040" y="1371600"/>
            <a:ext cx="2560320" cy="1417320"/>
          </a:xfrm>
          <a:prstGeom prst="roundRect">
            <a:avLst>
              <a:gd name="adj" fmla="val 5161"/>
            </a:avLst>
          </a:prstGeom>
          <a:solidFill>
            <a:schemeClr val="tx2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217920" y="15361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03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6217920" y="1874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Average Length of Stay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6217920" y="221284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</a:rPr>
              <a:t>Average days patients stay</a:t>
            </a:r>
            <a:endParaRPr lang="en-US" sz="1100" dirty="0"/>
          </a:p>
        </p:txBody>
      </p:sp>
      <p:sp>
        <p:nvSpPr>
          <p:cNvPr id="16" name="KPI 4"/>
          <p:cNvSpPr/>
          <p:nvPr/>
        </p:nvSpPr>
        <p:spPr>
          <a:xfrm>
            <a:off x="548640" y="2971800"/>
            <a:ext cx="2560320" cy="1417320"/>
          </a:xfrm>
          <a:prstGeom prst="roundRect">
            <a:avLst>
              <a:gd name="adj" fmla="val 5161"/>
            </a:avLst>
          </a:prstGeom>
          <a:solidFill>
            <a:schemeClr val="tx2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31520" y="3136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04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731520" y="34747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Readmission Rate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731520" y="381304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</a:rPr>
              <a:t>Percentage of patients identified as readmissions</a:t>
            </a:r>
            <a:endParaRPr lang="en-US" sz="1100" dirty="0"/>
          </a:p>
        </p:txBody>
      </p:sp>
      <p:sp>
        <p:nvSpPr>
          <p:cNvPr id="20" name="KPI 5"/>
          <p:cNvSpPr/>
          <p:nvPr/>
        </p:nvSpPr>
        <p:spPr>
          <a:xfrm>
            <a:off x="3291840" y="2971800"/>
            <a:ext cx="2560320" cy="1417320"/>
          </a:xfrm>
          <a:prstGeom prst="roundRect">
            <a:avLst>
              <a:gd name="adj" fmla="val 5161"/>
            </a:avLst>
          </a:prstGeom>
          <a:solidFill>
            <a:schemeClr val="tx2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474720" y="3136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05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3474720" y="34747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Bed Utilization Rate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3474720" y="381304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</a:rPr>
              <a:t>Use of available bed capacity</a:t>
            </a:r>
            <a:endParaRPr lang="en-US" sz="1100" dirty="0"/>
          </a:p>
        </p:txBody>
      </p:sp>
      <p:sp>
        <p:nvSpPr>
          <p:cNvPr id="24" name="KPI 6"/>
          <p:cNvSpPr/>
          <p:nvPr/>
        </p:nvSpPr>
        <p:spPr>
          <a:xfrm>
            <a:off x="6035040" y="2971800"/>
            <a:ext cx="2560320" cy="1417320"/>
          </a:xfrm>
          <a:prstGeom prst="roundRect">
            <a:avLst>
              <a:gd name="adj" fmla="val 5161"/>
            </a:avLst>
          </a:prstGeom>
          <a:solidFill>
            <a:schemeClr val="tx2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217920" y="3136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06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6217920" y="34747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Department Efficiency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6217920" y="381304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</a:rPr>
              <a:t>Department-level operational performance</a:t>
            </a:r>
            <a:endParaRPr lang="en-US" sz="11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bg1"/>
                </a:solidFill>
              </a:rPr>
              <a:t>Milestone 2 validated the data, built the KPIs and planned the dashboard</a:t>
            </a:r>
            <a:endParaRPr lang="en-US" sz="2400" dirty="0"/>
          </a:p>
        </p:txBody>
      </p:sp>
      <p:sp>
        <p:nvSpPr>
          <p:cNvPr id="4" name="Phase 0"/>
          <p:cNvSpPr/>
          <p:nvPr/>
        </p:nvSpPr>
        <p:spPr>
          <a:xfrm>
            <a:off x="548640" y="1371600"/>
            <a:ext cx="2560320" cy="182880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5" name="Phase tick 0"/>
          <p:cNvSpPr/>
          <p:nvPr/>
        </p:nvSpPr>
        <p:spPr>
          <a:xfrm>
            <a:off x="731520" y="1554480"/>
            <a:ext cx="457200" cy="457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69164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1"/>
                </a:solidFill>
              </a:rPr>
              <a:t>PHASE 2.1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0116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Data Validation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4231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Cleaned dataset validated before any KPI calculation.</a:t>
            </a:r>
            <a:endParaRPr lang="en-US" sz="1200" dirty="0"/>
          </a:p>
        </p:txBody>
      </p:sp>
      <p:sp>
        <p:nvSpPr>
          <p:cNvPr id="9" name="Phase 1"/>
          <p:cNvSpPr/>
          <p:nvPr/>
        </p:nvSpPr>
        <p:spPr>
          <a:xfrm>
            <a:off x="3291840" y="1371600"/>
            <a:ext cx="2560320" cy="182880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0" name="Phase tick 1"/>
          <p:cNvSpPr/>
          <p:nvPr/>
        </p:nvSpPr>
        <p:spPr>
          <a:xfrm>
            <a:off x="3474720" y="1554480"/>
            <a:ext cx="457200" cy="457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474720" y="169164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1"/>
                </a:solidFill>
              </a:rPr>
              <a:t>PHASE 2.2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3474720" y="20116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Excel Modeling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3474720" y="24231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Final dataset exported to Excel for dashboard work.</a:t>
            </a:r>
            <a:endParaRPr lang="en-US" sz="1200" dirty="0"/>
          </a:p>
        </p:txBody>
      </p:sp>
      <p:sp>
        <p:nvSpPr>
          <p:cNvPr id="14" name="Phase 2"/>
          <p:cNvSpPr/>
          <p:nvPr/>
        </p:nvSpPr>
        <p:spPr>
          <a:xfrm>
            <a:off x="6035040" y="1371600"/>
            <a:ext cx="2560320" cy="182880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5" name="Phase tick 2"/>
          <p:cNvSpPr/>
          <p:nvPr/>
        </p:nvSpPr>
        <p:spPr>
          <a:xfrm>
            <a:off x="6217920" y="1554480"/>
            <a:ext cx="457200" cy="457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217920" y="169164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1"/>
                </a:solidFill>
              </a:rPr>
              <a:t>PHASE 2.3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6217920" y="20116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Storyboard &amp; Prototype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6217920" y="24231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Storyboard and an initial Tableau prototype verified the approach.</a:t>
            </a:r>
            <a:endParaRPr lang="en-US" sz="1200" dirty="0"/>
          </a:p>
        </p:txBody>
      </p:sp>
      <p:sp>
        <p:nvSpPr>
          <p:cNvPr id="19" name="Callout"/>
          <p:cNvSpPr/>
          <p:nvPr/>
        </p:nvSpPr>
        <p:spPr>
          <a:xfrm>
            <a:off x="548640" y="3474720"/>
            <a:ext cx="8046720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0" name="Callout accent"/>
          <p:cNvSpPr/>
          <p:nvPr/>
        </p:nvSpPr>
        <p:spPr>
          <a:xfrm>
            <a:off x="548640" y="3474720"/>
            <a:ext cx="73152" cy="100584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2960" y="3611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Pre-development verification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822960" y="393192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Wireframing interactions, view hierarchies and KPI formulas eliminated scope creep and confirmed technical feasibility before full Tableau authoring.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bg1"/>
                </a:solidFill>
              </a:rPr>
              <a:t>Milestone 3 delivered four interactive Tableau dashboards</a:t>
            </a:r>
            <a:endParaRPr lang="en-US" sz="2400" dirty="0"/>
          </a:p>
        </p:txBody>
      </p:sp>
      <p:sp>
        <p:nvSpPr>
          <p:cNvPr id="4" name="Dashboard 1"/>
          <p:cNvSpPr/>
          <p:nvPr/>
        </p:nvSpPr>
        <p:spPr>
          <a:xfrm>
            <a:off x="548640" y="1371600"/>
            <a:ext cx="3931920" cy="146304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5" name="Accent 1"/>
          <p:cNvSpPr/>
          <p:nvPr/>
        </p:nvSpPr>
        <p:spPr>
          <a:xfrm>
            <a:off x="548640" y="1508760"/>
            <a:ext cx="64008" cy="11887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16002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Hospital Overview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0116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Executive KPIs and monthly occupancy trends</a:t>
            </a:r>
            <a:endParaRPr lang="en-US" sz="1200" dirty="0"/>
          </a:p>
        </p:txBody>
      </p:sp>
      <p:sp>
        <p:nvSpPr>
          <p:cNvPr id="8" name="Dashboard 2"/>
          <p:cNvSpPr/>
          <p:nvPr/>
        </p:nvSpPr>
        <p:spPr>
          <a:xfrm>
            <a:off x="4663440" y="1371600"/>
            <a:ext cx="3931920" cy="146304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9" name="Accent 2"/>
          <p:cNvSpPr/>
          <p:nvPr/>
        </p:nvSpPr>
        <p:spPr>
          <a:xfrm>
            <a:off x="4663440" y="1508760"/>
            <a:ext cx="64008" cy="118872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937760" y="16002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Patient Flow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4937760" y="20116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Admissions vs discharges, length of stay by department, peak load</a:t>
            </a:r>
            <a:endParaRPr lang="en-US" sz="1200" dirty="0"/>
          </a:p>
        </p:txBody>
      </p:sp>
      <p:sp>
        <p:nvSpPr>
          <p:cNvPr id="12" name="Dashboard 3"/>
          <p:cNvSpPr/>
          <p:nvPr/>
        </p:nvSpPr>
        <p:spPr>
          <a:xfrm>
            <a:off x="548640" y="3017520"/>
            <a:ext cx="3931920" cy="146304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3" name="Accent 3"/>
          <p:cNvSpPr/>
          <p:nvPr/>
        </p:nvSpPr>
        <p:spPr>
          <a:xfrm>
            <a:off x="548640" y="3154680"/>
            <a:ext cx="64008" cy="118872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2960" y="32461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Department Analytics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" y="36576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Efficiency comparison, capacity vs occupancy tree maps, staff distribution</a:t>
            </a:r>
            <a:endParaRPr lang="en-US" sz="1200" dirty="0"/>
          </a:p>
        </p:txBody>
      </p:sp>
      <p:sp>
        <p:nvSpPr>
          <p:cNvPr id="16" name="Dashboard 4"/>
          <p:cNvSpPr/>
          <p:nvPr/>
        </p:nvSpPr>
        <p:spPr>
          <a:xfrm>
            <a:off x="4663440" y="3017520"/>
            <a:ext cx="3931920" cy="146304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7" name="Accent 4"/>
          <p:cNvSpPr/>
          <p:nvPr/>
        </p:nvSpPr>
        <p:spPr>
          <a:xfrm>
            <a:off x="4663440" y="3154680"/>
            <a:ext cx="64008" cy="118872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937760" y="32461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Resource Utilization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4937760" y="36576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Bed utilization, active clinical staff, equipment grids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bg1"/>
                </a:solidFill>
              </a:rPr>
              <a:t>Dashboard 1 · Hospital Overview</a:t>
            </a:r>
            <a:endParaRPr lang="en-US" sz="2400" dirty="0"/>
          </a:p>
        </p:txBody>
      </p:sp>
      <p:sp>
        <p:nvSpPr>
          <p:cNvPr id="4" name="Browser frame 1"/>
          <p:cNvSpPr/>
          <p:nvPr/>
        </p:nvSpPr>
        <p:spPr>
          <a:xfrm>
            <a:off x="548640" y="1371600"/>
            <a:ext cx="4846320" cy="3154680"/>
          </a:xfrm>
          <a:prstGeom prst="roundRect">
            <a:avLst>
              <a:gd name="adj" fmla="val 2319"/>
            </a:avLst>
          </a:prstGeom>
          <a:solidFill>
            <a:schemeClr val="tx2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5" name="Dot 0"/>
          <p:cNvSpPr/>
          <p:nvPr/>
        </p:nvSpPr>
        <p:spPr>
          <a:xfrm>
            <a:off x="685800" y="146304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6" name="Dot 1"/>
          <p:cNvSpPr/>
          <p:nvPr/>
        </p:nvSpPr>
        <p:spPr>
          <a:xfrm>
            <a:off x="841248" y="1463040"/>
            <a:ext cx="91440" cy="914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Dot 2"/>
          <p:cNvSpPr/>
          <p:nvPr/>
        </p:nvSpPr>
        <p:spPr>
          <a:xfrm>
            <a:off x="996696" y="1463040"/>
            <a:ext cx="91440" cy="914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8" name="Image 0" descr="Hospital Overview dashboard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554" y="1691640"/>
            <a:ext cx="4396491" cy="27432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669280" y="137160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1"/>
                </a:solidFill>
              </a:rPr>
              <a:t>DASHBOARD 1 OF 4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5669280" y="166420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Hospital-wide status at a glance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5669280" y="22402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</a:rPr>
              <a:t>Hospital-wide operational status: admissions, bed occupancy and monthly inflow, outflow and readmission trends.</a:t>
            </a:r>
            <a:endParaRPr lang="en-US" sz="1100" dirty="0"/>
          </a:p>
        </p:txBody>
      </p:sp>
      <p:sp>
        <p:nvSpPr>
          <p:cNvPr id="12" name="Bullet bar 0"/>
          <p:cNvSpPr/>
          <p:nvPr/>
        </p:nvSpPr>
        <p:spPr>
          <a:xfrm>
            <a:off x="5669280" y="3246120"/>
            <a:ext cx="64008" cy="29260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5852160" y="32004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</a:rPr>
              <a:t>19,554 admissions · 76.71% occupancy · 4.91-day average stay</a:t>
            </a:r>
            <a:endParaRPr lang="en-US" sz="1050" dirty="0"/>
          </a:p>
        </p:txBody>
      </p:sp>
      <p:sp>
        <p:nvSpPr>
          <p:cNvPr id="14" name="Bullet bar 1"/>
          <p:cNvSpPr/>
          <p:nvPr/>
        </p:nvSpPr>
        <p:spPr>
          <a:xfrm>
            <a:off x="5669280" y="3703320"/>
            <a:ext cx="64008" cy="29260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5852160" y="36576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</a:rPr>
              <a:t>General Medicine leads admissions with 6,307 patients</a:t>
            </a:r>
            <a:endParaRPr lang="en-US" sz="1050" dirty="0"/>
          </a:p>
        </p:txBody>
      </p:sp>
      <p:sp>
        <p:nvSpPr>
          <p:cNvPr id="16" name="Bullet bar 2"/>
          <p:cNvSpPr/>
          <p:nvPr/>
        </p:nvSpPr>
        <p:spPr>
          <a:xfrm>
            <a:off x="5669280" y="4160520"/>
            <a:ext cx="64008" cy="29260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5852160" y="41148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</a:rPr>
              <a:t>ICU has the longest average stay at 7.9 days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bg1"/>
                </a:solidFill>
              </a:rPr>
              <a:t>Dashboard 2 · Patient Flow</a:t>
            </a:r>
            <a:endParaRPr lang="en-US" sz="2400" dirty="0"/>
          </a:p>
        </p:txBody>
      </p:sp>
      <p:sp>
        <p:nvSpPr>
          <p:cNvPr id="4" name="Browser frame 2"/>
          <p:cNvSpPr/>
          <p:nvPr/>
        </p:nvSpPr>
        <p:spPr>
          <a:xfrm>
            <a:off x="548640" y="1371600"/>
            <a:ext cx="4846320" cy="3154680"/>
          </a:xfrm>
          <a:prstGeom prst="roundRect">
            <a:avLst>
              <a:gd name="adj" fmla="val 2319"/>
            </a:avLst>
          </a:prstGeom>
          <a:solidFill>
            <a:schemeClr val="tx2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5" name="Dot 0"/>
          <p:cNvSpPr/>
          <p:nvPr/>
        </p:nvSpPr>
        <p:spPr>
          <a:xfrm>
            <a:off x="685800" y="146304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6" name="Dot 1"/>
          <p:cNvSpPr/>
          <p:nvPr/>
        </p:nvSpPr>
        <p:spPr>
          <a:xfrm>
            <a:off x="841248" y="1463040"/>
            <a:ext cx="91440" cy="914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Dot 2"/>
          <p:cNvSpPr/>
          <p:nvPr/>
        </p:nvSpPr>
        <p:spPr>
          <a:xfrm>
            <a:off x="996696" y="1463040"/>
            <a:ext cx="91440" cy="914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8" name="Image 0" descr="Patient Flow dashboard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895256"/>
            <a:ext cx="4663440" cy="2335967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669280" y="137160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1"/>
                </a:solidFill>
              </a:rPr>
              <a:t>DASHBOARD 2 OF 4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5669280" y="166420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How patients move through the hospital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5669280" y="22402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</a:rPr>
              <a:t>Admission vs discharge velocity, length of stay and readmissions, with a wait-time vs stay bottleneck view.</a:t>
            </a:r>
            <a:endParaRPr lang="en-US" sz="1100" dirty="0"/>
          </a:p>
        </p:txBody>
      </p:sp>
      <p:sp>
        <p:nvSpPr>
          <p:cNvPr id="12" name="Bullet bar 0"/>
          <p:cNvSpPr/>
          <p:nvPr/>
        </p:nvSpPr>
        <p:spPr>
          <a:xfrm>
            <a:off x="5669280" y="3246120"/>
            <a:ext cx="64008" cy="29260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5852160" y="32004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</a:rPr>
              <a:t>19,554 admissions matched by 19,554 discharges</a:t>
            </a:r>
            <a:endParaRPr lang="en-US" sz="1050" dirty="0"/>
          </a:p>
        </p:txBody>
      </p:sp>
      <p:sp>
        <p:nvSpPr>
          <p:cNvPr id="14" name="Bullet bar 1"/>
          <p:cNvSpPr/>
          <p:nvPr/>
        </p:nvSpPr>
        <p:spPr>
          <a:xfrm>
            <a:off x="5669280" y="3703320"/>
            <a:ext cx="64008" cy="29260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5852160" y="36576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</a:rPr>
              <a:t>Pediatrics: highest readmission (15.0%) and bed utilization (80.3%)</a:t>
            </a:r>
            <a:endParaRPr lang="en-US" sz="1050" dirty="0"/>
          </a:p>
        </p:txBody>
      </p:sp>
      <p:sp>
        <p:nvSpPr>
          <p:cNvPr id="16" name="Bullet bar 2"/>
          <p:cNvSpPr/>
          <p:nvPr/>
        </p:nvSpPr>
        <p:spPr>
          <a:xfrm>
            <a:off x="5669280" y="4160520"/>
            <a:ext cx="64008" cy="29260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5852160" y="41148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</a:rPr>
              <a:t>Average wait of 2.75 hours and a 7.9% readmission rate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bg1"/>
                </a:solidFill>
              </a:rPr>
              <a:t>Dashboard 3 · Department Analytics</a:t>
            </a:r>
            <a:endParaRPr lang="en-US" sz="2400" dirty="0"/>
          </a:p>
        </p:txBody>
      </p:sp>
      <p:sp>
        <p:nvSpPr>
          <p:cNvPr id="4" name="Browser frame 3"/>
          <p:cNvSpPr/>
          <p:nvPr/>
        </p:nvSpPr>
        <p:spPr>
          <a:xfrm>
            <a:off x="548640" y="1371600"/>
            <a:ext cx="4846320" cy="3154680"/>
          </a:xfrm>
          <a:prstGeom prst="roundRect">
            <a:avLst>
              <a:gd name="adj" fmla="val 2319"/>
            </a:avLst>
          </a:prstGeom>
          <a:solidFill>
            <a:schemeClr val="tx2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5" name="Dot 0"/>
          <p:cNvSpPr/>
          <p:nvPr/>
        </p:nvSpPr>
        <p:spPr>
          <a:xfrm>
            <a:off x="685800" y="146304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6" name="Dot 1"/>
          <p:cNvSpPr/>
          <p:nvPr/>
        </p:nvSpPr>
        <p:spPr>
          <a:xfrm>
            <a:off x="841248" y="1463040"/>
            <a:ext cx="91440" cy="914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Dot 2"/>
          <p:cNvSpPr/>
          <p:nvPr/>
        </p:nvSpPr>
        <p:spPr>
          <a:xfrm>
            <a:off x="996696" y="1463040"/>
            <a:ext cx="91440" cy="914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8" name="Image 0" descr="Department Analytics dashboard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870066"/>
            <a:ext cx="4663440" cy="2386347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669280" y="137160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1"/>
                </a:solidFill>
              </a:rPr>
              <a:t>DASHBOARD 3 OF 4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5669280" y="166420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Which departments carry the load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5669280" y="22402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</a:rPr>
              <a:t>Departmental workload, billing, condition mix and readmission risk compared side by side.</a:t>
            </a:r>
            <a:endParaRPr lang="en-US" sz="1100" dirty="0"/>
          </a:p>
        </p:txBody>
      </p:sp>
      <p:sp>
        <p:nvSpPr>
          <p:cNvPr id="12" name="Bullet bar 0"/>
          <p:cNvSpPr/>
          <p:nvPr/>
        </p:nvSpPr>
        <p:spPr>
          <a:xfrm>
            <a:off x="5669280" y="3246120"/>
            <a:ext cx="64008" cy="29260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5852160" y="32004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</a:rPr>
              <a:t>7 active departments with an average stay of 4.9 days</a:t>
            </a:r>
            <a:endParaRPr lang="en-US" sz="1050" dirty="0"/>
          </a:p>
        </p:txBody>
      </p:sp>
      <p:sp>
        <p:nvSpPr>
          <p:cNvPr id="14" name="Bullet bar 1"/>
          <p:cNvSpPr/>
          <p:nvPr/>
        </p:nvSpPr>
        <p:spPr>
          <a:xfrm>
            <a:off x="5669280" y="3703320"/>
            <a:ext cx="64008" cy="29260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5852160" y="36576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</a:rPr>
              <a:t>General Medicine leads billing (₹159.6M) and workload (6,307 admissions)</a:t>
            </a:r>
            <a:endParaRPr lang="en-US" sz="1050" dirty="0"/>
          </a:p>
        </p:txBody>
      </p:sp>
      <p:sp>
        <p:nvSpPr>
          <p:cNvPr id="16" name="Bullet bar 2"/>
          <p:cNvSpPr/>
          <p:nvPr/>
        </p:nvSpPr>
        <p:spPr>
          <a:xfrm>
            <a:off x="5669280" y="4160520"/>
            <a:ext cx="64008" cy="29260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5852160" y="41148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</a:rPr>
              <a:t>Condition heatmap covers six conditions across all departments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bg1"/>
                </a:solidFill>
              </a:rPr>
              <a:t>Dashboard 4 · Resource Utilization</a:t>
            </a:r>
            <a:endParaRPr lang="en-US" sz="2400" dirty="0"/>
          </a:p>
        </p:txBody>
      </p:sp>
      <p:sp>
        <p:nvSpPr>
          <p:cNvPr id="4" name="Browser frame 4"/>
          <p:cNvSpPr/>
          <p:nvPr/>
        </p:nvSpPr>
        <p:spPr>
          <a:xfrm>
            <a:off x="548640" y="1371600"/>
            <a:ext cx="4846320" cy="3154680"/>
          </a:xfrm>
          <a:prstGeom prst="roundRect">
            <a:avLst>
              <a:gd name="adj" fmla="val 2319"/>
            </a:avLst>
          </a:prstGeom>
          <a:solidFill>
            <a:schemeClr val="tx2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5" name="Dot 0"/>
          <p:cNvSpPr/>
          <p:nvPr/>
        </p:nvSpPr>
        <p:spPr>
          <a:xfrm>
            <a:off x="685800" y="1463040"/>
            <a:ext cx="91440" cy="9144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6" name="Dot 1"/>
          <p:cNvSpPr/>
          <p:nvPr/>
        </p:nvSpPr>
        <p:spPr>
          <a:xfrm>
            <a:off x="841248" y="1463040"/>
            <a:ext cx="91440" cy="914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Dot 2"/>
          <p:cNvSpPr/>
          <p:nvPr/>
        </p:nvSpPr>
        <p:spPr>
          <a:xfrm>
            <a:off x="996696" y="1463040"/>
            <a:ext cx="91440" cy="914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8" name="Image 0" descr="Resource Utilization dashboard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31243"/>
            <a:ext cx="4663440" cy="266399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669280" y="137160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1"/>
                </a:solidFill>
              </a:rPr>
              <a:t>DASHBOARD 4 OF 4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5669280" y="166420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Capacity, staff and equipment in use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5669280" y="22402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</a:rPr>
              <a:t>Bed capacity, staff deployment and equipment utilization tracked across every department.</a:t>
            </a:r>
            <a:endParaRPr lang="en-US" sz="1100" dirty="0"/>
          </a:p>
        </p:txBody>
      </p:sp>
      <p:sp>
        <p:nvSpPr>
          <p:cNvPr id="12" name="Bullet bar 0"/>
          <p:cNvSpPr/>
          <p:nvPr/>
        </p:nvSpPr>
        <p:spPr>
          <a:xfrm>
            <a:off x="5669280" y="3246120"/>
            <a:ext cx="64008" cy="29260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5852160" y="32004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</a:rPr>
              <a:t>76.71% bed occupancy · 67.6% equipment utilization</a:t>
            </a:r>
            <a:endParaRPr lang="en-US" sz="1050" dirty="0"/>
          </a:p>
        </p:txBody>
      </p:sp>
      <p:sp>
        <p:nvSpPr>
          <p:cNvPr id="14" name="Bullet bar 1"/>
          <p:cNvSpPr/>
          <p:nvPr/>
        </p:nvSpPr>
        <p:spPr>
          <a:xfrm>
            <a:off x="5669280" y="3703320"/>
            <a:ext cx="64008" cy="29260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5852160" y="36576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</a:rPr>
              <a:t>738,995 active staff; average patient wait of 2.75 hours</a:t>
            </a:r>
            <a:endParaRPr lang="en-US" sz="1050" dirty="0"/>
          </a:p>
        </p:txBody>
      </p:sp>
      <p:sp>
        <p:nvSpPr>
          <p:cNvPr id="16" name="Bullet bar 2"/>
          <p:cNvSpPr/>
          <p:nvPr/>
        </p:nvSpPr>
        <p:spPr>
          <a:xfrm>
            <a:off x="5669280" y="4160520"/>
            <a:ext cx="64008" cy="292608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5852160" y="41148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bg1"/>
                </a:solidFill>
              </a:rPr>
              <a:t>Occupancy holds near 76–77% in every department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bg1"/>
                </a:solidFill>
              </a:rPr>
              <a:t>An executive dark theme and global filters tie the dashboards together</a:t>
            </a:r>
            <a:endParaRPr lang="en-US" sz="2400" dirty="0"/>
          </a:p>
        </p:txBody>
      </p:sp>
      <p:sp>
        <p:nvSpPr>
          <p:cNvPr id="4" name="Swatch Background"/>
          <p:cNvSpPr/>
          <p:nvPr/>
        </p:nvSpPr>
        <p:spPr>
          <a:xfrm>
            <a:off x="548640" y="137160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37160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#0F172A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3774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2"/>
                </a:solidFill>
              </a:rPr>
              <a:t>Background  ·  Slate canvas</a:t>
            </a:r>
            <a:endParaRPr lang="en-US" sz="1000" dirty="0"/>
          </a:p>
        </p:txBody>
      </p:sp>
      <p:sp>
        <p:nvSpPr>
          <p:cNvPr id="7" name="Swatch Container"/>
          <p:cNvSpPr/>
          <p:nvPr/>
        </p:nvSpPr>
        <p:spPr>
          <a:xfrm>
            <a:off x="2606040" y="137160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606040" y="137160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#1E293B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2606040" y="23774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2"/>
                </a:solidFill>
              </a:rPr>
              <a:t>Container  ·  Card surface</a:t>
            </a:r>
            <a:endParaRPr lang="en-US" sz="1000" dirty="0"/>
          </a:p>
        </p:txBody>
      </p:sp>
      <p:sp>
        <p:nvSpPr>
          <p:cNvPr id="10" name="Swatch Primary accent"/>
          <p:cNvSpPr/>
          <p:nvPr/>
        </p:nvSpPr>
        <p:spPr>
          <a:xfrm>
            <a:off x="4663440" y="137160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00F2FE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663440" y="137160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#00F2FE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4663440" y="23774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2"/>
                </a:solidFill>
              </a:rPr>
              <a:t>Primary accent  ·  Cyan highlight</a:t>
            </a:r>
            <a:endParaRPr lang="en-US" sz="1000" dirty="0"/>
          </a:p>
        </p:txBody>
      </p:sp>
      <p:sp>
        <p:nvSpPr>
          <p:cNvPr id="13" name="Swatch Alert accent"/>
          <p:cNvSpPr/>
          <p:nvPr/>
        </p:nvSpPr>
        <p:spPr>
          <a:xfrm>
            <a:off x="6720840" y="1371600"/>
            <a:ext cx="1874520" cy="91440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720840" y="137160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</a:rPr>
              <a:t>#F59E0B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6720840" y="23774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2"/>
                </a:solidFill>
              </a:rPr>
              <a:t>Alert accent  ·  Amber attention</a:t>
            </a:r>
            <a:endParaRPr lang="en-US" sz="1000" dirty="0"/>
          </a:p>
        </p:txBody>
      </p:sp>
      <p:sp>
        <p:nvSpPr>
          <p:cNvPr id="16" name="Feature 0"/>
          <p:cNvSpPr/>
          <p:nvPr/>
        </p:nvSpPr>
        <p:spPr>
          <a:xfrm>
            <a:off x="548640" y="2834640"/>
            <a:ext cx="3931920" cy="1645920"/>
          </a:xfrm>
          <a:prstGeom prst="roundRect">
            <a:avLst>
              <a:gd name="adj" fmla="val 4444"/>
            </a:avLst>
          </a:prstGeom>
          <a:solidFill>
            <a:schemeClr val="tx2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7" name="Feature tick 0"/>
          <p:cNvSpPr/>
          <p:nvPr/>
        </p:nvSpPr>
        <p:spPr>
          <a:xfrm>
            <a:off x="777240" y="3017520"/>
            <a:ext cx="457200" cy="457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" y="32004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Global filter architecture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777240" y="36118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Filters synchronized across all views for Hospital, Department, Region and Date Range.</a:t>
            </a:r>
            <a:endParaRPr lang="en-US" sz="1200" dirty="0"/>
          </a:p>
        </p:txBody>
      </p:sp>
      <p:sp>
        <p:nvSpPr>
          <p:cNvPr id="20" name="Feature 1"/>
          <p:cNvSpPr/>
          <p:nvPr/>
        </p:nvSpPr>
        <p:spPr>
          <a:xfrm>
            <a:off x="4663440" y="2834640"/>
            <a:ext cx="3931920" cy="1645920"/>
          </a:xfrm>
          <a:prstGeom prst="roundRect">
            <a:avLst>
              <a:gd name="adj" fmla="val 4444"/>
            </a:avLst>
          </a:prstGeom>
          <a:solidFill>
            <a:schemeClr val="tx2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1" name="Feature tick 1"/>
          <p:cNvSpPr/>
          <p:nvPr/>
        </p:nvSpPr>
        <p:spPr>
          <a:xfrm>
            <a:off x="4892040" y="3017520"/>
            <a:ext cx="457200" cy="457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892040" y="32004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Interactive parameter actions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4892040" y="36118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Cross-tab navigation and context-preserving drilldowns between overview and detail sheets.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43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bg1"/>
                </a:solidFill>
              </a:rPr>
              <a:t>Milestone 4 proved the numbers and the interactivity</a:t>
            </a:r>
            <a:endParaRPr lang="en-US" sz="2400" dirty="0"/>
          </a:p>
        </p:txBody>
      </p:sp>
      <p:sp>
        <p:nvSpPr>
          <p:cNvPr id="4" name="Stat 0"/>
          <p:cNvSpPr/>
          <p:nvPr/>
        </p:nvSpPr>
        <p:spPr>
          <a:xfrm>
            <a:off x="548640" y="1371600"/>
            <a:ext cx="2926080" cy="137160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5544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accent1"/>
                </a:solidFill>
              </a:rPr>
              <a:t>&gt;95%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2860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2"/>
                </a:solidFill>
              </a:rPr>
              <a:t>Accuracy target met</a:t>
            </a:r>
            <a:endParaRPr lang="en-US" sz="1200" dirty="0"/>
          </a:p>
        </p:txBody>
      </p:sp>
      <p:sp>
        <p:nvSpPr>
          <p:cNvPr id="7" name="Stat 1"/>
          <p:cNvSpPr/>
          <p:nvPr/>
        </p:nvSpPr>
        <p:spPr>
          <a:xfrm>
            <a:off x="548640" y="2880360"/>
            <a:ext cx="2926080" cy="137160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30632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accent2"/>
                </a:solidFill>
              </a:rPr>
              <a:t>4 of 4</a:t>
            </a:r>
            <a:endParaRPr lang="en-US" sz="44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7947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2"/>
                </a:solidFill>
              </a:rPr>
              <a:t>Dashboard views validated</a:t>
            </a:r>
            <a:endParaRPr lang="en-US" sz="1200" dirty="0"/>
          </a:p>
        </p:txBody>
      </p:sp>
      <p:sp>
        <p:nvSpPr>
          <p:cNvPr id="10" name="Check 0"/>
          <p:cNvSpPr/>
          <p:nvPr/>
        </p:nvSpPr>
        <p:spPr>
          <a:xfrm>
            <a:off x="3749040" y="1371600"/>
            <a:ext cx="484632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1" name="Check accent 0"/>
          <p:cNvSpPr/>
          <p:nvPr/>
        </p:nvSpPr>
        <p:spPr>
          <a:xfrm>
            <a:off x="3749040" y="1481328"/>
            <a:ext cx="64008" cy="69494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023360" y="15087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KPI accuracy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4023360" y="182880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Cross-verified against Python baseline outputs; &gt;95% accuracy target met</a:t>
            </a:r>
            <a:endParaRPr lang="en-US" sz="1200" dirty="0"/>
          </a:p>
        </p:txBody>
      </p:sp>
      <p:sp>
        <p:nvSpPr>
          <p:cNvPr id="14" name="Check 1"/>
          <p:cNvSpPr/>
          <p:nvPr/>
        </p:nvSpPr>
        <p:spPr>
          <a:xfrm>
            <a:off x="3749040" y="2423160"/>
            <a:ext cx="484632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5" name="Check accent 1"/>
          <p:cNvSpPr/>
          <p:nvPr/>
        </p:nvSpPr>
        <p:spPr>
          <a:xfrm>
            <a:off x="3749040" y="2532888"/>
            <a:ext cx="64008" cy="69494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023360" y="25603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Values and filters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4023360" y="288036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Zero missing or broken values; global filter reactivity tested</a:t>
            </a:r>
            <a:endParaRPr lang="en-US" sz="1200" dirty="0"/>
          </a:p>
        </p:txBody>
      </p:sp>
      <p:sp>
        <p:nvSpPr>
          <p:cNvPr id="18" name="Check 2"/>
          <p:cNvSpPr/>
          <p:nvPr/>
        </p:nvSpPr>
        <p:spPr>
          <a:xfrm>
            <a:off x="3749040" y="3474720"/>
            <a:ext cx="484632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9" name="Check accent 2"/>
          <p:cNvSpPr/>
          <p:nvPr/>
        </p:nvSpPr>
        <p:spPr>
          <a:xfrm>
            <a:off x="3749040" y="3584448"/>
            <a:ext cx="64008" cy="69494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023360" y="36118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Reset Filter extension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4023360" y="39319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Added to all 4 dashboard views for one-click resets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37160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800" b="1" dirty="0">
                <a:solidFill>
                  <a:schemeClr val="bg1"/>
                </a:solidFill>
              </a:rPr>
              <a:t>Thank you</a:t>
            </a:r>
            <a:endParaRPr lang="en-US" sz="48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237744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chemeClr val="bg2"/>
                </a:solidFill>
              </a:rPr>
              <a:t>Final Tableau dashboard file</a:t>
            </a:r>
            <a:endParaRPr lang="en-US" sz="1800" dirty="0"/>
          </a:p>
        </p:txBody>
      </p:sp>
      <p:sp>
        <p:nvSpPr>
          <p:cNvPr id="4" name="Deco bar 0"/>
          <p:cNvSpPr/>
          <p:nvPr/>
        </p:nvSpPr>
        <p:spPr>
          <a:xfrm>
            <a:off x="6309360" y="3108960"/>
            <a:ext cx="237744" cy="10972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Deco bar 1"/>
          <p:cNvSpPr/>
          <p:nvPr/>
        </p:nvSpPr>
        <p:spPr>
          <a:xfrm>
            <a:off x="6675120" y="2468880"/>
            <a:ext cx="237744" cy="17373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Deco bar 2"/>
          <p:cNvSpPr/>
          <p:nvPr/>
        </p:nvSpPr>
        <p:spPr>
          <a:xfrm>
            <a:off x="7040880" y="2834640"/>
            <a:ext cx="237744" cy="13716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Deco bar 3"/>
          <p:cNvSpPr/>
          <p:nvPr/>
        </p:nvSpPr>
        <p:spPr>
          <a:xfrm>
            <a:off x="7406640" y="1828800"/>
            <a:ext cx="237744" cy="23774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Deco bar 4"/>
          <p:cNvSpPr/>
          <p:nvPr/>
        </p:nvSpPr>
        <p:spPr>
          <a:xfrm>
            <a:off x="7772400" y="2377440"/>
            <a:ext cx="237744" cy="18288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Deco bar 5"/>
          <p:cNvSpPr/>
          <p:nvPr/>
        </p:nvSpPr>
        <p:spPr>
          <a:xfrm>
            <a:off x="8138160" y="1463040"/>
            <a:ext cx="237744" cy="274320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Deco bar 6"/>
          <p:cNvSpPr/>
          <p:nvPr/>
        </p:nvSpPr>
        <p:spPr>
          <a:xfrm>
            <a:off x="8503920" y="2011680"/>
            <a:ext cx="237744" cy="21945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Link button"/>
          <p:cNvSpPr/>
          <p:nvPr/>
        </p:nvSpPr>
        <p:spPr>
          <a:xfrm>
            <a:off x="640080" y="3200400"/>
            <a:ext cx="3291840" cy="502920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>
            <a:hlinkClick r:id="rId3"/>
          </p:cNvPr>
          <p:cNvSpPr txBox="1"/>
          <p:nvPr/>
        </p:nvSpPr>
        <p:spPr>
          <a:xfrm>
            <a:off x="640080" y="32004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chemeClr val="tx2"/>
                </a:solidFill>
                <a:highlight>
                  <a:srgbClr val="00FFFF"/>
                </a:highlight>
              </a:rPr>
              <a:t>https://drive.google.com/file/d/1IdykGftatk46Od2CythAYZoLfaOh3eWr/view?usp=drive_link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dTrack Executive">
  <a:themeElements>
    <a:clrScheme name="MedTrack Executive">
      <a:dk1>
        <a:srgbClr val="0F172A"/>
      </a:dk1>
      <a:lt1>
        <a:srgbClr val="FFFFFF"/>
      </a:lt1>
      <a:dk2>
        <a:srgbClr val="1E293B"/>
      </a:dk2>
      <a:lt2>
        <a:srgbClr val="CBD5E1"/>
      </a:lt2>
      <a:accent1>
        <a:srgbClr val="00F2FE"/>
      </a:accent1>
      <a:accent2>
        <a:srgbClr val="F59E0B"/>
      </a:accent2>
      <a:accent3>
        <a:srgbClr val="38BDF8"/>
      </a:accent3>
      <a:accent4>
        <a:srgbClr val="34D399"/>
      </a:accent4>
      <a:accent5>
        <a:srgbClr val="A78BFA"/>
      </a:accent5>
      <a:accent6>
        <a:srgbClr val="F87171"/>
      </a:accent6>
      <a:hlink>
        <a:srgbClr val="00F2FE"/>
      </a:hlink>
      <a:folHlink>
        <a:srgbClr val="A78BFA"/>
      </a:folHlink>
    </a:clrScheme>
    <a:fontScheme name="MedTrack Executiv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1034</Words>
  <Application>Microsoft Office PowerPoint</Application>
  <PresentationFormat>On-screen Show (16:9)</PresentationFormat>
  <Paragraphs>187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MedTrack Executive</vt:lpstr>
      <vt:lpstr>MedTrack_DV</vt:lpstr>
      <vt:lpstr>Raw hospital data became executive dashboards in four milestones</vt:lpstr>
      <vt:lpstr>Four milestones took the project from data to deployment</vt:lpstr>
      <vt:lpstr>Milestone 1 turned a Kaggle dataset into a clean, analysis-ready file</vt:lpstr>
      <vt:lpstr>Six KPIs measure how the hospital performs</vt:lpstr>
      <vt:lpstr>Milestone 2 validated the data, built the KPIs and planned the dashboard</vt:lpstr>
      <vt:lpstr>Milestone 3 delivered four interactive Tableau dashboards</vt:lpstr>
      <vt:lpstr>Dashboard 1 · Hospital Overview</vt:lpstr>
      <vt:lpstr>Dashboard 2 · Patient Flow</vt:lpstr>
      <vt:lpstr>Dashboard 3 · Department Analytics</vt:lpstr>
      <vt:lpstr>Dashboard 4 · Resource Utilization</vt:lpstr>
      <vt:lpstr>An executive dark theme and global filters tie the dashboards together</vt:lpstr>
      <vt:lpstr>Milestone 4 proved the numbers and the interactivity</vt:lpstr>
      <vt:lpstr>Thank you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MedTrack_DV</dc:title>
  <dc:subject>PptxGenJS Presentation</dc:subject>
  <dc:creator>Aman Singh Rawat</dc:creator>
  <cp:lastModifiedBy>aman singh rawat</cp:lastModifiedBy>
  <cp:revision>2</cp:revision>
  <dcterms:created xsi:type="dcterms:W3CDTF">2026-10-07T17:19:54Z</dcterms:created>
  <dcterms:modified xsi:type="dcterms:W3CDTF">2026-10-07T17:27:43Z</dcterms:modified>
</cp:coreProperties>
</file>