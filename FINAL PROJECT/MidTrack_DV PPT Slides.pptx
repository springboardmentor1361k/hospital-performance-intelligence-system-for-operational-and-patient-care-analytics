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anva Sans" panose="020B0604020202020204" charset="0"/>
      <p:regular r:id="rId23"/>
    </p:embeddedFont>
    <p:embeddedFont>
      <p:font typeface="Cinzel Bold" panose="020B0604020202020204" charset="0"/>
      <p:regular r:id="rId24"/>
    </p:embeddedFont>
    <p:embeddedFont>
      <p:font typeface="Museo Moderno" panose="020B0604020202020204" charset="0"/>
      <p:regular r:id="rId25"/>
    </p:embeddedFont>
    <p:embeddedFont>
      <p:font typeface="Museo Moderno Bold" panose="020B0604020202020204" charset="0"/>
      <p:regular r:id="rId26"/>
    </p:embeddedFont>
    <p:embeddedFont>
      <p:font typeface="Solomon Sans" panose="020B0604020202020204" charset="0"/>
      <p:regular r:id="rId27"/>
    </p:embeddedFont>
    <p:embeddedFont>
      <p:font typeface="Solomon Sa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5" d="100"/>
          <a:sy n="25" d="100"/>
        </p:scale>
        <p:origin x="2386" y="1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57.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svg"/></Relationships>
</file>

<file path=ppt/slides/_rels/slide16.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4.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55.jpeg"/></Relationships>
</file>

<file path=ppt/slides/_rels/slide18.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6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4.sv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3.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BAAC">
                <a:alpha val="100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198011" y="-823276"/>
            <a:ext cx="3532615" cy="3734353"/>
          </a:xfrm>
          <a:custGeom>
            <a:avLst/>
            <a:gdLst/>
            <a:ahLst/>
            <a:cxnLst/>
            <a:rect l="l" t="t" r="r" b="b"/>
            <a:pathLst>
              <a:path w="2662128" h="2662128">
                <a:moveTo>
                  <a:pt x="0" y="0"/>
                </a:moveTo>
                <a:lnTo>
                  <a:pt x="2662128" y="0"/>
                </a:lnTo>
                <a:lnTo>
                  <a:pt x="2662128" y="2662128"/>
                </a:lnTo>
                <a:lnTo>
                  <a:pt x="0" y="2662128"/>
                </a:lnTo>
                <a:lnTo>
                  <a:pt x="0" y="0"/>
                </a:lnTo>
                <a:close/>
              </a:path>
            </a:pathLst>
          </a:custGeom>
          <a:blipFill>
            <a:blip r:embed="rId2">
              <a:alphaModFix amt="38000"/>
            </a:blip>
            <a:stretch>
              <a:fillRect/>
            </a:stretch>
          </a:blipFill>
        </p:spPr>
        <p:txBody>
          <a:bodyPr/>
          <a:lstStyle/>
          <a:p>
            <a:endParaRPr lang="en-IN"/>
          </a:p>
        </p:txBody>
      </p:sp>
      <p:pic>
        <p:nvPicPr>
          <p:cNvPr id="3" name="Picture 3"/>
          <p:cNvPicPr>
            <a:picLocks noChangeAspect="1"/>
          </p:cNvPicPr>
          <p:nvPr/>
        </p:nvPicPr>
        <p:blipFill>
          <a:blip r:embed="rId3">
            <a:alphaModFix amt="35000"/>
          </a:blip>
          <a:stretch>
            <a:fillRect/>
          </a:stretch>
        </p:blipFill>
        <p:spPr>
          <a:xfrm>
            <a:off x="7614862" y="-1485608"/>
            <a:ext cx="3058275" cy="4008647"/>
          </a:xfrm>
          <a:prstGeom prst="rect">
            <a:avLst/>
          </a:prstGeom>
        </p:spPr>
      </p:pic>
      <p:sp>
        <p:nvSpPr>
          <p:cNvPr id="4" name="Freeform 4"/>
          <p:cNvSpPr/>
          <p:nvPr/>
        </p:nvSpPr>
        <p:spPr>
          <a:xfrm>
            <a:off x="13381269" y="7546755"/>
            <a:ext cx="4036244" cy="4036244"/>
          </a:xfrm>
          <a:custGeom>
            <a:avLst/>
            <a:gdLst/>
            <a:ahLst/>
            <a:cxnLst/>
            <a:rect l="l" t="t" r="r" b="b"/>
            <a:pathLst>
              <a:path w="4036244" h="4036244">
                <a:moveTo>
                  <a:pt x="0" y="0"/>
                </a:moveTo>
                <a:lnTo>
                  <a:pt x="4036244" y="0"/>
                </a:lnTo>
                <a:lnTo>
                  <a:pt x="4036244" y="4036244"/>
                </a:lnTo>
                <a:lnTo>
                  <a:pt x="0" y="4036244"/>
                </a:lnTo>
                <a:lnTo>
                  <a:pt x="0" y="0"/>
                </a:lnTo>
                <a:close/>
              </a:path>
            </a:pathLst>
          </a:custGeom>
          <a:blipFill>
            <a:blip r:embed="rId4"/>
            <a:stretch>
              <a:fillRect/>
            </a:stretch>
          </a:blipFill>
        </p:spPr>
        <p:txBody>
          <a:bodyPr/>
          <a:lstStyle/>
          <a:p>
            <a:endParaRPr lang="en-IN"/>
          </a:p>
        </p:txBody>
      </p:sp>
      <p:pic>
        <p:nvPicPr>
          <p:cNvPr id="5" name="Picture 5"/>
          <p:cNvPicPr>
            <a:picLocks noChangeAspect="1"/>
          </p:cNvPicPr>
          <p:nvPr/>
        </p:nvPicPr>
        <p:blipFill>
          <a:blip r:embed="rId5">
            <a:alphaModFix amt="54000"/>
          </a:blip>
          <a:stretch>
            <a:fillRect/>
          </a:stretch>
        </p:blipFill>
        <p:spPr>
          <a:xfrm rot="-7595635">
            <a:off x="-1162185" y="7440733"/>
            <a:ext cx="4212513" cy="3631688"/>
          </a:xfrm>
          <a:prstGeom prst="rect">
            <a:avLst/>
          </a:prstGeom>
        </p:spPr>
      </p:pic>
      <p:pic>
        <p:nvPicPr>
          <p:cNvPr id="6" name="Picture 6"/>
          <p:cNvPicPr>
            <a:picLocks noChangeAspect="1"/>
          </p:cNvPicPr>
          <p:nvPr/>
        </p:nvPicPr>
        <p:blipFill>
          <a:blip r:embed="rId6">
            <a:alphaModFix amt="39000"/>
          </a:blip>
          <a:stretch>
            <a:fillRect/>
          </a:stretch>
        </p:blipFill>
        <p:spPr>
          <a:xfrm>
            <a:off x="-1261468" y="-1130553"/>
            <a:ext cx="3805030" cy="4082880"/>
          </a:xfrm>
          <a:prstGeom prst="rect">
            <a:avLst/>
          </a:prstGeom>
        </p:spPr>
      </p:pic>
      <p:sp>
        <p:nvSpPr>
          <p:cNvPr id="7" name="TextBox 7"/>
          <p:cNvSpPr txBox="1"/>
          <p:nvPr/>
        </p:nvSpPr>
        <p:spPr>
          <a:xfrm>
            <a:off x="1947035" y="4050682"/>
            <a:ext cx="14393930" cy="2053590"/>
          </a:xfrm>
          <a:prstGeom prst="rect">
            <a:avLst/>
          </a:prstGeom>
        </p:spPr>
        <p:txBody>
          <a:bodyPr lIns="0" tIns="0" rIns="0" bIns="0" rtlCol="0" anchor="t">
            <a:spAutoFit/>
          </a:bodyPr>
          <a:lstStyle/>
          <a:p>
            <a:pPr algn="ctr">
              <a:lnSpc>
                <a:spcPts val="16379"/>
              </a:lnSpc>
            </a:pPr>
            <a:r>
              <a:rPr lang="en-US" sz="12999" b="1">
                <a:solidFill>
                  <a:srgbClr val="000000"/>
                </a:solidFill>
                <a:latin typeface="Museo Moderno Bold"/>
                <a:ea typeface="Museo Moderno Bold"/>
                <a:cs typeface="Museo Moderno Bold"/>
                <a:sym typeface="Museo Moderno Bold"/>
              </a:rPr>
              <a:t>MedTrack_DV</a:t>
            </a:r>
          </a:p>
        </p:txBody>
      </p:sp>
      <p:sp>
        <p:nvSpPr>
          <p:cNvPr id="8" name="TextBox 8"/>
          <p:cNvSpPr txBox="1"/>
          <p:nvPr/>
        </p:nvSpPr>
        <p:spPr>
          <a:xfrm>
            <a:off x="3293678" y="6441855"/>
            <a:ext cx="11700644" cy="110490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Solomon Sans"/>
                <a:ea typeface="Solomon Sans"/>
                <a:cs typeface="Solomon Sans"/>
                <a:sym typeface="Solomon Sans"/>
              </a:rPr>
              <a:t>HOSPITAL PERFORMANCE INTELIIGENCE SYSTEM FOR OPERATIONAL AND PATIENT CARE ANALYTICS</a:t>
            </a:r>
          </a:p>
        </p:txBody>
      </p:sp>
      <p:sp>
        <p:nvSpPr>
          <p:cNvPr id="9" name="TextBox 9"/>
          <p:cNvSpPr txBox="1"/>
          <p:nvPr/>
        </p:nvSpPr>
        <p:spPr>
          <a:xfrm>
            <a:off x="4344593" y="3063793"/>
            <a:ext cx="9598815" cy="670560"/>
          </a:xfrm>
          <a:prstGeom prst="rect">
            <a:avLst/>
          </a:prstGeom>
        </p:spPr>
        <p:txBody>
          <a:bodyPr lIns="0" tIns="0" rIns="0" bIns="0" rtlCol="0" anchor="t">
            <a:spAutoFit/>
          </a:bodyPr>
          <a:lstStyle/>
          <a:p>
            <a:pPr algn="ctr">
              <a:lnSpc>
                <a:spcPts val="5040"/>
              </a:lnSpc>
              <a:spcBef>
                <a:spcPct val="0"/>
              </a:spcBef>
            </a:pPr>
            <a:r>
              <a:rPr lang="en-US" sz="3600" spc="46">
                <a:solidFill>
                  <a:srgbClr val="000000"/>
                </a:solidFill>
                <a:latin typeface="Solomon Sans"/>
                <a:ea typeface="Solomon Sans"/>
                <a:cs typeface="Solomon Sans"/>
                <a:sym typeface="Solomon Sans"/>
              </a:rPr>
              <a:t>DOCUMENTATION OF </a:t>
            </a:r>
          </a:p>
        </p:txBody>
      </p:sp>
      <p:sp>
        <p:nvSpPr>
          <p:cNvPr id="10" name="Freeform 10"/>
          <p:cNvSpPr/>
          <p:nvPr/>
        </p:nvSpPr>
        <p:spPr>
          <a:xfrm>
            <a:off x="1771472" y="1771472"/>
            <a:ext cx="14770132" cy="7001595"/>
          </a:xfrm>
          <a:custGeom>
            <a:avLst/>
            <a:gdLst/>
            <a:ahLst/>
            <a:cxnLst/>
            <a:rect l="l" t="t" r="r" b="b"/>
            <a:pathLst>
              <a:path w="14770132" h="7001595">
                <a:moveTo>
                  <a:pt x="0" y="0"/>
                </a:moveTo>
                <a:lnTo>
                  <a:pt x="14770132" y="0"/>
                </a:lnTo>
                <a:lnTo>
                  <a:pt x="14770132" y="7001595"/>
                </a:lnTo>
                <a:lnTo>
                  <a:pt x="0" y="7001595"/>
                </a:lnTo>
                <a:lnTo>
                  <a:pt x="0" y="0"/>
                </a:lnTo>
                <a:close/>
              </a:path>
            </a:pathLst>
          </a:custGeom>
          <a:blipFill>
            <a:blip r:embed="rId7">
              <a:alphaModFix amt="14000"/>
            </a:blip>
            <a:stretch>
              <a:fillRect l="-127965" t="-28610" r="-5699" b="-72996"/>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8E3"/>
        </a:solidFill>
        <a:effectLst/>
      </p:bgPr>
    </p:bg>
    <p:spTree>
      <p:nvGrpSpPr>
        <p:cNvPr id="1" name=""/>
        <p:cNvGrpSpPr/>
        <p:nvPr/>
      </p:nvGrpSpPr>
      <p:grpSpPr>
        <a:xfrm>
          <a:off x="0" y="0"/>
          <a:ext cx="0" cy="0"/>
          <a:chOff x="0" y="0"/>
          <a:chExt cx="0" cy="0"/>
        </a:xfrm>
      </p:grpSpPr>
      <p:sp>
        <p:nvSpPr>
          <p:cNvPr id="2" name="Freeform 2"/>
          <p:cNvSpPr/>
          <p:nvPr/>
        </p:nvSpPr>
        <p:spPr>
          <a:xfrm rot="9566449">
            <a:off x="1657585" y="-1770745"/>
            <a:ext cx="18114223" cy="16401605"/>
          </a:xfrm>
          <a:custGeom>
            <a:avLst/>
            <a:gdLst/>
            <a:ahLst/>
            <a:cxnLst/>
            <a:rect l="l" t="t" r="r" b="b"/>
            <a:pathLst>
              <a:path w="18114223" h="16401605">
                <a:moveTo>
                  <a:pt x="0" y="0"/>
                </a:moveTo>
                <a:lnTo>
                  <a:pt x="18114223" y="0"/>
                </a:lnTo>
                <a:lnTo>
                  <a:pt x="18114223" y="16401606"/>
                </a:lnTo>
                <a:lnTo>
                  <a:pt x="0" y="164016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6430058"/>
            <a:ext cx="15823498" cy="3286280"/>
          </a:xfrm>
          <a:custGeom>
            <a:avLst/>
            <a:gdLst/>
            <a:ahLst/>
            <a:cxnLst/>
            <a:rect l="l" t="t" r="r" b="b"/>
            <a:pathLst>
              <a:path w="15823498" h="3286280">
                <a:moveTo>
                  <a:pt x="0" y="0"/>
                </a:moveTo>
                <a:lnTo>
                  <a:pt x="15823498" y="0"/>
                </a:lnTo>
                <a:lnTo>
                  <a:pt x="15823498" y="3286281"/>
                </a:lnTo>
                <a:lnTo>
                  <a:pt x="0" y="3286281"/>
                </a:lnTo>
                <a:lnTo>
                  <a:pt x="0" y="0"/>
                </a:lnTo>
                <a:close/>
              </a:path>
            </a:pathLst>
          </a:custGeom>
          <a:blipFill>
            <a:blip r:embed="rId3">
              <a:alphaModFix amt="8999"/>
            </a:blip>
            <a:stretch>
              <a:fillRect l="-131419" t="-220003" r="-10526" b="-156469"/>
            </a:stretch>
          </a:blipFill>
          <a:ln w="285750" cap="rnd">
            <a:solidFill>
              <a:srgbClr val="FAFBFC">
                <a:alpha val="8627"/>
              </a:srgbClr>
            </a:solidFill>
            <a:prstDash val="solid"/>
            <a:round/>
          </a:ln>
        </p:spPr>
        <p:txBody>
          <a:bodyPr/>
          <a:lstStyle/>
          <a:p>
            <a:endParaRPr lang="en-IN"/>
          </a:p>
        </p:txBody>
      </p:sp>
      <p:pic>
        <p:nvPicPr>
          <p:cNvPr id="4" name="Picture 4"/>
          <p:cNvPicPr>
            <a:picLocks noChangeAspect="1"/>
          </p:cNvPicPr>
          <p:nvPr/>
        </p:nvPicPr>
        <p:blipFill>
          <a:blip r:embed="rId4">
            <a:alphaModFix amt="58000"/>
          </a:blip>
          <a:stretch>
            <a:fillRect/>
          </a:stretch>
        </p:blipFill>
        <p:spPr>
          <a:xfrm rot="3415465">
            <a:off x="14614885" y="3813653"/>
            <a:ext cx="5839097" cy="7406640"/>
          </a:xfrm>
          <a:prstGeom prst="rect">
            <a:avLst/>
          </a:prstGeom>
        </p:spPr>
      </p:pic>
      <p:pic>
        <p:nvPicPr>
          <p:cNvPr id="5" name="Picture 5"/>
          <p:cNvPicPr>
            <a:picLocks noChangeAspect="1"/>
          </p:cNvPicPr>
          <p:nvPr/>
        </p:nvPicPr>
        <p:blipFill>
          <a:blip r:embed="rId5">
            <a:alphaModFix amt="40000"/>
          </a:blip>
          <a:stretch>
            <a:fillRect/>
          </a:stretch>
        </p:blipFill>
        <p:spPr>
          <a:xfrm>
            <a:off x="-1890849" y="5166948"/>
            <a:ext cx="5839097" cy="7406640"/>
          </a:xfrm>
          <a:prstGeom prst="rect">
            <a:avLst/>
          </a:prstGeom>
        </p:spPr>
      </p:pic>
      <p:grpSp>
        <p:nvGrpSpPr>
          <p:cNvPr id="6" name="Group 6"/>
          <p:cNvGrpSpPr/>
          <p:nvPr/>
        </p:nvGrpSpPr>
        <p:grpSpPr>
          <a:xfrm>
            <a:off x="1028700" y="1266670"/>
            <a:ext cx="16230600" cy="4899969"/>
            <a:chOff x="0" y="0"/>
            <a:chExt cx="21640800" cy="6533292"/>
          </a:xfrm>
        </p:grpSpPr>
        <p:pic>
          <p:nvPicPr>
            <p:cNvPr id="7" name="Picture 7"/>
            <p:cNvPicPr>
              <a:picLocks noChangeAspect="1"/>
            </p:cNvPicPr>
            <p:nvPr/>
          </p:nvPicPr>
          <p:blipFill>
            <a:blip r:embed="rId6"/>
            <a:srcRect t="13416" b="32493"/>
            <a:stretch>
              <a:fillRect/>
            </a:stretch>
          </p:blipFill>
          <p:spPr>
            <a:xfrm>
              <a:off x="0" y="0"/>
              <a:ext cx="21640800" cy="6533292"/>
            </a:xfrm>
            <a:prstGeom prst="rect">
              <a:avLst/>
            </a:prstGeom>
          </p:spPr>
        </p:pic>
      </p:grpSp>
      <p:grpSp>
        <p:nvGrpSpPr>
          <p:cNvPr id="8" name="Group 8"/>
          <p:cNvGrpSpPr/>
          <p:nvPr/>
        </p:nvGrpSpPr>
        <p:grpSpPr>
          <a:xfrm>
            <a:off x="2236400" y="6398764"/>
            <a:ext cx="13946510" cy="3172684"/>
            <a:chOff x="0" y="0"/>
            <a:chExt cx="18595347" cy="4230245"/>
          </a:xfrm>
        </p:grpSpPr>
        <p:sp>
          <p:nvSpPr>
            <p:cNvPr id="9" name="TextBox 9"/>
            <p:cNvSpPr txBox="1"/>
            <p:nvPr/>
          </p:nvSpPr>
          <p:spPr>
            <a:xfrm>
              <a:off x="0" y="0"/>
              <a:ext cx="18595347" cy="1219200"/>
            </a:xfrm>
            <a:prstGeom prst="rect">
              <a:avLst/>
            </a:prstGeom>
          </p:spPr>
          <p:txBody>
            <a:bodyPr lIns="0" tIns="0" rIns="0" bIns="0" rtlCol="0" anchor="t">
              <a:spAutoFit/>
            </a:bodyPr>
            <a:lstStyle/>
            <a:p>
              <a:pPr marL="0" lvl="0" indent="0" algn="ctr">
                <a:lnSpc>
                  <a:spcPts val="7267"/>
                </a:lnSpc>
                <a:spcBef>
                  <a:spcPct val="0"/>
                </a:spcBef>
              </a:pPr>
              <a:r>
                <a:rPr lang="en-US" sz="6056" b="1">
                  <a:solidFill>
                    <a:srgbClr val="000000"/>
                  </a:solidFill>
                  <a:latin typeface="Museo Moderno Bold"/>
                  <a:ea typeface="Museo Moderno Bold"/>
                  <a:cs typeface="Museo Moderno Bold"/>
                  <a:sym typeface="Museo Moderno Bold"/>
                </a:rPr>
                <a:t>Introduction</a:t>
              </a:r>
            </a:p>
          </p:txBody>
        </p:sp>
        <p:sp>
          <p:nvSpPr>
            <p:cNvPr id="10" name="TextBox 10"/>
            <p:cNvSpPr txBox="1"/>
            <p:nvPr/>
          </p:nvSpPr>
          <p:spPr>
            <a:xfrm>
              <a:off x="0" y="1320253"/>
              <a:ext cx="18595347" cy="2909992"/>
            </a:xfrm>
            <a:prstGeom prst="rect">
              <a:avLst/>
            </a:prstGeom>
          </p:spPr>
          <p:txBody>
            <a:bodyPr lIns="0" tIns="0" rIns="0" bIns="0" rtlCol="0" anchor="t">
              <a:spAutoFit/>
            </a:bodyPr>
            <a:lstStyle/>
            <a:p>
              <a:pPr algn="ctr">
                <a:lnSpc>
                  <a:spcPts val="3461"/>
                </a:lnSpc>
              </a:pPr>
              <a:r>
                <a:rPr lang="en-US" sz="2472">
                  <a:solidFill>
                    <a:srgbClr val="000000"/>
                  </a:solidFill>
                  <a:latin typeface="Solomon Sans"/>
                  <a:ea typeface="Solomon Sans"/>
                  <a:cs typeface="Solomon Sans"/>
                  <a:sym typeface="Solomon Sans"/>
                </a:rPr>
                <a:t>MedTrack_DV is a Tableau-based Hospital Operations &amp; Patient Analytics Dashboard that analyzes hospital and patient data.</a:t>
              </a:r>
            </a:p>
            <a:p>
              <a:pPr marL="0" lvl="0" indent="0" algn="ctr">
                <a:lnSpc>
                  <a:spcPts val="3461"/>
                </a:lnSpc>
                <a:spcBef>
                  <a:spcPct val="0"/>
                </a:spcBef>
              </a:pPr>
              <a:r>
                <a:rPr lang="en-US" sz="2472">
                  <a:solidFill>
                    <a:srgbClr val="000000"/>
                  </a:solidFill>
                  <a:latin typeface="Solomon Sans"/>
                  <a:ea typeface="Solomon Sans"/>
                  <a:cs typeface="Solomon Sans"/>
                  <a:sym typeface="Solomon Sans"/>
                </a:rPr>
                <a:t>It provides interactive dashboards for Hospital Overview, Patient Flow, Department Analytics, and Resource Utilization to support data-driven hospital management.</a:t>
              </a:r>
            </a:p>
            <a:p>
              <a:pPr marL="0" lvl="0" indent="0" algn="ctr">
                <a:lnSpc>
                  <a:spcPts val="3461"/>
                </a:lnSpc>
                <a:spcBef>
                  <a:spcPct val="0"/>
                </a:spcBef>
              </a:pPr>
              <a:endParaRPr lang="en-US" sz="2472">
                <a:solidFill>
                  <a:srgbClr val="000000"/>
                </a:solidFill>
                <a:latin typeface="Solomon Sans"/>
                <a:ea typeface="Solomon Sans"/>
                <a:cs typeface="Solomon Sans"/>
                <a:sym typeface="Solomon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8053892" y="1028700"/>
            <a:ext cx="9098659" cy="8229600"/>
          </a:xfrm>
          <a:custGeom>
            <a:avLst/>
            <a:gdLst/>
            <a:ahLst/>
            <a:cxnLst/>
            <a:rect l="l" t="t" r="r" b="b"/>
            <a:pathLst>
              <a:path w="9098659" h="8229600">
                <a:moveTo>
                  <a:pt x="0" y="0"/>
                </a:moveTo>
                <a:lnTo>
                  <a:pt x="9098659" y="0"/>
                </a:lnTo>
                <a:lnTo>
                  <a:pt x="9098659" y="8229600"/>
                </a:lnTo>
                <a:lnTo>
                  <a:pt x="0" y="8229600"/>
                </a:lnTo>
                <a:lnTo>
                  <a:pt x="0" y="0"/>
                </a:lnTo>
                <a:close/>
              </a:path>
            </a:pathLst>
          </a:custGeom>
          <a:blipFill>
            <a:blip r:embed="rId2">
              <a:alphaModFix amt="8999"/>
            </a:blip>
            <a:stretch>
              <a:fillRect l="-238009" t="-20122" r="-41306" b="-51400"/>
            </a:stretch>
          </a:blipFill>
          <a:ln w="285750" cap="rnd">
            <a:solidFill>
              <a:srgbClr val="FAFBFC">
                <a:alpha val="8627"/>
              </a:srgbClr>
            </a:solidFill>
            <a:prstDash val="solid"/>
            <a:round/>
          </a:ln>
        </p:spPr>
        <p:txBody>
          <a:bodyPr/>
          <a:lstStyle/>
          <a:p>
            <a:endParaRPr lang="en-IN"/>
          </a:p>
        </p:txBody>
      </p:sp>
      <p:sp>
        <p:nvSpPr>
          <p:cNvPr id="3" name="Freeform 3"/>
          <p:cNvSpPr/>
          <p:nvPr/>
        </p:nvSpPr>
        <p:spPr>
          <a:xfrm>
            <a:off x="308782" y="2168337"/>
            <a:ext cx="6907856" cy="6217070"/>
          </a:xfrm>
          <a:custGeom>
            <a:avLst/>
            <a:gdLst/>
            <a:ahLst/>
            <a:cxnLst/>
            <a:rect l="l" t="t" r="r" b="b"/>
            <a:pathLst>
              <a:path w="6907856" h="6217070">
                <a:moveTo>
                  <a:pt x="0" y="0"/>
                </a:moveTo>
                <a:lnTo>
                  <a:pt x="6907855" y="0"/>
                </a:lnTo>
                <a:lnTo>
                  <a:pt x="6907855" y="6217070"/>
                </a:lnTo>
                <a:lnTo>
                  <a:pt x="0" y="62170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6395690" y="8515491"/>
            <a:ext cx="1727221" cy="1771509"/>
          </a:xfrm>
          <a:custGeom>
            <a:avLst/>
            <a:gdLst/>
            <a:ahLst/>
            <a:cxnLst/>
            <a:rect l="l" t="t" r="r" b="b"/>
            <a:pathLst>
              <a:path w="1727221" h="1771509">
                <a:moveTo>
                  <a:pt x="0" y="0"/>
                </a:moveTo>
                <a:lnTo>
                  <a:pt x="1727220" y="0"/>
                </a:lnTo>
                <a:lnTo>
                  <a:pt x="1727220" y="1771509"/>
                </a:lnTo>
                <a:lnTo>
                  <a:pt x="0" y="1771509"/>
                </a:lnTo>
                <a:lnTo>
                  <a:pt x="0" y="0"/>
                </a:lnTo>
                <a:close/>
              </a:path>
            </a:pathLst>
          </a:custGeom>
          <a:blipFill>
            <a:blip r:embed="rId4"/>
            <a:stretch>
              <a:fillRect/>
            </a:stretch>
          </a:blipFill>
        </p:spPr>
        <p:txBody>
          <a:bodyPr/>
          <a:lstStyle/>
          <a:p>
            <a:endParaRPr lang="en-IN"/>
          </a:p>
        </p:txBody>
      </p:sp>
      <p:sp>
        <p:nvSpPr>
          <p:cNvPr id="5" name="Freeform 5"/>
          <p:cNvSpPr/>
          <p:nvPr/>
        </p:nvSpPr>
        <p:spPr>
          <a:xfrm>
            <a:off x="587818" y="361208"/>
            <a:ext cx="1770986" cy="1807129"/>
          </a:xfrm>
          <a:custGeom>
            <a:avLst/>
            <a:gdLst/>
            <a:ahLst/>
            <a:cxnLst/>
            <a:rect l="l" t="t" r="r" b="b"/>
            <a:pathLst>
              <a:path w="1770986" h="1807129">
                <a:moveTo>
                  <a:pt x="0" y="0"/>
                </a:moveTo>
                <a:lnTo>
                  <a:pt x="1770987" y="0"/>
                </a:lnTo>
                <a:lnTo>
                  <a:pt x="1770987" y="1807129"/>
                </a:lnTo>
                <a:lnTo>
                  <a:pt x="0" y="1807129"/>
                </a:lnTo>
                <a:lnTo>
                  <a:pt x="0" y="0"/>
                </a:lnTo>
                <a:close/>
              </a:path>
            </a:pathLst>
          </a:custGeom>
          <a:blipFill>
            <a:blip r:embed="rId5"/>
            <a:stretch>
              <a:fillRect/>
            </a:stretch>
          </a:blipFill>
        </p:spPr>
        <p:txBody>
          <a:bodyPr/>
          <a:lstStyle/>
          <a:p>
            <a:endParaRPr lang="en-IN"/>
          </a:p>
        </p:txBody>
      </p:sp>
      <p:sp>
        <p:nvSpPr>
          <p:cNvPr id="6" name="Freeform 6"/>
          <p:cNvSpPr/>
          <p:nvPr/>
        </p:nvSpPr>
        <p:spPr>
          <a:xfrm>
            <a:off x="2987545" y="7201261"/>
            <a:ext cx="4229092" cy="2368292"/>
          </a:xfrm>
          <a:custGeom>
            <a:avLst/>
            <a:gdLst/>
            <a:ahLst/>
            <a:cxnLst/>
            <a:rect l="l" t="t" r="r" b="b"/>
            <a:pathLst>
              <a:path w="4229092" h="2368292">
                <a:moveTo>
                  <a:pt x="0" y="0"/>
                </a:moveTo>
                <a:lnTo>
                  <a:pt x="4229092" y="0"/>
                </a:lnTo>
                <a:lnTo>
                  <a:pt x="4229092" y="2368292"/>
                </a:lnTo>
                <a:lnTo>
                  <a:pt x="0" y="23682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8645664" y="1619751"/>
            <a:ext cx="7915116" cy="7349103"/>
            <a:chOff x="0" y="0"/>
            <a:chExt cx="10553487" cy="9798804"/>
          </a:xfrm>
        </p:grpSpPr>
        <p:sp>
          <p:nvSpPr>
            <p:cNvPr id="8" name="TextBox 8"/>
            <p:cNvSpPr txBox="1"/>
            <p:nvPr/>
          </p:nvSpPr>
          <p:spPr>
            <a:xfrm>
              <a:off x="887568" y="0"/>
              <a:ext cx="9358310" cy="1066800"/>
            </a:xfrm>
            <a:prstGeom prst="rect">
              <a:avLst/>
            </a:prstGeom>
          </p:spPr>
          <p:txBody>
            <a:bodyPr lIns="0" tIns="0" rIns="0" bIns="0" rtlCol="0" anchor="t">
              <a:spAutoFit/>
            </a:bodyPr>
            <a:lstStyle/>
            <a:p>
              <a:pPr marL="0" lvl="0" indent="0" algn="l">
                <a:lnSpc>
                  <a:spcPts val="6360"/>
                </a:lnSpc>
                <a:spcBef>
                  <a:spcPct val="0"/>
                </a:spcBef>
              </a:pPr>
              <a:r>
                <a:rPr lang="en-US" sz="5300" b="1">
                  <a:solidFill>
                    <a:srgbClr val="000000"/>
                  </a:solidFill>
                  <a:latin typeface="Museo Moderno Bold"/>
                  <a:ea typeface="Museo Moderno Bold"/>
                  <a:cs typeface="Museo Moderno Bold"/>
                  <a:sym typeface="Museo Moderno Bold"/>
                </a:rPr>
                <a:t>Problem Statement</a:t>
              </a:r>
            </a:p>
          </p:txBody>
        </p:sp>
        <p:sp>
          <p:nvSpPr>
            <p:cNvPr id="9" name="TextBox 9"/>
            <p:cNvSpPr txBox="1"/>
            <p:nvPr/>
          </p:nvSpPr>
          <p:spPr>
            <a:xfrm>
              <a:off x="0" y="768564"/>
              <a:ext cx="10553487" cy="9030239"/>
            </a:xfrm>
            <a:prstGeom prst="rect">
              <a:avLst/>
            </a:prstGeom>
          </p:spPr>
          <p:txBody>
            <a:bodyPr lIns="0" tIns="0" rIns="0" bIns="0" rtlCol="0" anchor="t">
              <a:spAutoFit/>
            </a:bodyPr>
            <a:lstStyle/>
            <a:p>
              <a:pPr algn="l">
                <a:lnSpc>
                  <a:spcPts val="3631"/>
                </a:lnSpc>
              </a:pPr>
              <a:endParaRPr/>
            </a:p>
            <a:p>
              <a:pPr marL="559993" lvl="1" indent="-279996" algn="l">
                <a:lnSpc>
                  <a:spcPts val="3631"/>
                </a:lnSpc>
                <a:buFont typeface="Arial"/>
                <a:buChar char="•"/>
              </a:pPr>
              <a:r>
                <a:rPr lang="en-US" sz="2593">
                  <a:solidFill>
                    <a:srgbClr val="000000"/>
                  </a:solidFill>
                  <a:latin typeface="Solomon Sans"/>
                  <a:ea typeface="Solomon Sans"/>
                  <a:cs typeface="Solomon Sans"/>
                  <a:sym typeface="Solomon Sans"/>
                </a:rPr>
                <a:t>Hospitals generate large amounts of patient, admission, department, and resource data, which can be difficult to manage and analyze.</a:t>
              </a:r>
            </a:p>
            <a:p>
              <a:pPr marL="559993" lvl="1" indent="-279996" algn="l">
                <a:lnSpc>
                  <a:spcPts val="3631"/>
                </a:lnSpc>
                <a:buFont typeface="Arial"/>
                <a:buChar char="•"/>
              </a:pPr>
              <a:r>
                <a:rPr lang="en-US" sz="2593">
                  <a:solidFill>
                    <a:srgbClr val="000000"/>
                  </a:solidFill>
                  <a:latin typeface="Solomon Sans"/>
                  <a:ea typeface="Solomon Sans"/>
                  <a:cs typeface="Solomon Sans"/>
                  <a:sym typeface="Solomon Sans"/>
                </a:rPr>
                <a:t>Raw healthcare data may contain missing values, inconsistencies, and other data-quality issues.</a:t>
              </a:r>
            </a:p>
            <a:p>
              <a:pPr marL="559993" lvl="1" indent="-279996" algn="l">
                <a:lnSpc>
                  <a:spcPts val="3631"/>
                </a:lnSpc>
                <a:buFont typeface="Arial"/>
                <a:buChar char="•"/>
              </a:pPr>
              <a:r>
                <a:rPr lang="en-US" sz="2593">
                  <a:solidFill>
                    <a:srgbClr val="000000"/>
                  </a:solidFill>
                  <a:latin typeface="Solomon Sans"/>
                  <a:ea typeface="Solomon Sans"/>
                  <a:cs typeface="Solomon Sans"/>
                  <a:sym typeface="Solomon Sans"/>
                </a:rPr>
                <a:t>MedTrack_DV cleans, transforms, and analyzes the data to monitor patient flow, department performance, resource utilization, and hospital performance.</a:t>
              </a:r>
            </a:p>
            <a:p>
              <a:pPr marL="559993" lvl="1" indent="-279996" algn="l">
                <a:lnSpc>
                  <a:spcPts val="3631"/>
                </a:lnSpc>
                <a:spcBef>
                  <a:spcPct val="0"/>
                </a:spcBef>
                <a:buFont typeface="Arial"/>
                <a:buChar char="•"/>
              </a:pPr>
              <a:r>
                <a:rPr lang="en-US" sz="2593">
                  <a:solidFill>
                    <a:srgbClr val="000000"/>
                  </a:solidFill>
                  <a:latin typeface="Solomon Sans"/>
                  <a:ea typeface="Solomon Sans"/>
                  <a:cs typeface="Solomon Sans"/>
                  <a:sym typeface="Solomon Sans"/>
                </a:rPr>
                <a:t>The results are presented through interactive Tableau dashboards, providing a unified view of hospital operations.</a:t>
              </a:r>
            </a:p>
            <a:p>
              <a:pPr marL="0" lvl="0" indent="0" algn="l">
                <a:lnSpc>
                  <a:spcPts val="3631"/>
                </a:lnSpc>
                <a:spcBef>
                  <a:spcPct val="0"/>
                </a:spcBef>
              </a:pPr>
              <a:endParaRPr lang="en-US" sz="2593">
                <a:solidFill>
                  <a:srgbClr val="000000"/>
                </a:solidFill>
                <a:latin typeface="Solomon Sans"/>
                <a:ea typeface="Solomon Sans"/>
                <a:cs typeface="Solomon Sans"/>
                <a:sym typeface="Solomo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7753539" y="1028700"/>
            <a:ext cx="9098659" cy="8229600"/>
          </a:xfrm>
          <a:custGeom>
            <a:avLst/>
            <a:gdLst/>
            <a:ahLst/>
            <a:cxnLst/>
            <a:rect l="l" t="t" r="r" b="b"/>
            <a:pathLst>
              <a:path w="9098659" h="8229600">
                <a:moveTo>
                  <a:pt x="0" y="0"/>
                </a:moveTo>
                <a:lnTo>
                  <a:pt x="9098659" y="0"/>
                </a:lnTo>
                <a:lnTo>
                  <a:pt x="9098659" y="8229600"/>
                </a:lnTo>
                <a:lnTo>
                  <a:pt x="0" y="8229600"/>
                </a:lnTo>
                <a:lnTo>
                  <a:pt x="0" y="0"/>
                </a:lnTo>
                <a:close/>
              </a:path>
            </a:pathLst>
          </a:custGeom>
          <a:blipFill>
            <a:blip r:embed="rId2">
              <a:alphaModFix amt="8999"/>
            </a:blip>
            <a:stretch>
              <a:fillRect l="-238009" t="-20122" r="-41306" b="-51400"/>
            </a:stretch>
          </a:blipFill>
          <a:ln w="285750" cap="rnd">
            <a:solidFill>
              <a:srgbClr val="FAFBFC">
                <a:alpha val="8627"/>
              </a:srgbClr>
            </a:solidFill>
            <a:prstDash val="solid"/>
            <a:round/>
          </a:ln>
        </p:spPr>
        <p:txBody>
          <a:bodyPr/>
          <a:lstStyle/>
          <a:p>
            <a:endParaRPr lang="en-IN"/>
          </a:p>
        </p:txBody>
      </p:sp>
      <p:sp>
        <p:nvSpPr>
          <p:cNvPr id="3" name="Freeform 3"/>
          <p:cNvSpPr/>
          <p:nvPr/>
        </p:nvSpPr>
        <p:spPr>
          <a:xfrm rot="2096273">
            <a:off x="16118869" y="-11254"/>
            <a:ext cx="1466658" cy="2346653"/>
          </a:xfrm>
          <a:custGeom>
            <a:avLst/>
            <a:gdLst/>
            <a:ahLst/>
            <a:cxnLst/>
            <a:rect l="l" t="t" r="r" b="b"/>
            <a:pathLst>
              <a:path w="1466658" h="2346653">
                <a:moveTo>
                  <a:pt x="0" y="0"/>
                </a:moveTo>
                <a:lnTo>
                  <a:pt x="1466658" y="0"/>
                </a:lnTo>
                <a:lnTo>
                  <a:pt x="1466658" y="2346652"/>
                </a:lnTo>
                <a:lnTo>
                  <a:pt x="0" y="2346652"/>
                </a:lnTo>
                <a:lnTo>
                  <a:pt x="0" y="0"/>
                </a:lnTo>
                <a:close/>
              </a:path>
            </a:pathLst>
          </a:custGeom>
          <a:blipFill>
            <a:blip r:embed="rId3"/>
            <a:stretch>
              <a:fillRect/>
            </a:stretch>
          </a:blipFill>
        </p:spPr>
        <p:txBody>
          <a:bodyPr/>
          <a:lstStyle/>
          <a:p>
            <a:endParaRPr lang="en-IN"/>
          </a:p>
        </p:txBody>
      </p:sp>
      <p:sp>
        <p:nvSpPr>
          <p:cNvPr id="4" name="Freeform 4"/>
          <p:cNvSpPr/>
          <p:nvPr/>
        </p:nvSpPr>
        <p:spPr>
          <a:xfrm>
            <a:off x="1580279" y="866365"/>
            <a:ext cx="4783403" cy="8391935"/>
          </a:xfrm>
          <a:custGeom>
            <a:avLst/>
            <a:gdLst/>
            <a:ahLst/>
            <a:cxnLst/>
            <a:rect l="l" t="t" r="r" b="b"/>
            <a:pathLst>
              <a:path w="4783403" h="8391935">
                <a:moveTo>
                  <a:pt x="0" y="0"/>
                </a:moveTo>
                <a:lnTo>
                  <a:pt x="4783403" y="0"/>
                </a:lnTo>
                <a:lnTo>
                  <a:pt x="4783403" y="8391935"/>
                </a:lnTo>
                <a:lnTo>
                  <a:pt x="0" y="83919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2074118" y="2346653"/>
            <a:ext cx="1432638" cy="1425475"/>
          </a:xfrm>
          <a:custGeom>
            <a:avLst/>
            <a:gdLst/>
            <a:ahLst/>
            <a:cxnLst/>
            <a:rect l="l" t="t" r="r" b="b"/>
            <a:pathLst>
              <a:path w="1432638" h="1425475">
                <a:moveTo>
                  <a:pt x="0" y="0"/>
                </a:moveTo>
                <a:lnTo>
                  <a:pt x="1432638" y="0"/>
                </a:lnTo>
                <a:lnTo>
                  <a:pt x="1432638" y="1425475"/>
                </a:lnTo>
                <a:lnTo>
                  <a:pt x="0" y="14254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6321431" y="8578377"/>
            <a:ext cx="2293454" cy="1708623"/>
          </a:xfrm>
          <a:custGeom>
            <a:avLst/>
            <a:gdLst/>
            <a:ahLst/>
            <a:cxnLst/>
            <a:rect l="l" t="t" r="r" b="b"/>
            <a:pathLst>
              <a:path w="2293454" h="1708623">
                <a:moveTo>
                  <a:pt x="0" y="0"/>
                </a:moveTo>
                <a:lnTo>
                  <a:pt x="2293454" y="0"/>
                </a:lnTo>
                <a:lnTo>
                  <a:pt x="2293454" y="1708623"/>
                </a:lnTo>
                <a:lnTo>
                  <a:pt x="0" y="17086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8645664" y="1945977"/>
            <a:ext cx="7932978" cy="6131644"/>
            <a:chOff x="0" y="0"/>
            <a:chExt cx="10577304" cy="8175525"/>
          </a:xfrm>
        </p:grpSpPr>
        <p:sp>
          <p:nvSpPr>
            <p:cNvPr id="8" name="TextBox 8"/>
            <p:cNvSpPr txBox="1"/>
            <p:nvPr/>
          </p:nvSpPr>
          <p:spPr>
            <a:xfrm>
              <a:off x="887568" y="0"/>
              <a:ext cx="9358310" cy="1066800"/>
            </a:xfrm>
            <a:prstGeom prst="rect">
              <a:avLst/>
            </a:prstGeom>
          </p:spPr>
          <p:txBody>
            <a:bodyPr lIns="0" tIns="0" rIns="0" bIns="0" rtlCol="0" anchor="t">
              <a:spAutoFit/>
            </a:bodyPr>
            <a:lstStyle/>
            <a:p>
              <a:pPr marL="0" lvl="0" indent="0" algn="l">
                <a:lnSpc>
                  <a:spcPts val="6360"/>
                </a:lnSpc>
                <a:spcBef>
                  <a:spcPct val="0"/>
                </a:spcBef>
              </a:pPr>
              <a:r>
                <a:rPr lang="en-US" sz="5300" b="1">
                  <a:solidFill>
                    <a:srgbClr val="000000"/>
                  </a:solidFill>
                  <a:latin typeface="Museo Moderno Bold"/>
                  <a:ea typeface="Museo Moderno Bold"/>
                  <a:cs typeface="Museo Moderno Bold"/>
                  <a:sym typeface="Museo Moderno Bold"/>
                </a:rPr>
                <a:t>Project Objective</a:t>
              </a:r>
            </a:p>
          </p:txBody>
        </p:sp>
        <p:sp>
          <p:nvSpPr>
            <p:cNvPr id="9" name="TextBox 9"/>
            <p:cNvSpPr txBox="1"/>
            <p:nvPr/>
          </p:nvSpPr>
          <p:spPr>
            <a:xfrm>
              <a:off x="0" y="1536640"/>
              <a:ext cx="10577304" cy="6638885"/>
            </a:xfrm>
            <a:prstGeom prst="rect">
              <a:avLst/>
            </a:prstGeom>
          </p:spPr>
          <p:txBody>
            <a:bodyPr lIns="0" tIns="0" rIns="0" bIns="0" rtlCol="0" anchor="t">
              <a:spAutoFit/>
            </a:bodyPr>
            <a:lstStyle/>
            <a:p>
              <a:pPr marL="561256" lvl="1" indent="-280628" algn="l">
                <a:lnSpc>
                  <a:spcPts val="3639"/>
                </a:lnSpc>
                <a:buFont typeface="Arial"/>
                <a:buChar char="•"/>
              </a:pPr>
              <a:r>
                <a:rPr lang="en-US" sz="2599">
                  <a:solidFill>
                    <a:srgbClr val="000000"/>
                  </a:solidFill>
                  <a:latin typeface="Solomon Sans"/>
                  <a:ea typeface="Solomon Sans"/>
                  <a:cs typeface="Solomon Sans"/>
                  <a:sym typeface="Solomon Sans"/>
                </a:rPr>
                <a:t>Integrate, clean, and transform hospital and patient datasets for reliable analysis.</a:t>
              </a:r>
            </a:p>
            <a:p>
              <a:pPr marL="561256" lvl="1" indent="-280628" algn="l">
                <a:lnSpc>
                  <a:spcPts val="3639"/>
                </a:lnSpc>
                <a:buFont typeface="Arial"/>
                <a:buChar char="•"/>
              </a:pPr>
              <a:r>
                <a:rPr lang="en-US" sz="2599">
                  <a:solidFill>
                    <a:srgbClr val="000000"/>
                  </a:solidFill>
                  <a:latin typeface="Solomon Sans"/>
                  <a:ea typeface="Solomon Sans"/>
                  <a:cs typeface="Solomon Sans"/>
                  <a:sym typeface="Solomon Sans"/>
                </a:rPr>
                <a:t>Develop KPIs and insights for patient flow, hospital performance, department efficiency, and resource utilization.</a:t>
              </a:r>
            </a:p>
            <a:p>
              <a:pPr marL="561256" lvl="1" indent="-280628" algn="l">
                <a:lnSpc>
                  <a:spcPts val="3639"/>
                </a:lnSpc>
                <a:buFont typeface="Arial"/>
                <a:buChar char="•"/>
              </a:pPr>
              <a:r>
                <a:rPr lang="en-US" sz="2599">
                  <a:solidFill>
                    <a:srgbClr val="000000"/>
                  </a:solidFill>
                  <a:latin typeface="Solomon Sans"/>
                  <a:ea typeface="Solomon Sans"/>
                  <a:cs typeface="Solomon Sans"/>
                  <a:sym typeface="Solomon Sans"/>
                </a:rPr>
                <a:t>Build four interactive Tableau dashboards covering the major hospital operational areas.</a:t>
              </a:r>
            </a:p>
            <a:p>
              <a:pPr marL="561256" lvl="1" indent="-280628" algn="l">
                <a:lnSpc>
                  <a:spcPts val="3639"/>
                </a:lnSpc>
                <a:spcBef>
                  <a:spcPct val="0"/>
                </a:spcBef>
                <a:buFont typeface="Arial"/>
                <a:buChar char="•"/>
              </a:pPr>
              <a:r>
                <a:rPr lang="en-US" sz="2599">
                  <a:solidFill>
                    <a:srgbClr val="000000"/>
                  </a:solidFill>
                  <a:latin typeface="Solomon Sans"/>
                  <a:ea typeface="Solomon Sans"/>
                  <a:cs typeface="Solomon Sans"/>
                  <a:sym typeface="Solomon Sans"/>
                </a:rPr>
                <a:t>Provide a unified analytical solution through a single Tableau workbook to support data-driven decision-making.</a:t>
              </a:r>
            </a:p>
            <a:p>
              <a:pPr marL="0" lvl="0" indent="0" algn="l">
                <a:lnSpc>
                  <a:spcPts val="3639"/>
                </a:lnSpc>
                <a:spcBef>
                  <a:spcPct val="0"/>
                </a:spcBef>
              </a:pPr>
              <a:endParaRPr lang="en-US" sz="2599">
                <a:solidFill>
                  <a:srgbClr val="000000"/>
                </a:solidFill>
                <a:latin typeface="Solomon Sans"/>
                <a:ea typeface="Solomon Sans"/>
                <a:cs typeface="Solomon Sans"/>
                <a:sym typeface="Solomon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8F77">
                <a:alpha val="62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427464" y="5691658"/>
            <a:ext cx="2671908" cy="4148099"/>
            <a:chOff x="0" y="0"/>
            <a:chExt cx="703712" cy="1092504"/>
          </a:xfrm>
        </p:grpSpPr>
        <p:sp>
          <p:nvSpPr>
            <p:cNvPr id="3" name="Freeform 3"/>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4" name="TextBox 4"/>
            <p:cNvSpPr txBox="1"/>
            <p:nvPr/>
          </p:nvSpPr>
          <p:spPr>
            <a:xfrm>
              <a:off x="0" y="-66675"/>
              <a:ext cx="703712" cy="1159179"/>
            </a:xfrm>
            <a:prstGeom prst="rect">
              <a:avLst/>
            </a:prstGeom>
          </p:spPr>
          <p:txBody>
            <a:bodyPr lIns="254000" tIns="254000" rIns="254000" bIns="254000" rtlCol="0" anchor="ctr"/>
            <a:lstStyle/>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Used to view and validate raw and cleaned datasets before and after the data-cleaning process.</a:t>
              </a:r>
            </a:p>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Helped in reviewing data structure, values, and overall data quality.</a:t>
              </a:r>
            </a:p>
            <a:p>
              <a:pPr algn="l">
                <a:lnSpc>
                  <a:spcPts val="2520"/>
                </a:lnSpc>
              </a:pPr>
              <a:endParaRPr lang="en-US" sz="1800">
                <a:solidFill>
                  <a:srgbClr val="000000"/>
                </a:solidFill>
                <a:latin typeface="Solomon Sans"/>
                <a:ea typeface="Solomon Sans"/>
                <a:cs typeface="Solomon Sans"/>
                <a:sym typeface="Solomon Sans"/>
              </a:endParaRPr>
            </a:p>
          </p:txBody>
        </p:sp>
      </p:grpSp>
      <p:pic>
        <p:nvPicPr>
          <p:cNvPr id="5" name="Picture 5"/>
          <p:cNvPicPr>
            <a:picLocks noChangeAspect="1"/>
          </p:cNvPicPr>
          <p:nvPr/>
        </p:nvPicPr>
        <p:blipFill>
          <a:blip r:embed="rId2">
            <a:alphaModFix amt="30000"/>
          </a:blip>
          <a:stretch>
            <a:fillRect/>
          </a:stretch>
        </p:blipFill>
        <p:spPr>
          <a:xfrm>
            <a:off x="-314207" y="-163852"/>
            <a:ext cx="3770489" cy="3651586"/>
          </a:xfrm>
          <a:prstGeom prst="rect">
            <a:avLst/>
          </a:prstGeom>
        </p:spPr>
      </p:pic>
      <p:grpSp>
        <p:nvGrpSpPr>
          <p:cNvPr id="6" name="Group 6"/>
          <p:cNvGrpSpPr/>
          <p:nvPr/>
        </p:nvGrpSpPr>
        <p:grpSpPr>
          <a:xfrm>
            <a:off x="1525763" y="2416249"/>
            <a:ext cx="2475309" cy="2475309"/>
            <a:chOff x="0" y="0"/>
            <a:chExt cx="812800" cy="812800"/>
          </a:xfrm>
        </p:grpSpPr>
        <p:sp>
          <p:nvSpPr>
            <p:cNvPr id="7" name="Freeform 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8" name="TextBox 8"/>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sp>
        <p:nvSpPr>
          <p:cNvPr id="9" name="Freeform 9"/>
          <p:cNvSpPr/>
          <p:nvPr/>
        </p:nvSpPr>
        <p:spPr>
          <a:xfrm>
            <a:off x="2000606" y="2623077"/>
            <a:ext cx="1525624" cy="2061654"/>
          </a:xfrm>
          <a:custGeom>
            <a:avLst/>
            <a:gdLst/>
            <a:ahLst/>
            <a:cxnLst/>
            <a:rect l="l" t="t" r="r" b="b"/>
            <a:pathLst>
              <a:path w="1525624" h="2061654">
                <a:moveTo>
                  <a:pt x="0" y="0"/>
                </a:moveTo>
                <a:lnTo>
                  <a:pt x="1525624" y="0"/>
                </a:lnTo>
                <a:lnTo>
                  <a:pt x="1525624" y="2061654"/>
                </a:lnTo>
                <a:lnTo>
                  <a:pt x="0" y="2061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13726723" y="5691658"/>
            <a:ext cx="2671908" cy="4148099"/>
            <a:chOff x="0" y="0"/>
            <a:chExt cx="703712" cy="1092504"/>
          </a:xfrm>
        </p:grpSpPr>
        <p:sp>
          <p:nvSpPr>
            <p:cNvPr id="11" name="Freeform 11"/>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12" name="TextBox 12"/>
            <p:cNvSpPr txBox="1"/>
            <p:nvPr/>
          </p:nvSpPr>
          <p:spPr>
            <a:xfrm>
              <a:off x="0" y="-66675"/>
              <a:ext cx="703712" cy="1159179"/>
            </a:xfrm>
            <a:prstGeom prst="rect">
              <a:avLst/>
            </a:prstGeom>
          </p:spPr>
          <p:txBody>
            <a:bodyPr lIns="254000" tIns="254000" rIns="254000" bIns="254000" rtlCol="0" anchor="ctr"/>
            <a:lstStyle/>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Used for project version control, collaboration, and maintaining project files.</a:t>
              </a:r>
            </a:p>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Provided a centralized platform for showcasing and submitting the project work.</a:t>
              </a:r>
            </a:p>
            <a:p>
              <a:pPr algn="l">
                <a:lnSpc>
                  <a:spcPts val="2520"/>
                </a:lnSpc>
              </a:pPr>
              <a:endParaRPr lang="en-US" sz="1800">
                <a:solidFill>
                  <a:srgbClr val="000000"/>
                </a:solidFill>
                <a:latin typeface="Solomon Sans"/>
                <a:ea typeface="Solomon Sans"/>
                <a:cs typeface="Solomon Sans"/>
                <a:sym typeface="Solomon Sans"/>
              </a:endParaRPr>
            </a:p>
          </p:txBody>
        </p:sp>
      </p:grpSp>
      <p:grpSp>
        <p:nvGrpSpPr>
          <p:cNvPr id="13" name="Group 13"/>
          <p:cNvGrpSpPr/>
          <p:nvPr/>
        </p:nvGrpSpPr>
        <p:grpSpPr>
          <a:xfrm>
            <a:off x="13825022" y="2416249"/>
            <a:ext cx="2475309" cy="2475309"/>
            <a:chOff x="0" y="0"/>
            <a:chExt cx="812800" cy="812800"/>
          </a:xfrm>
        </p:grpSpPr>
        <p:sp>
          <p:nvSpPr>
            <p:cNvPr id="14" name="Freeform 14"/>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15" name="TextBox 15"/>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grpSp>
        <p:nvGrpSpPr>
          <p:cNvPr id="16" name="Group 16"/>
          <p:cNvGrpSpPr/>
          <p:nvPr/>
        </p:nvGrpSpPr>
        <p:grpSpPr>
          <a:xfrm>
            <a:off x="9753013" y="5689090"/>
            <a:ext cx="2573608" cy="4215041"/>
            <a:chOff x="0" y="0"/>
            <a:chExt cx="677823" cy="1110134"/>
          </a:xfrm>
        </p:grpSpPr>
        <p:sp>
          <p:nvSpPr>
            <p:cNvPr id="17" name="Freeform 17"/>
            <p:cNvSpPr/>
            <p:nvPr/>
          </p:nvSpPr>
          <p:spPr>
            <a:xfrm>
              <a:off x="0" y="0"/>
              <a:ext cx="677823" cy="1110134"/>
            </a:xfrm>
            <a:custGeom>
              <a:avLst/>
              <a:gdLst/>
              <a:ahLst/>
              <a:cxnLst/>
              <a:rect l="l" t="t" r="r" b="b"/>
              <a:pathLst>
                <a:path w="677823" h="1110134">
                  <a:moveTo>
                    <a:pt x="60164" y="0"/>
                  </a:moveTo>
                  <a:lnTo>
                    <a:pt x="617659" y="0"/>
                  </a:lnTo>
                  <a:cubicBezTo>
                    <a:pt x="650886" y="0"/>
                    <a:pt x="677823" y="26936"/>
                    <a:pt x="677823" y="60164"/>
                  </a:cubicBezTo>
                  <a:lnTo>
                    <a:pt x="677823" y="1049970"/>
                  </a:lnTo>
                  <a:cubicBezTo>
                    <a:pt x="677823" y="1083198"/>
                    <a:pt x="650886" y="1110134"/>
                    <a:pt x="617659" y="1110134"/>
                  </a:cubicBezTo>
                  <a:lnTo>
                    <a:pt x="60164" y="1110134"/>
                  </a:lnTo>
                  <a:cubicBezTo>
                    <a:pt x="26936" y="1110134"/>
                    <a:pt x="0" y="1083198"/>
                    <a:pt x="0" y="1049970"/>
                  </a:cubicBezTo>
                  <a:lnTo>
                    <a:pt x="0" y="60164"/>
                  </a:lnTo>
                  <a:cubicBezTo>
                    <a:pt x="0" y="26936"/>
                    <a:pt x="26936" y="0"/>
                    <a:pt x="60164" y="0"/>
                  </a:cubicBezTo>
                  <a:close/>
                </a:path>
              </a:pathLst>
            </a:custGeom>
            <a:solidFill>
              <a:srgbClr val="FFFFFF"/>
            </a:solidFill>
          </p:spPr>
          <p:txBody>
            <a:bodyPr/>
            <a:lstStyle/>
            <a:p>
              <a:endParaRPr lang="en-IN"/>
            </a:p>
          </p:txBody>
        </p:sp>
        <p:sp>
          <p:nvSpPr>
            <p:cNvPr id="18" name="TextBox 18"/>
            <p:cNvSpPr txBox="1"/>
            <p:nvPr/>
          </p:nvSpPr>
          <p:spPr>
            <a:xfrm>
              <a:off x="0" y="-57150"/>
              <a:ext cx="677823" cy="1167284"/>
            </a:xfrm>
            <a:prstGeom prst="rect">
              <a:avLst/>
            </a:prstGeom>
          </p:spPr>
          <p:txBody>
            <a:bodyPr lIns="254000" tIns="254000" rIns="254000" bIns="254000" rtlCol="0" anchor="ctr"/>
            <a:lstStyle/>
            <a:p>
              <a:pPr marL="367031" lvl="1" indent="-183515" algn="l">
                <a:lnSpc>
                  <a:spcPts val="2380"/>
                </a:lnSpc>
                <a:buFont typeface="Arial"/>
                <a:buChar char="•"/>
              </a:pPr>
              <a:r>
                <a:rPr lang="en-US" sz="1700">
                  <a:solidFill>
                    <a:srgbClr val="000000"/>
                  </a:solidFill>
                  <a:latin typeface="Solomon Sans"/>
                  <a:ea typeface="Solomon Sans"/>
                  <a:cs typeface="Solomon Sans"/>
                  <a:sym typeface="Solomon Sans"/>
                </a:rPr>
                <a:t>Used to develop interactive dashboards and visualize hospital KPIs and insights.</a:t>
              </a:r>
            </a:p>
            <a:p>
              <a:pPr marL="367031" lvl="1" indent="-183515" algn="l">
                <a:lnSpc>
                  <a:spcPts val="2380"/>
                </a:lnSpc>
                <a:buFont typeface="Arial"/>
                <a:buChar char="•"/>
              </a:pPr>
              <a:r>
                <a:rPr lang="en-US" sz="1700">
                  <a:solidFill>
                    <a:srgbClr val="000000"/>
                  </a:solidFill>
                  <a:latin typeface="Solomon Sans"/>
                  <a:ea typeface="Solomon Sans"/>
                  <a:cs typeface="Solomon Sans"/>
                  <a:sym typeface="Solomon Sans"/>
                </a:rPr>
                <a:t>Helped present hospital performance, patient flow, department analytics, and resource utilization.</a:t>
              </a:r>
            </a:p>
          </p:txBody>
        </p:sp>
      </p:grpSp>
      <p:grpSp>
        <p:nvGrpSpPr>
          <p:cNvPr id="19" name="Group 19"/>
          <p:cNvGrpSpPr/>
          <p:nvPr/>
        </p:nvGrpSpPr>
        <p:grpSpPr>
          <a:xfrm>
            <a:off x="9851313" y="2416249"/>
            <a:ext cx="2475309" cy="2475309"/>
            <a:chOff x="0" y="0"/>
            <a:chExt cx="812800" cy="812800"/>
          </a:xfrm>
        </p:grpSpPr>
        <p:sp>
          <p:nvSpPr>
            <p:cNvPr id="20" name="Freeform 2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21" name="TextBox 21"/>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grpSp>
        <p:nvGrpSpPr>
          <p:cNvPr id="22" name="Group 22"/>
          <p:cNvGrpSpPr/>
          <p:nvPr/>
        </p:nvGrpSpPr>
        <p:grpSpPr>
          <a:xfrm>
            <a:off x="5416228" y="5691658"/>
            <a:ext cx="2671908" cy="4148099"/>
            <a:chOff x="0" y="0"/>
            <a:chExt cx="703712" cy="1092504"/>
          </a:xfrm>
        </p:grpSpPr>
        <p:sp>
          <p:nvSpPr>
            <p:cNvPr id="23" name="Freeform 23"/>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24" name="TextBox 24"/>
            <p:cNvSpPr txBox="1"/>
            <p:nvPr/>
          </p:nvSpPr>
          <p:spPr>
            <a:xfrm>
              <a:off x="0" y="-66675"/>
              <a:ext cx="703712" cy="1159179"/>
            </a:xfrm>
            <a:prstGeom prst="rect">
              <a:avLst/>
            </a:prstGeom>
          </p:spPr>
          <p:txBody>
            <a:bodyPr lIns="254000" tIns="254000" rIns="254000" bIns="254000" rtlCol="0" anchor="ctr"/>
            <a:lstStyle/>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Used for data cleaning, transformation, missing-value handling, and outlier treatment.</a:t>
              </a:r>
            </a:p>
            <a:p>
              <a:pPr marL="388620" lvl="1" indent="-194310" algn="l">
                <a:lnSpc>
                  <a:spcPts val="2520"/>
                </a:lnSpc>
                <a:buFont typeface="Arial"/>
                <a:buChar char="•"/>
              </a:pPr>
              <a:r>
                <a:rPr lang="en-US" sz="1800">
                  <a:solidFill>
                    <a:srgbClr val="000000"/>
                  </a:solidFill>
                  <a:latin typeface="Solomon Sans"/>
                  <a:ea typeface="Solomon Sans"/>
                  <a:cs typeface="Solomon Sans"/>
                  <a:sym typeface="Solomon Sans"/>
                </a:rPr>
                <a:t>Pandas was used to prepare the final processed datasets for analysis.</a:t>
              </a:r>
            </a:p>
            <a:p>
              <a:pPr algn="l">
                <a:lnSpc>
                  <a:spcPts val="2520"/>
                </a:lnSpc>
              </a:pPr>
              <a:endParaRPr lang="en-US" sz="1800">
                <a:solidFill>
                  <a:srgbClr val="000000"/>
                </a:solidFill>
                <a:latin typeface="Solomon Sans"/>
                <a:ea typeface="Solomon Sans"/>
                <a:cs typeface="Solomon Sans"/>
                <a:sym typeface="Solomon Sans"/>
              </a:endParaRPr>
            </a:p>
          </p:txBody>
        </p:sp>
      </p:grpSp>
      <p:grpSp>
        <p:nvGrpSpPr>
          <p:cNvPr id="25" name="Group 25"/>
          <p:cNvGrpSpPr/>
          <p:nvPr/>
        </p:nvGrpSpPr>
        <p:grpSpPr>
          <a:xfrm>
            <a:off x="5514527" y="2416249"/>
            <a:ext cx="2475309" cy="2475309"/>
            <a:chOff x="0" y="0"/>
            <a:chExt cx="812800" cy="812800"/>
          </a:xfrm>
        </p:grpSpPr>
        <p:sp>
          <p:nvSpPr>
            <p:cNvPr id="26" name="Freeform 2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27" name="TextBox 27"/>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sp>
        <p:nvSpPr>
          <p:cNvPr id="28" name="Freeform 28"/>
          <p:cNvSpPr/>
          <p:nvPr/>
        </p:nvSpPr>
        <p:spPr>
          <a:xfrm>
            <a:off x="5471524" y="2373246"/>
            <a:ext cx="2561316" cy="2561316"/>
          </a:xfrm>
          <a:custGeom>
            <a:avLst/>
            <a:gdLst/>
            <a:ahLst/>
            <a:cxnLst/>
            <a:rect l="l" t="t" r="r" b="b"/>
            <a:pathLst>
              <a:path w="2561316" h="2561316">
                <a:moveTo>
                  <a:pt x="0" y="0"/>
                </a:moveTo>
                <a:lnTo>
                  <a:pt x="2561316" y="0"/>
                </a:lnTo>
                <a:lnTo>
                  <a:pt x="2561316" y="2561316"/>
                </a:lnTo>
                <a:lnTo>
                  <a:pt x="0" y="2561316"/>
                </a:lnTo>
                <a:lnTo>
                  <a:pt x="0" y="0"/>
                </a:lnTo>
                <a:close/>
              </a:path>
            </a:pathLst>
          </a:custGeom>
          <a:blipFill>
            <a:blip r:embed="rId4"/>
            <a:stretch>
              <a:fillRect/>
            </a:stretch>
          </a:blipFill>
        </p:spPr>
        <p:txBody>
          <a:bodyPr/>
          <a:lstStyle/>
          <a:p>
            <a:endParaRPr lang="en-IN"/>
          </a:p>
        </p:txBody>
      </p:sp>
      <p:sp>
        <p:nvSpPr>
          <p:cNvPr id="29" name="Freeform 29"/>
          <p:cNvSpPr/>
          <p:nvPr/>
        </p:nvSpPr>
        <p:spPr>
          <a:xfrm>
            <a:off x="9885000" y="2449937"/>
            <a:ext cx="2407934" cy="2407934"/>
          </a:xfrm>
          <a:custGeom>
            <a:avLst/>
            <a:gdLst/>
            <a:ahLst/>
            <a:cxnLst/>
            <a:rect l="l" t="t" r="r" b="b"/>
            <a:pathLst>
              <a:path w="2407934" h="2407934">
                <a:moveTo>
                  <a:pt x="0" y="0"/>
                </a:moveTo>
                <a:lnTo>
                  <a:pt x="2407934" y="0"/>
                </a:lnTo>
                <a:lnTo>
                  <a:pt x="2407934" y="2407934"/>
                </a:lnTo>
                <a:lnTo>
                  <a:pt x="0" y="2407934"/>
                </a:lnTo>
                <a:lnTo>
                  <a:pt x="0" y="0"/>
                </a:lnTo>
                <a:close/>
              </a:path>
            </a:pathLst>
          </a:custGeom>
          <a:blipFill>
            <a:blip r:embed="rId5"/>
            <a:stretch>
              <a:fillRect/>
            </a:stretch>
          </a:blipFill>
        </p:spPr>
        <p:txBody>
          <a:bodyPr/>
          <a:lstStyle/>
          <a:p>
            <a:endParaRPr lang="en-IN"/>
          </a:p>
        </p:txBody>
      </p:sp>
      <p:sp>
        <p:nvSpPr>
          <p:cNvPr id="30" name="Freeform 30"/>
          <p:cNvSpPr/>
          <p:nvPr/>
        </p:nvSpPr>
        <p:spPr>
          <a:xfrm>
            <a:off x="13792027" y="2393263"/>
            <a:ext cx="2541299" cy="2541299"/>
          </a:xfrm>
          <a:custGeom>
            <a:avLst/>
            <a:gdLst/>
            <a:ahLst/>
            <a:cxnLst/>
            <a:rect l="l" t="t" r="r" b="b"/>
            <a:pathLst>
              <a:path w="2541299" h="2541299">
                <a:moveTo>
                  <a:pt x="0" y="0"/>
                </a:moveTo>
                <a:lnTo>
                  <a:pt x="2541299" y="0"/>
                </a:lnTo>
                <a:lnTo>
                  <a:pt x="2541299" y="2541299"/>
                </a:lnTo>
                <a:lnTo>
                  <a:pt x="0" y="2541299"/>
                </a:lnTo>
                <a:lnTo>
                  <a:pt x="0" y="0"/>
                </a:lnTo>
                <a:close/>
              </a:path>
            </a:pathLst>
          </a:custGeom>
          <a:blipFill>
            <a:blip r:embed="rId6"/>
            <a:stretch>
              <a:fillRect/>
            </a:stretch>
          </a:blipFill>
        </p:spPr>
        <p:txBody>
          <a:bodyPr/>
          <a:lstStyle/>
          <a:p>
            <a:endParaRPr lang="en-IN"/>
          </a:p>
        </p:txBody>
      </p:sp>
      <p:pic>
        <p:nvPicPr>
          <p:cNvPr id="31" name="Picture 31"/>
          <p:cNvPicPr>
            <a:picLocks noChangeAspect="1"/>
          </p:cNvPicPr>
          <p:nvPr/>
        </p:nvPicPr>
        <p:blipFill>
          <a:blip r:embed="rId7">
            <a:alphaModFix amt="34000"/>
          </a:blip>
          <a:stretch>
            <a:fillRect/>
          </a:stretch>
        </p:blipFill>
        <p:spPr>
          <a:xfrm>
            <a:off x="15093285" y="-341573"/>
            <a:ext cx="3913741" cy="3104292"/>
          </a:xfrm>
          <a:prstGeom prst="rect">
            <a:avLst/>
          </a:prstGeom>
        </p:spPr>
      </p:pic>
      <p:sp>
        <p:nvSpPr>
          <p:cNvPr id="32" name="TextBox 32"/>
          <p:cNvSpPr txBox="1"/>
          <p:nvPr/>
        </p:nvSpPr>
        <p:spPr>
          <a:xfrm>
            <a:off x="1801947" y="391871"/>
            <a:ext cx="15739674" cy="1076328"/>
          </a:xfrm>
          <a:prstGeom prst="rect">
            <a:avLst/>
          </a:prstGeom>
        </p:spPr>
        <p:txBody>
          <a:bodyPr lIns="0" tIns="0" rIns="0" bIns="0" rtlCol="0" anchor="t">
            <a:spAutoFit/>
          </a:bodyPr>
          <a:lstStyle/>
          <a:p>
            <a:pPr marL="0" lvl="0" indent="0" algn="l">
              <a:lnSpc>
                <a:spcPts val="8250"/>
              </a:lnSpc>
            </a:pPr>
            <a:r>
              <a:rPr lang="en-US" sz="7500" b="1">
                <a:solidFill>
                  <a:srgbClr val="000000"/>
                </a:solidFill>
                <a:latin typeface="Museo Moderno Bold"/>
                <a:ea typeface="Museo Moderno Bold"/>
                <a:cs typeface="Museo Moderno Bold"/>
                <a:sym typeface="Museo Moderno Bold"/>
              </a:rPr>
              <a:t>Technology &amp; Tools Stack Used</a:t>
            </a:r>
          </a:p>
        </p:txBody>
      </p:sp>
      <p:sp>
        <p:nvSpPr>
          <p:cNvPr id="33" name="TextBox 33"/>
          <p:cNvSpPr txBox="1"/>
          <p:nvPr/>
        </p:nvSpPr>
        <p:spPr>
          <a:xfrm>
            <a:off x="1873785" y="5017952"/>
            <a:ext cx="1779266"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EXCEL</a:t>
            </a:r>
          </a:p>
        </p:txBody>
      </p:sp>
      <p:sp>
        <p:nvSpPr>
          <p:cNvPr id="34" name="TextBox 34"/>
          <p:cNvSpPr txBox="1"/>
          <p:nvPr/>
        </p:nvSpPr>
        <p:spPr>
          <a:xfrm>
            <a:off x="14064302" y="5017952"/>
            <a:ext cx="2127287"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GITHUB</a:t>
            </a:r>
          </a:p>
        </p:txBody>
      </p:sp>
      <p:sp>
        <p:nvSpPr>
          <p:cNvPr id="35" name="TextBox 35"/>
          <p:cNvSpPr txBox="1"/>
          <p:nvPr/>
        </p:nvSpPr>
        <p:spPr>
          <a:xfrm>
            <a:off x="9602077" y="5017952"/>
            <a:ext cx="3105921"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POWER BI</a:t>
            </a:r>
          </a:p>
        </p:txBody>
      </p:sp>
      <p:sp>
        <p:nvSpPr>
          <p:cNvPr id="36" name="TextBox 36"/>
          <p:cNvSpPr txBox="1"/>
          <p:nvPr/>
        </p:nvSpPr>
        <p:spPr>
          <a:xfrm>
            <a:off x="5666859" y="5017952"/>
            <a:ext cx="2322977"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PYTHON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1184944" y="-1953953"/>
            <a:ext cx="6082893" cy="7354606"/>
          </a:xfrm>
          <a:prstGeom prst="rect">
            <a:avLst/>
          </a:prstGeom>
        </p:spPr>
      </p:pic>
      <p:pic>
        <p:nvPicPr>
          <p:cNvPr id="3" name="Picture 3"/>
          <p:cNvPicPr>
            <a:picLocks noChangeAspect="1"/>
          </p:cNvPicPr>
          <p:nvPr/>
        </p:nvPicPr>
        <p:blipFill>
          <a:blip r:embed="rId3">
            <a:alphaModFix amt="38000"/>
          </a:blip>
          <a:stretch>
            <a:fillRect/>
          </a:stretch>
        </p:blipFill>
        <p:spPr>
          <a:xfrm>
            <a:off x="-253448" y="8326447"/>
            <a:ext cx="3834809" cy="2163256"/>
          </a:xfrm>
          <a:prstGeom prst="rect">
            <a:avLst/>
          </a:prstGeom>
        </p:spPr>
      </p:pic>
      <p:pic>
        <p:nvPicPr>
          <p:cNvPr id="4" name="Picture 4"/>
          <p:cNvPicPr>
            <a:picLocks noChangeAspect="1"/>
          </p:cNvPicPr>
          <p:nvPr/>
        </p:nvPicPr>
        <p:blipFill>
          <a:blip r:embed="rId4">
            <a:alphaModFix amt="54000"/>
          </a:blip>
          <a:stretch>
            <a:fillRect/>
          </a:stretch>
        </p:blipFill>
        <p:spPr>
          <a:xfrm>
            <a:off x="11225978" y="-256076"/>
            <a:ext cx="2906373" cy="3656922"/>
          </a:xfrm>
          <a:prstGeom prst="rect">
            <a:avLst/>
          </a:prstGeom>
        </p:spPr>
      </p:pic>
      <p:sp>
        <p:nvSpPr>
          <p:cNvPr id="5" name="TextBox 5"/>
          <p:cNvSpPr txBox="1"/>
          <p:nvPr/>
        </p:nvSpPr>
        <p:spPr>
          <a:xfrm>
            <a:off x="459557" y="427096"/>
            <a:ext cx="12667901" cy="1656675"/>
          </a:xfrm>
          <a:prstGeom prst="rect">
            <a:avLst/>
          </a:prstGeom>
        </p:spPr>
        <p:txBody>
          <a:bodyPr lIns="0" tIns="0" rIns="0" bIns="0" rtlCol="0" anchor="t">
            <a:spAutoFit/>
          </a:bodyPr>
          <a:lstStyle/>
          <a:p>
            <a:pPr algn="l">
              <a:lnSpc>
                <a:spcPts val="7311"/>
              </a:lnSpc>
            </a:pPr>
            <a:r>
              <a:rPr lang="en-US" sz="6646" b="1">
                <a:solidFill>
                  <a:srgbClr val="000000"/>
                </a:solidFill>
                <a:latin typeface="Museo Moderno Bold"/>
                <a:ea typeface="Museo Moderno Bold"/>
                <a:cs typeface="Museo Moderno Bold"/>
                <a:sym typeface="Museo Moderno Bold"/>
              </a:rPr>
              <a:t>Core Features Of Project</a:t>
            </a:r>
          </a:p>
          <a:p>
            <a:pPr marL="0" lvl="0" indent="0" algn="l">
              <a:lnSpc>
                <a:spcPts val="5771"/>
              </a:lnSpc>
            </a:pPr>
            <a:r>
              <a:rPr lang="en-US" sz="5246" b="1">
                <a:solidFill>
                  <a:srgbClr val="D51313"/>
                </a:solidFill>
                <a:latin typeface="Museo Moderno Bold"/>
                <a:ea typeface="Museo Moderno Bold"/>
                <a:cs typeface="Museo Moderno Bold"/>
                <a:sym typeface="Museo Moderno Bold"/>
              </a:rPr>
              <a:t>MedTrack_DV Dashboard</a:t>
            </a:r>
          </a:p>
        </p:txBody>
      </p:sp>
      <p:sp>
        <p:nvSpPr>
          <p:cNvPr id="6" name="Freeform 6"/>
          <p:cNvSpPr/>
          <p:nvPr/>
        </p:nvSpPr>
        <p:spPr>
          <a:xfrm>
            <a:off x="12151775" y="2686870"/>
            <a:ext cx="4670886" cy="3058179"/>
          </a:xfrm>
          <a:custGeom>
            <a:avLst/>
            <a:gdLst/>
            <a:ahLst/>
            <a:cxnLst/>
            <a:rect l="l" t="t" r="r" b="b"/>
            <a:pathLst>
              <a:path w="4670886" h="3058179">
                <a:moveTo>
                  <a:pt x="0" y="0"/>
                </a:moveTo>
                <a:lnTo>
                  <a:pt x="4670886" y="0"/>
                </a:lnTo>
                <a:lnTo>
                  <a:pt x="4670886" y="3058180"/>
                </a:lnTo>
                <a:lnTo>
                  <a:pt x="0" y="3058180"/>
                </a:lnTo>
                <a:lnTo>
                  <a:pt x="0" y="0"/>
                </a:lnTo>
                <a:close/>
              </a:path>
            </a:pathLst>
          </a:custGeom>
          <a:blipFill>
            <a:blip r:embed="rId5"/>
            <a:stretch>
              <a:fillRect t="-1568"/>
            </a:stretch>
          </a:blipFill>
        </p:spPr>
        <p:txBody>
          <a:bodyPr/>
          <a:lstStyle/>
          <a:p>
            <a:endParaRPr lang="en-IN"/>
          </a:p>
        </p:txBody>
      </p:sp>
      <p:sp>
        <p:nvSpPr>
          <p:cNvPr id="7" name="Freeform 7"/>
          <p:cNvSpPr/>
          <p:nvPr/>
        </p:nvSpPr>
        <p:spPr>
          <a:xfrm>
            <a:off x="6929917" y="2686870"/>
            <a:ext cx="4598766" cy="3058179"/>
          </a:xfrm>
          <a:custGeom>
            <a:avLst/>
            <a:gdLst/>
            <a:ahLst/>
            <a:cxnLst/>
            <a:rect l="l" t="t" r="r" b="b"/>
            <a:pathLst>
              <a:path w="4598766" h="3058179">
                <a:moveTo>
                  <a:pt x="0" y="0"/>
                </a:moveTo>
                <a:lnTo>
                  <a:pt x="4598766" y="0"/>
                </a:lnTo>
                <a:lnTo>
                  <a:pt x="4598766" y="3058180"/>
                </a:lnTo>
                <a:lnTo>
                  <a:pt x="0" y="3058180"/>
                </a:lnTo>
                <a:lnTo>
                  <a:pt x="0" y="0"/>
                </a:lnTo>
                <a:close/>
              </a:path>
            </a:pathLst>
          </a:custGeom>
          <a:blipFill>
            <a:blip r:embed="rId6"/>
            <a:stretch>
              <a:fillRect/>
            </a:stretch>
          </a:blipFill>
        </p:spPr>
        <p:txBody>
          <a:bodyPr/>
          <a:lstStyle/>
          <a:p>
            <a:endParaRPr lang="en-IN"/>
          </a:p>
        </p:txBody>
      </p:sp>
      <p:sp>
        <p:nvSpPr>
          <p:cNvPr id="8" name="Freeform 8"/>
          <p:cNvSpPr/>
          <p:nvPr/>
        </p:nvSpPr>
        <p:spPr>
          <a:xfrm>
            <a:off x="1663956" y="2680757"/>
            <a:ext cx="4642868" cy="3064293"/>
          </a:xfrm>
          <a:custGeom>
            <a:avLst/>
            <a:gdLst/>
            <a:ahLst/>
            <a:cxnLst/>
            <a:rect l="l" t="t" r="r" b="b"/>
            <a:pathLst>
              <a:path w="4642868" h="3064293">
                <a:moveTo>
                  <a:pt x="0" y="0"/>
                </a:moveTo>
                <a:lnTo>
                  <a:pt x="4642868" y="0"/>
                </a:lnTo>
                <a:lnTo>
                  <a:pt x="4642868" y="3064293"/>
                </a:lnTo>
                <a:lnTo>
                  <a:pt x="0" y="3064293"/>
                </a:lnTo>
                <a:lnTo>
                  <a:pt x="0" y="0"/>
                </a:lnTo>
                <a:close/>
              </a:path>
            </a:pathLst>
          </a:custGeom>
          <a:blipFill>
            <a:blip r:embed="rId7"/>
            <a:stretch>
              <a:fillRect/>
            </a:stretch>
          </a:blipFill>
        </p:spPr>
        <p:txBody>
          <a:bodyPr/>
          <a:lstStyle/>
          <a:p>
            <a:endParaRPr lang="en-IN"/>
          </a:p>
        </p:txBody>
      </p:sp>
      <p:sp>
        <p:nvSpPr>
          <p:cNvPr id="9" name="TextBox 9"/>
          <p:cNvSpPr txBox="1"/>
          <p:nvPr/>
        </p:nvSpPr>
        <p:spPr>
          <a:xfrm>
            <a:off x="1663956" y="6179733"/>
            <a:ext cx="4949828" cy="2316507"/>
          </a:xfrm>
          <a:prstGeom prst="rect">
            <a:avLst/>
          </a:prstGeom>
        </p:spPr>
        <p:txBody>
          <a:bodyPr lIns="0" tIns="0" rIns="0" bIns="0" rtlCol="0" anchor="t">
            <a:spAutoFit/>
          </a:bodyPr>
          <a:lstStyle/>
          <a:p>
            <a:pPr algn="ctr">
              <a:lnSpc>
                <a:spcPts val="3045"/>
              </a:lnSpc>
            </a:pPr>
            <a:r>
              <a:rPr lang="en-US" sz="2768" b="1">
                <a:solidFill>
                  <a:srgbClr val="D82C00"/>
                </a:solidFill>
                <a:latin typeface="Cinzel Bold"/>
                <a:ea typeface="Cinzel Bold"/>
                <a:cs typeface="Cinzel Bold"/>
                <a:sym typeface="Cinzel Bold"/>
              </a:rPr>
              <a:t>HOSPITAL PERFORMANCE MONITORING</a:t>
            </a:r>
          </a:p>
          <a:p>
            <a:pPr algn="l">
              <a:lnSpc>
                <a:spcPts val="3045"/>
              </a:lnSpc>
            </a:pPr>
            <a:endParaRPr lang="en-US" sz="2768" b="1">
              <a:solidFill>
                <a:srgbClr val="D82C00"/>
              </a:solidFill>
              <a:latin typeface="Cinzel Bold"/>
              <a:ea typeface="Cinzel Bold"/>
              <a:cs typeface="Cinzel Bold"/>
              <a:sym typeface="Cinzel Bold"/>
            </a:endParaRPr>
          </a:p>
          <a:p>
            <a:pPr marL="0" lvl="0" indent="0" algn="ctr">
              <a:lnSpc>
                <a:spcPts val="3045"/>
              </a:lnSpc>
            </a:pPr>
            <a:r>
              <a:rPr lang="en-US" sz="2768">
                <a:solidFill>
                  <a:srgbClr val="000000"/>
                </a:solidFill>
                <a:latin typeface="Solomon Sans"/>
                <a:ea typeface="Solomon Sans"/>
                <a:cs typeface="Solomon Sans"/>
                <a:sym typeface="Solomon Sans"/>
              </a:rPr>
              <a:t>Track patient movements, transfers, department activity, and patient flow patterns.</a:t>
            </a:r>
          </a:p>
        </p:txBody>
      </p:sp>
      <p:sp>
        <p:nvSpPr>
          <p:cNvPr id="10" name="TextBox 10"/>
          <p:cNvSpPr txBox="1"/>
          <p:nvPr/>
        </p:nvSpPr>
        <p:spPr>
          <a:xfrm>
            <a:off x="7073018" y="6179733"/>
            <a:ext cx="4530047" cy="2534882"/>
          </a:xfrm>
          <a:prstGeom prst="rect">
            <a:avLst/>
          </a:prstGeom>
        </p:spPr>
        <p:txBody>
          <a:bodyPr lIns="0" tIns="0" rIns="0" bIns="0" rtlCol="0" anchor="t">
            <a:spAutoFit/>
          </a:bodyPr>
          <a:lstStyle/>
          <a:p>
            <a:pPr algn="ctr">
              <a:lnSpc>
                <a:spcPts val="2894"/>
              </a:lnSpc>
            </a:pPr>
            <a:r>
              <a:rPr lang="en-US" sz="2607" b="1" spc="258">
                <a:solidFill>
                  <a:srgbClr val="D82C00"/>
                </a:solidFill>
                <a:latin typeface="Cinzel Bold"/>
                <a:ea typeface="Cinzel Bold"/>
                <a:cs typeface="Cinzel Bold"/>
                <a:sym typeface="Cinzel Bold"/>
              </a:rPr>
              <a:t>PATIENT FLOW MONITORING</a:t>
            </a:r>
          </a:p>
          <a:p>
            <a:pPr algn="l">
              <a:lnSpc>
                <a:spcPts val="2894"/>
              </a:lnSpc>
            </a:pPr>
            <a:endParaRPr lang="en-US" sz="2607" b="1" spc="258">
              <a:solidFill>
                <a:srgbClr val="D82C00"/>
              </a:solidFill>
              <a:latin typeface="Cinzel Bold"/>
              <a:ea typeface="Cinzel Bold"/>
              <a:cs typeface="Cinzel Bold"/>
              <a:sym typeface="Cinzel Bold"/>
            </a:endParaRPr>
          </a:p>
          <a:p>
            <a:pPr marL="0" lvl="0" indent="0" algn="ctr">
              <a:lnSpc>
                <a:spcPts val="2894"/>
              </a:lnSpc>
            </a:pPr>
            <a:r>
              <a:rPr lang="en-US" sz="2607" spc="13">
                <a:solidFill>
                  <a:srgbClr val="000000"/>
                </a:solidFill>
                <a:latin typeface="Solomon Sans"/>
                <a:ea typeface="Solomon Sans"/>
                <a:cs typeface="Solomon Sans"/>
                <a:sym typeface="Solomon Sans"/>
              </a:rPr>
              <a:t>Monitor key hospital KPIs, performance trends, and overall operational performance.</a:t>
            </a:r>
          </a:p>
        </p:txBody>
      </p:sp>
      <p:sp>
        <p:nvSpPr>
          <p:cNvPr id="11" name="TextBox 11"/>
          <p:cNvSpPr txBox="1"/>
          <p:nvPr/>
        </p:nvSpPr>
        <p:spPr>
          <a:xfrm>
            <a:off x="12391008" y="6170208"/>
            <a:ext cx="4213516" cy="2475806"/>
          </a:xfrm>
          <a:prstGeom prst="rect">
            <a:avLst/>
          </a:prstGeom>
        </p:spPr>
        <p:txBody>
          <a:bodyPr lIns="0" tIns="0" rIns="0" bIns="0" rtlCol="0" anchor="t">
            <a:spAutoFit/>
          </a:bodyPr>
          <a:lstStyle/>
          <a:p>
            <a:pPr algn="ctr">
              <a:lnSpc>
                <a:spcPts val="2802"/>
              </a:lnSpc>
            </a:pPr>
            <a:r>
              <a:rPr lang="en-US" sz="2524" b="1" spc="249">
                <a:solidFill>
                  <a:srgbClr val="D82C00"/>
                </a:solidFill>
                <a:latin typeface="Cinzel Bold"/>
                <a:ea typeface="Cinzel Bold"/>
                <a:cs typeface="Cinzel Bold"/>
                <a:sym typeface="Cinzel Bold"/>
              </a:rPr>
              <a:t>RESOURCE MANAGEMENT</a:t>
            </a:r>
          </a:p>
          <a:p>
            <a:pPr algn="l">
              <a:lnSpc>
                <a:spcPts val="2802"/>
              </a:lnSpc>
            </a:pPr>
            <a:endParaRPr lang="en-US" sz="2524" b="1" spc="249">
              <a:solidFill>
                <a:srgbClr val="D82C00"/>
              </a:solidFill>
              <a:latin typeface="Cinzel Bold"/>
              <a:ea typeface="Cinzel Bold"/>
              <a:cs typeface="Cinzel Bold"/>
              <a:sym typeface="Cinzel Bold"/>
            </a:endParaRPr>
          </a:p>
          <a:p>
            <a:pPr marL="0" lvl="0" indent="0" algn="ctr">
              <a:lnSpc>
                <a:spcPts val="2802"/>
              </a:lnSpc>
            </a:pPr>
            <a:r>
              <a:rPr lang="en-US" sz="2524" spc="12">
                <a:solidFill>
                  <a:srgbClr val="000000"/>
                </a:solidFill>
                <a:latin typeface="Solomon Sans"/>
                <a:ea typeface="Solomon Sans"/>
                <a:cs typeface="Solomon Sans"/>
                <a:sym typeface="Solomon Sans"/>
              </a:rPr>
              <a:t>Monitor bed, equipment, and staff utilization along with department efficiency and resource availability.</a:t>
            </a:r>
          </a:p>
        </p:txBody>
      </p:sp>
      <p:sp>
        <p:nvSpPr>
          <p:cNvPr id="12" name="Freeform 12"/>
          <p:cNvSpPr/>
          <p:nvPr/>
        </p:nvSpPr>
        <p:spPr>
          <a:xfrm>
            <a:off x="897034" y="2083771"/>
            <a:ext cx="16362266" cy="7324304"/>
          </a:xfrm>
          <a:custGeom>
            <a:avLst/>
            <a:gdLst/>
            <a:ahLst/>
            <a:cxnLst/>
            <a:rect l="l" t="t" r="r" b="b"/>
            <a:pathLst>
              <a:path w="16362266" h="7324304">
                <a:moveTo>
                  <a:pt x="0" y="0"/>
                </a:moveTo>
                <a:lnTo>
                  <a:pt x="16362266" y="0"/>
                </a:lnTo>
                <a:lnTo>
                  <a:pt x="16362266" y="7324303"/>
                </a:lnTo>
                <a:lnTo>
                  <a:pt x="0" y="7324303"/>
                </a:lnTo>
                <a:lnTo>
                  <a:pt x="0" y="0"/>
                </a:lnTo>
                <a:close/>
              </a:path>
            </a:pathLst>
          </a:custGeom>
          <a:blipFill>
            <a:blip r:embed="rId8">
              <a:alphaModFix amt="14000"/>
            </a:blip>
            <a:stretch>
              <a:fillRect l="-110169" t="-31613" r="-758" b="-61110"/>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799095" y="-1732719"/>
            <a:ext cx="6082893" cy="7354606"/>
          </a:xfrm>
          <a:prstGeom prst="rect">
            <a:avLst/>
          </a:prstGeom>
        </p:spPr>
      </p:pic>
      <p:pic>
        <p:nvPicPr>
          <p:cNvPr id="3" name="Picture 3"/>
          <p:cNvPicPr>
            <a:picLocks noChangeAspect="1"/>
          </p:cNvPicPr>
          <p:nvPr/>
        </p:nvPicPr>
        <p:blipFill>
          <a:blip r:embed="rId3">
            <a:alphaModFix amt="69000"/>
          </a:blip>
          <a:stretch>
            <a:fillRect/>
          </a:stretch>
        </p:blipFill>
        <p:spPr>
          <a:xfrm>
            <a:off x="9266527" y="4607700"/>
            <a:ext cx="6248960" cy="6200046"/>
          </a:xfrm>
          <a:prstGeom prst="rect">
            <a:avLst/>
          </a:prstGeom>
        </p:spPr>
      </p:pic>
      <p:pic>
        <p:nvPicPr>
          <p:cNvPr id="4" name="Picture 4"/>
          <p:cNvPicPr>
            <a:picLocks noChangeAspect="1"/>
          </p:cNvPicPr>
          <p:nvPr/>
        </p:nvPicPr>
        <p:blipFill>
          <a:blip r:embed="rId4">
            <a:alphaModFix amt="54000"/>
          </a:blip>
          <a:stretch>
            <a:fillRect/>
          </a:stretch>
        </p:blipFill>
        <p:spPr>
          <a:xfrm>
            <a:off x="11767367" y="-289517"/>
            <a:ext cx="2906373" cy="3656922"/>
          </a:xfrm>
          <a:prstGeom prst="rect">
            <a:avLst/>
          </a:prstGeom>
        </p:spPr>
      </p:pic>
      <p:pic>
        <p:nvPicPr>
          <p:cNvPr id="5" name="Picture 5"/>
          <p:cNvPicPr>
            <a:picLocks noChangeAspect="1"/>
          </p:cNvPicPr>
          <p:nvPr/>
        </p:nvPicPr>
        <p:blipFill>
          <a:blip r:embed="rId5">
            <a:alphaModFix amt="53000"/>
          </a:blip>
          <a:stretch>
            <a:fillRect/>
          </a:stretch>
        </p:blipFill>
        <p:spPr>
          <a:xfrm rot="2180903">
            <a:off x="3417965" y="1919580"/>
            <a:ext cx="3786446" cy="7401500"/>
          </a:xfrm>
          <a:prstGeom prst="rect">
            <a:avLst/>
          </a:prstGeom>
        </p:spPr>
      </p:pic>
      <p:grpSp>
        <p:nvGrpSpPr>
          <p:cNvPr id="6" name="Group 6"/>
          <p:cNvGrpSpPr/>
          <p:nvPr/>
        </p:nvGrpSpPr>
        <p:grpSpPr>
          <a:xfrm>
            <a:off x="11167986" y="7577233"/>
            <a:ext cx="2718537" cy="1338730"/>
            <a:chOff x="0" y="0"/>
            <a:chExt cx="715993" cy="352587"/>
          </a:xfrm>
        </p:grpSpPr>
        <p:sp>
          <p:nvSpPr>
            <p:cNvPr id="7" name="Freeform 7"/>
            <p:cNvSpPr/>
            <p:nvPr/>
          </p:nvSpPr>
          <p:spPr>
            <a:xfrm>
              <a:off x="0" y="0"/>
              <a:ext cx="715993" cy="352587"/>
            </a:xfrm>
            <a:custGeom>
              <a:avLst/>
              <a:gdLst/>
              <a:ahLst/>
              <a:cxnLst/>
              <a:rect l="l" t="t" r="r" b="b"/>
              <a:pathLst>
                <a:path w="715993" h="352587">
                  <a:moveTo>
                    <a:pt x="145239" y="0"/>
                  </a:moveTo>
                  <a:lnTo>
                    <a:pt x="570754" y="0"/>
                  </a:lnTo>
                  <a:cubicBezTo>
                    <a:pt x="650967" y="0"/>
                    <a:pt x="715993" y="65026"/>
                    <a:pt x="715993" y="145239"/>
                  </a:cubicBezTo>
                  <a:lnTo>
                    <a:pt x="715993" y="207348"/>
                  </a:lnTo>
                  <a:cubicBezTo>
                    <a:pt x="715993" y="287561"/>
                    <a:pt x="650967" y="352587"/>
                    <a:pt x="570754" y="352587"/>
                  </a:cubicBezTo>
                  <a:lnTo>
                    <a:pt x="145239" y="352587"/>
                  </a:lnTo>
                  <a:cubicBezTo>
                    <a:pt x="65026" y="352587"/>
                    <a:pt x="0" y="287561"/>
                    <a:pt x="0" y="207348"/>
                  </a:cubicBezTo>
                  <a:lnTo>
                    <a:pt x="0" y="145239"/>
                  </a:lnTo>
                  <a:cubicBezTo>
                    <a:pt x="0" y="65026"/>
                    <a:pt x="65026" y="0"/>
                    <a:pt x="145239" y="0"/>
                  </a:cubicBezTo>
                  <a:close/>
                </a:path>
              </a:pathLst>
            </a:custGeom>
            <a:solidFill>
              <a:srgbClr val="CA657E"/>
            </a:solidFill>
          </p:spPr>
          <p:txBody>
            <a:bodyPr/>
            <a:lstStyle/>
            <a:p>
              <a:endParaRPr lang="en-IN"/>
            </a:p>
          </p:txBody>
        </p:sp>
        <p:sp>
          <p:nvSpPr>
            <p:cNvPr id="8" name="TextBox 8"/>
            <p:cNvSpPr txBox="1"/>
            <p:nvPr/>
          </p:nvSpPr>
          <p:spPr>
            <a:xfrm>
              <a:off x="0" y="-66675"/>
              <a:ext cx="715993" cy="419262"/>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a:off x="10792507" y="4255275"/>
            <a:ext cx="2718537" cy="1365056"/>
            <a:chOff x="0" y="0"/>
            <a:chExt cx="715993" cy="359521"/>
          </a:xfrm>
        </p:grpSpPr>
        <p:sp>
          <p:nvSpPr>
            <p:cNvPr id="10" name="Freeform 10"/>
            <p:cNvSpPr/>
            <p:nvPr/>
          </p:nvSpPr>
          <p:spPr>
            <a:xfrm>
              <a:off x="0" y="0"/>
              <a:ext cx="715993" cy="359521"/>
            </a:xfrm>
            <a:custGeom>
              <a:avLst/>
              <a:gdLst/>
              <a:ahLst/>
              <a:cxnLst/>
              <a:rect l="l" t="t" r="r" b="b"/>
              <a:pathLst>
                <a:path w="715993" h="359521">
                  <a:moveTo>
                    <a:pt x="145239" y="0"/>
                  </a:moveTo>
                  <a:lnTo>
                    <a:pt x="570754" y="0"/>
                  </a:lnTo>
                  <a:cubicBezTo>
                    <a:pt x="650967" y="0"/>
                    <a:pt x="715993" y="65026"/>
                    <a:pt x="715993" y="145239"/>
                  </a:cubicBezTo>
                  <a:lnTo>
                    <a:pt x="715993" y="214282"/>
                  </a:lnTo>
                  <a:cubicBezTo>
                    <a:pt x="715993" y="294495"/>
                    <a:pt x="650967" y="359521"/>
                    <a:pt x="570754" y="359521"/>
                  </a:cubicBezTo>
                  <a:lnTo>
                    <a:pt x="145239" y="359521"/>
                  </a:lnTo>
                  <a:cubicBezTo>
                    <a:pt x="65026" y="359521"/>
                    <a:pt x="0" y="294495"/>
                    <a:pt x="0" y="214282"/>
                  </a:cubicBezTo>
                  <a:lnTo>
                    <a:pt x="0" y="145239"/>
                  </a:lnTo>
                  <a:cubicBezTo>
                    <a:pt x="0" y="65026"/>
                    <a:pt x="65026" y="0"/>
                    <a:pt x="145239" y="0"/>
                  </a:cubicBezTo>
                  <a:close/>
                </a:path>
              </a:pathLst>
            </a:custGeom>
            <a:solidFill>
              <a:srgbClr val="CA657E"/>
            </a:solidFill>
          </p:spPr>
          <p:txBody>
            <a:bodyPr/>
            <a:lstStyle/>
            <a:p>
              <a:endParaRPr lang="en-IN"/>
            </a:p>
          </p:txBody>
        </p:sp>
        <p:sp>
          <p:nvSpPr>
            <p:cNvPr id="11" name="TextBox 11"/>
            <p:cNvSpPr txBox="1"/>
            <p:nvPr/>
          </p:nvSpPr>
          <p:spPr>
            <a:xfrm>
              <a:off x="0" y="-66675"/>
              <a:ext cx="715993" cy="426196"/>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25320" y="5009003"/>
            <a:ext cx="2833174" cy="2833174"/>
            <a:chOff x="0" y="0"/>
            <a:chExt cx="812800" cy="812800"/>
          </a:xfrm>
        </p:grpSpPr>
        <p:sp>
          <p:nvSpPr>
            <p:cNvPr id="13" name="Freeform 1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A657E"/>
            </a:solidFill>
          </p:spPr>
          <p:txBody>
            <a:bodyPr/>
            <a:lstStyle/>
            <a:p>
              <a:endParaRPr lang="en-IN"/>
            </a:p>
          </p:txBody>
        </p:sp>
        <p:sp>
          <p:nvSpPr>
            <p:cNvPr id="14" name="TextBox 14"/>
            <p:cNvSpPr txBox="1"/>
            <p:nvPr/>
          </p:nvSpPr>
          <p:spPr>
            <a:xfrm>
              <a:off x="190500" y="123825"/>
              <a:ext cx="431800" cy="49847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7424513" y="2732692"/>
            <a:ext cx="4630868" cy="3449230"/>
            <a:chOff x="0" y="0"/>
            <a:chExt cx="1219653" cy="908439"/>
          </a:xfrm>
        </p:grpSpPr>
        <p:sp>
          <p:nvSpPr>
            <p:cNvPr id="16" name="Freeform 16"/>
            <p:cNvSpPr/>
            <p:nvPr/>
          </p:nvSpPr>
          <p:spPr>
            <a:xfrm>
              <a:off x="0" y="0"/>
              <a:ext cx="1219653" cy="908439"/>
            </a:xfrm>
            <a:custGeom>
              <a:avLst/>
              <a:gdLst/>
              <a:ahLst/>
              <a:cxnLst/>
              <a:rect l="l" t="t" r="r" b="b"/>
              <a:pathLst>
                <a:path w="1219653" h="908439">
                  <a:moveTo>
                    <a:pt x="33436" y="0"/>
                  </a:moveTo>
                  <a:lnTo>
                    <a:pt x="1186216" y="0"/>
                  </a:lnTo>
                  <a:cubicBezTo>
                    <a:pt x="1204683" y="0"/>
                    <a:pt x="1219653" y="14970"/>
                    <a:pt x="1219653" y="33436"/>
                  </a:cubicBezTo>
                  <a:lnTo>
                    <a:pt x="1219653" y="875003"/>
                  </a:lnTo>
                  <a:cubicBezTo>
                    <a:pt x="1219653" y="883871"/>
                    <a:pt x="1216130" y="892375"/>
                    <a:pt x="1209859" y="898646"/>
                  </a:cubicBezTo>
                  <a:cubicBezTo>
                    <a:pt x="1203589" y="904916"/>
                    <a:pt x="1195084" y="908439"/>
                    <a:pt x="1186216" y="908439"/>
                  </a:cubicBezTo>
                  <a:lnTo>
                    <a:pt x="33436" y="908439"/>
                  </a:lnTo>
                  <a:cubicBezTo>
                    <a:pt x="14970" y="908439"/>
                    <a:pt x="0" y="893469"/>
                    <a:pt x="0" y="875003"/>
                  </a:cubicBezTo>
                  <a:lnTo>
                    <a:pt x="0" y="33436"/>
                  </a:lnTo>
                  <a:cubicBezTo>
                    <a:pt x="0" y="14970"/>
                    <a:pt x="14970" y="0"/>
                    <a:pt x="33436" y="0"/>
                  </a:cubicBezTo>
                  <a:close/>
                </a:path>
              </a:pathLst>
            </a:custGeom>
            <a:solidFill>
              <a:srgbClr val="FFFFFF"/>
            </a:solidFill>
          </p:spPr>
          <p:txBody>
            <a:bodyPr/>
            <a:lstStyle/>
            <a:p>
              <a:endParaRPr lang="en-IN"/>
            </a:p>
          </p:txBody>
        </p:sp>
        <p:sp>
          <p:nvSpPr>
            <p:cNvPr id="17" name="TextBox 17"/>
            <p:cNvSpPr txBox="1"/>
            <p:nvPr/>
          </p:nvSpPr>
          <p:spPr>
            <a:xfrm>
              <a:off x="0" y="-38100"/>
              <a:ext cx="1219653" cy="946539"/>
            </a:xfrm>
            <a:prstGeom prst="rect">
              <a:avLst/>
            </a:prstGeom>
          </p:spPr>
          <p:txBody>
            <a:bodyPr lIns="254000" tIns="254000" rIns="254000" bIns="254000" rtlCol="0" anchor="ctr"/>
            <a:lstStyle/>
            <a:p>
              <a:pPr algn="ctr">
                <a:lnSpc>
                  <a:spcPts val="3079"/>
                </a:lnSpc>
              </a:pPr>
              <a:r>
                <a:rPr lang="en-US" sz="2199" b="1">
                  <a:solidFill>
                    <a:srgbClr val="000000"/>
                  </a:solidFill>
                  <a:latin typeface="Cinzel Bold"/>
                  <a:ea typeface="Cinzel Bold"/>
                  <a:cs typeface="Cinzel Bold"/>
                  <a:sym typeface="Cinzel Bold"/>
                </a:rPr>
                <a:t>Scattered Data </a:t>
              </a:r>
            </a:p>
            <a:p>
              <a:pPr algn="ctr">
                <a:lnSpc>
                  <a:spcPts val="3079"/>
                </a:lnSpc>
              </a:pPr>
              <a:endParaRPr lang="en-US" sz="2199" b="1">
                <a:solidFill>
                  <a:srgbClr val="000000"/>
                </a:solidFill>
                <a:latin typeface="Cinzel Bold"/>
                <a:ea typeface="Cinzel Bold"/>
                <a:cs typeface="Cinzel Bold"/>
                <a:sym typeface="Cinzel Bold"/>
              </a:endParaRPr>
            </a:p>
            <a:p>
              <a:pPr algn="ctr">
                <a:lnSpc>
                  <a:spcPts val="3079"/>
                </a:lnSpc>
              </a:pPr>
              <a:r>
                <a:rPr lang="en-US" sz="2199">
                  <a:solidFill>
                    <a:srgbClr val="000000"/>
                  </a:solidFill>
                  <a:latin typeface="Solomon Sans"/>
                  <a:ea typeface="Solomon Sans"/>
                  <a:cs typeface="Solomon Sans"/>
                  <a:sym typeface="Solomon Sans"/>
                </a:rPr>
                <a:t> Hospital data is distributed across different datasets, making it difficult to get a unified view of hospital operations and performance.</a:t>
              </a:r>
            </a:p>
          </p:txBody>
        </p:sp>
      </p:grpSp>
      <p:grpSp>
        <p:nvGrpSpPr>
          <p:cNvPr id="18" name="Group 18"/>
          <p:cNvGrpSpPr/>
          <p:nvPr/>
        </p:nvGrpSpPr>
        <p:grpSpPr>
          <a:xfrm>
            <a:off x="12679494" y="2732692"/>
            <a:ext cx="4579806" cy="3449230"/>
            <a:chOff x="0" y="0"/>
            <a:chExt cx="1206204" cy="908439"/>
          </a:xfrm>
        </p:grpSpPr>
        <p:sp>
          <p:nvSpPr>
            <p:cNvPr id="19" name="Freeform 19"/>
            <p:cNvSpPr/>
            <p:nvPr/>
          </p:nvSpPr>
          <p:spPr>
            <a:xfrm>
              <a:off x="0" y="0"/>
              <a:ext cx="1206204" cy="908439"/>
            </a:xfrm>
            <a:custGeom>
              <a:avLst/>
              <a:gdLst/>
              <a:ahLst/>
              <a:cxnLst/>
              <a:rect l="l" t="t" r="r" b="b"/>
              <a:pathLst>
                <a:path w="1206204" h="908439">
                  <a:moveTo>
                    <a:pt x="33809" y="0"/>
                  </a:moveTo>
                  <a:lnTo>
                    <a:pt x="1172395" y="0"/>
                  </a:lnTo>
                  <a:cubicBezTo>
                    <a:pt x="1191067" y="0"/>
                    <a:pt x="1206204" y="15137"/>
                    <a:pt x="1206204" y="33809"/>
                  </a:cubicBezTo>
                  <a:lnTo>
                    <a:pt x="1206204" y="874630"/>
                  </a:lnTo>
                  <a:cubicBezTo>
                    <a:pt x="1206204" y="893302"/>
                    <a:pt x="1191067" y="908439"/>
                    <a:pt x="1172395" y="908439"/>
                  </a:cubicBezTo>
                  <a:lnTo>
                    <a:pt x="33809" y="908439"/>
                  </a:lnTo>
                  <a:cubicBezTo>
                    <a:pt x="15137" y="908439"/>
                    <a:pt x="0" y="893302"/>
                    <a:pt x="0" y="874630"/>
                  </a:cubicBezTo>
                  <a:lnTo>
                    <a:pt x="0" y="33809"/>
                  </a:lnTo>
                  <a:cubicBezTo>
                    <a:pt x="0" y="15137"/>
                    <a:pt x="15137" y="0"/>
                    <a:pt x="33809" y="0"/>
                  </a:cubicBezTo>
                  <a:close/>
                </a:path>
              </a:pathLst>
            </a:custGeom>
            <a:solidFill>
              <a:srgbClr val="FFFFFF"/>
            </a:solidFill>
          </p:spPr>
          <p:txBody>
            <a:bodyPr/>
            <a:lstStyle/>
            <a:p>
              <a:endParaRPr lang="en-IN"/>
            </a:p>
          </p:txBody>
        </p:sp>
        <p:sp>
          <p:nvSpPr>
            <p:cNvPr id="20" name="TextBox 20"/>
            <p:cNvSpPr txBox="1"/>
            <p:nvPr/>
          </p:nvSpPr>
          <p:spPr>
            <a:xfrm>
              <a:off x="0" y="-38100"/>
              <a:ext cx="1206204" cy="94653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Limited Operational Visibility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Staff and administrators may find it difficult to monitor patient flow, department performance, and important hospital KPIs in one place.</a:t>
              </a:r>
            </a:p>
          </p:txBody>
        </p:sp>
      </p:grpSp>
      <p:grpSp>
        <p:nvGrpSpPr>
          <p:cNvPr id="21" name="Group 21"/>
          <p:cNvGrpSpPr/>
          <p:nvPr/>
        </p:nvGrpSpPr>
        <p:grpSpPr>
          <a:xfrm>
            <a:off x="7424513" y="6546788"/>
            <a:ext cx="4630868" cy="3369735"/>
            <a:chOff x="0" y="0"/>
            <a:chExt cx="1219653" cy="887502"/>
          </a:xfrm>
        </p:grpSpPr>
        <p:sp>
          <p:nvSpPr>
            <p:cNvPr id="22" name="Freeform 22"/>
            <p:cNvSpPr/>
            <p:nvPr/>
          </p:nvSpPr>
          <p:spPr>
            <a:xfrm>
              <a:off x="0" y="0"/>
              <a:ext cx="1219653" cy="887502"/>
            </a:xfrm>
            <a:custGeom>
              <a:avLst/>
              <a:gdLst/>
              <a:ahLst/>
              <a:cxnLst/>
              <a:rect l="l" t="t" r="r" b="b"/>
              <a:pathLst>
                <a:path w="1219653" h="887502">
                  <a:moveTo>
                    <a:pt x="33436" y="0"/>
                  </a:moveTo>
                  <a:lnTo>
                    <a:pt x="1186216" y="0"/>
                  </a:lnTo>
                  <a:cubicBezTo>
                    <a:pt x="1204683" y="0"/>
                    <a:pt x="1219653" y="14970"/>
                    <a:pt x="1219653" y="33436"/>
                  </a:cubicBezTo>
                  <a:lnTo>
                    <a:pt x="1219653" y="854066"/>
                  </a:lnTo>
                  <a:cubicBezTo>
                    <a:pt x="1219653" y="862934"/>
                    <a:pt x="1216130" y="871439"/>
                    <a:pt x="1209859" y="877709"/>
                  </a:cubicBezTo>
                  <a:cubicBezTo>
                    <a:pt x="1203589" y="883980"/>
                    <a:pt x="1195084" y="887502"/>
                    <a:pt x="1186216" y="887502"/>
                  </a:cubicBezTo>
                  <a:lnTo>
                    <a:pt x="33436" y="887502"/>
                  </a:lnTo>
                  <a:cubicBezTo>
                    <a:pt x="14970" y="887502"/>
                    <a:pt x="0" y="872532"/>
                    <a:pt x="0" y="854066"/>
                  </a:cubicBezTo>
                  <a:lnTo>
                    <a:pt x="0" y="33436"/>
                  </a:lnTo>
                  <a:cubicBezTo>
                    <a:pt x="0" y="14970"/>
                    <a:pt x="14970" y="0"/>
                    <a:pt x="33436" y="0"/>
                  </a:cubicBezTo>
                  <a:close/>
                </a:path>
              </a:pathLst>
            </a:custGeom>
            <a:solidFill>
              <a:srgbClr val="FFFFFF"/>
            </a:solidFill>
          </p:spPr>
          <p:txBody>
            <a:bodyPr/>
            <a:lstStyle/>
            <a:p>
              <a:endParaRPr lang="en-IN"/>
            </a:p>
          </p:txBody>
        </p:sp>
        <p:sp>
          <p:nvSpPr>
            <p:cNvPr id="23" name="TextBox 23"/>
            <p:cNvSpPr txBox="1"/>
            <p:nvPr/>
          </p:nvSpPr>
          <p:spPr>
            <a:xfrm>
              <a:off x="0" y="-38100"/>
              <a:ext cx="1219653" cy="925602"/>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Difficult Resource Management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Tracking the utilization of beds, equipment, and staff manually can make it harder to identify resource shortages or underutilization.</a:t>
              </a:r>
            </a:p>
          </p:txBody>
        </p:sp>
      </p:grpSp>
      <p:grpSp>
        <p:nvGrpSpPr>
          <p:cNvPr id="24" name="Group 24"/>
          <p:cNvGrpSpPr/>
          <p:nvPr/>
        </p:nvGrpSpPr>
        <p:grpSpPr>
          <a:xfrm>
            <a:off x="12679494" y="6546788"/>
            <a:ext cx="4579806" cy="3369735"/>
            <a:chOff x="0" y="0"/>
            <a:chExt cx="1206204" cy="887502"/>
          </a:xfrm>
        </p:grpSpPr>
        <p:sp>
          <p:nvSpPr>
            <p:cNvPr id="25" name="Freeform 25"/>
            <p:cNvSpPr/>
            <p:nvPr/>
          </p:nvSpPr>
          <p:spPr>
            <a:xfrm>
              <a:off x="0" y="0"/>
              <a:ext cx="1206204" cy="887502"/>
            </a:xfrm>
            <a:custGeom>
              <a:avLst/>
              <a:gdLst/>
              <a:ahLst/>
              <a:cxnLst/>
              <a:rect l="l" t="t" r="r" b="b"/>
              <a:pathLst>
                <a:path w="1206204" h="887502">
                  <a:moveTo>
                    <a:pt x="33809" y="0"/>
                  </a:moveTo>
                  <a:lnTo>
                    <a:pt x="1172395" y="0"/>
                  </a:lnTo>
                  <a:cubicBezTo>
                    <a:pt x="1191067" y="0"/>
                    <a:pt x="1206204" y="15137"/>
                    <a:pt x="1206204" y="33809"/>
                  </a:cubicBezTo>
                  <a:lnTo>
                    <a:pt x="1206204" y="853693"/>
                  </a:lnTo>
                  <a:cubicBezTo>
                    <a:pt x="1206204" y="872366"/>
                    <a:pt x="1191067" y="887502"/>
                    <a:pt x="1172395" y="887502"/>
                  </a:cubicBezTo>
                  <a:lnTo>
                    <a:pt x="33809" y="887502"/>
                  </a:lnTo>
                  <a:cubicBezTo>
                    <a:pt x="15137" y="887502"/>
                    <a:pt x="0" y="872366"/>
                    <a:pt x="0" y="853693"/>
                  </a:cubicBezTo>
                  <a:lnTo>
                    <a:pt x="0" y="33809"/>
                  </a:lnTo>
                  <a:cubicBezTo>
                    <a:pt x="0" y="15137"/>
                    <a:pt x="15137" y="0"/>
                    <a:pt x="33809" y="0"/>
                  </a:cubicBezTo>
                  <a:close/>
                </a:path>
              </a:pathLst>
            </a:custGeom>
            <a:solidFill>
              <a:srgbClr val="FFFFFF"/>
            </a:solidFill>
          </p:spPr>
          <p:txBody>
            <a:bodyPr/>
            <a:lstStyle/>
            <a:p>
              <a:endParaRPr lang="en-IN"/>
            </a:p>
          </p:txBody>
        </p:sp>
        <p:sp>
          <p:nvSpPr>
            <p:cNvPr id="26" name="TextBox 26"/>
            <p:cNvSpPr txBox="1"/>
            <p:nvPr/>
          </p:nvSpPr>
          <p:spPr>
            <a:xfrm>
              <a:off x="0" y="-38100"/>
              <a:ext cx="1206204" cy="925602"/>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Time-Consuming Reporting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 Preparing reports and comparing performance across hospitals, departments, and different time periods can require considerable manual effort.</a:t>
              </a:r>
            </a:p>
          </p:txBody>
        </p:sp>
      </p:grpSp>
      <p:grpSp>
        <p:nvGrpSpPr>
          <p:cNvPr id="27" name="Group 27"/>
          <p:cNvGrpSpPr/>
          <p:nvPr/>
        </p:nvGrpSpPr>
        <p:grpSpPr>
          <a:xfrm rot="-5400000">
            <a:off x="3928997" y="5420447"/>
            <a:ext cx="4660688" cy="2330344"/>
            <a:chOff x="0" y="0"/>
            <a:chExt cx="660400" cy="330200"/>
          </a:xfrm>
        </p:grpSpPr>
        <p:sp>
          <p:nvSpPr>
            <p:cNvPr id="28" name="Freeform 28"/>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29" name="TextBox 29"/>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rot="5400000">
            <a:off x="16094128" y="5381616"/>
            <a:ext cx="4660688" cy="2330344"/>
            <a:chOff x="0" y="0"/>
            <a:chExt cx="660400" cy="330200"/>
          </a:xfrm>
        </p:grpSpPr>
        <p:sp>
          <p:nvSpPr>
            <p:cNvPr id="31" name="Freeform 31"/>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32" name="TextBox 32"/>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pic>
        <p:nvPicPr>
          <p:cNvPr id="33" name="Picture 33"/>
          <p:cNvPicPr>
            <a:picLocks noChangeAspect="1"/>
          </p:cNvPicPr>
          <p:nvPr/>
        </p:nvPicPr>
        <p:blipFill>
          <a:blip r:embed="rId6">
            <a:alphaModFix amt="65999"/>
          </a:blip>
          <a:stretch>
            <a:fillRect/>
          </a:stretch>
        </p:blipFill>
        <p:spPr>
          <a:xfrm>
            <a:off x="7370449" y="1389"/>
            <a:ext cx="2636537" cy="2407178"/>
          </a:xfrm>
          <a:prstGeom prst="rect">
            <a:avLst/>
          </a:prstGeom>
        </p:spPr>
      </p:pic>
      <p:sp>
        <p:nvSpPr>
          <p:cNvPr id="34" name="TextBox 34"/>
          <p:cNvSpPr txBox="1"/>
          <p:nvPr/>
        </p:nvSpPr>
        <p:spPr>
          <a:xfrm>
            <a:off x="1463669" y="897185"/>
            <a:ext cx="5586661" cy="3381378"/>
          </a:xfrm>
          <a:prstGeom prst="rect">
            <a:avLst/>
          </a:prstGeom>
        </p:spPr>
        <p:txBody>
          <a:bodyPr lIns="0" tIns="0" rIns="0" bIns="0" rtlCol="0" anchor="t">
            <a:spAutoFit/>
          </a:bodyPr>
          <a:lstStyle/>
          <a:p>
            <a:pPr marL="0" lvl="0" indent="0" algn="l">
              <a:lnSpc>
                <a:spcPts val="6600"/>
              </a:lnSpc>
            </a:pPr>
            <a:r>
              <a:rPr lang="en-US" sz="6000" b="1">
                <a:solidFill>
                  <a:srgbClr val="000000"/>
                </a:solidFill>
                <a:latin typeface="Museo Moderno Bold"/>
                <a:ea typeface="Museo Moderno Bold"/>
                <a:cs typeface="Museo Moderno Bold"/>
                <a:sym typeface="Museo Moderno Bold"/>
              </a:rPr>
              <a:t>Challenges Faced By </a:t>
            </a:r>
            <a:r>
              <a:rPr lang="en-US" sz="6000" b="1">
                <a:solidFill>
                  <a:srgbClr val="D51313"/>
                </a:solidFill>
                <a:latin typeface="Museo Moderno Bold"/>
                <a:ea typeface="Museo Moderno Bold"/>
                <a:cs typeface="Museo Moderno Bold"/>
                <a:sym typeface="Museo Moderno Bold"/>
              </a:rPr>
              <a:t>Hospital Management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0" y="4575920"/>
            <a:ext cx="9779722" cy="5711080"/>
          </a:xfrm>
          <a:custGeom>
            <a:avLst/>
            <a:gdLst/>
            <a:ahLst/>
            <a:cxnLst/>
            <a:rect l="l" t="t" r="r" b="b"/>
            <a:pathLst>
              <a:path w="11711768" h="6148678">
                <a:moveTo>
                  <a:pt x="0" y="0"/>
                </a:moveTo>
                <a:lnTo>
                  <a:pt x="11711768" y="0"/>
                </a:lnTo>
                <a:lnTo>
                  <a:pt x="11711768" y="6148678"/>
                </a:lnTo>
                <a:lnTo>
                  <a:pt x="0" y="6148678"/>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202722" y="3862286"/>
            <a:ext cx="2203615" cy="2203615"/>
          </a:xfrm>
          <a:custGeom>
            <a:avLst/>
            <a:gdLst/>
            <a:ahLst/>
            <a:cxnLst/>
            <a:rect l="l" t="t" r="r" b="b"/>
            <a:pathLst>
              <a:path w="2203615" h="2203615">
                <a:moveTo>
                  <a:pt x="0" y="0"/>
                </a:moveTo>
                <a:lnTo>
                  <a:pt x="2203615" y="0"/>
                </a:lnTo>
                <a:lnTo>
                  <a:pt x="2203615" y="2203615"/>
                </a:lnTo>
                <a:lnTo>
                  <a:pt x="0" y="22036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7763709" y="3862286"/>
            <a:ext cx="2061966" cy="2061966"/>
          </a:xfrm>
          <a:custGeom>
            <a:avLst/>
            <a:gdLst/>
            <a:ahLst/>
            <a:cxnLst/>
            <a:rect l="l" t="t" r="r" b="b"/>
            <a:pathLst>
              <a:path w="2061966" h="2061966">
                <a:moveTo>
                  <a:pt x="0" y="0"/>
                </a:moveTo>
                <a:lnTo>
                  <a:pt x="2061966" y="0"/>
                </a:lnTo>
                <a:lnTo>
                  <a:pt x="2061966" y="2061966"/>
                </a:lnTo>
                <a:lnTo>
                  <a:pt x="0" y="2061966"/>
                </a:lnTo>
                <a:lnTo>
                  <a:pt x="0" y="0"/>
                </a:lnTo>
                <a:close/>
              </a:path>
            </a:pathLst>
          </a:custGeom>
          <a:blipFill>
            <a:blip r:embed="rId4"/>
            <a:stretch>
              <a:fillRect/>
            </a:stretch>
          </a:blipFill>
        </p:spPr>
        <p:txBody>
          <a:bodyPr/>
          <a:lstStyle/>
          <a:p>
            <a:endParaRPr lang="en-IN"/>
          </a:p>
        </p:txBody>
      </p:sp>
      <p:sp>
        <p:nvSpPr>
          <p:cNvPr id="5" name="Freeform 5"/>
          <p:cNvSpPr/>
          <p:nvPr/>
        </p:nvSpPr>
        <p:spPr>
          <a:xfrm>
            <a:off x="14485946" y="3981501"/>
            <a:ext cx="2337945" cy="1905425"/>
          </a:xfrm>
          <a:custGeom>
            <a:avLst/>
            <a:gdLst/>
            <a:ahLst/>
            <a:cxnLst/>
            <a:rect l="l" t="t" r="r" b="b"/>
            <a:pathLst>
              <a:path w="2337945" h="1905425">
                <a:moveTo>
                  <a:pt x="0" y="0"/>
                </a:moveTo>
                <a:lnTo>
                  <a:pt x="2337945" y="0"/>
                </a:lnTo>
                <a:lnTo>
                  <a:pt x="2337945" y="1905426"/>
                </a:lnTo>
                <a:lnTo>
                  <a:pt x="0" y="19054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6" name="Group 6"/>
          <p:cNvGrpSpPr/>
          <p:nvPr/>
        </p:nvGrpSpPr>
        <p:grpSpPr>
          <a:xfrm>
            <a:off x="1202722" y="6501289"/>
            <a:ext cx="2016899" cy="765658"/>
            <a:chOff x="0" y="0"/>
            <a:chExt cx="531200" cy="201655"/>
          </a:xfrm>
        </p:grpSpPr>
        <p:sp>
          <p:nvSpPr>
            <p:cNvPr id="7" name="Freeform 7"/>
            <p:cNvSpPr/>
            <p:nvPr/>
          </p:nvSpPr>
          <p:spPr>
            <a:xfrm>
              <a:off x="0" y="0"/>
              <a:ext cx="531200" cy="201655"/>
            </a:xfrm>
            <a:custGeom>
              <a:avLst/>
              <a:gdLst/>
              <a:ahLst/>
              <a:cxnLst/>
              <a:rect l="l" t="t" r="r" b="b"/>
              <a:pathLst>
                <a:path w="531200" h="201655">
                  <a:moveTo>
                    <a:pt x="76771" y="0"/>
                  </a:moveTo>
                  <a:lnTo>
                    <a:pt x="454429" y="0"/>
                  </a:lnTo>
                  <a:cubicBezTo>
                    <a:pt x="496828" y="0"/>
                    <a:pt x="531200" y="34371"/>
                    <a:pt x="531200" y="76771"/>
                  </a:cubicBezTo>
                  <a:lnTo>
                    <a:pt x="531200" y="124884"/>
                  </a:lnTo>
                  <a:cubicBezTo>
                    <a:pt x="531200" y="167283"/>
                    <a:pt x="496828" y="201655"/>
                    <a:pt x="454429" y="201655"/>
                  </a:cubicBezTo>
                  <a:lnTo>
                    <a:pt x="76771" y="201655"/>
                  </a:lnTo>
                  <a:cubicBezTo>
                    <a:pt x="34371" y="201655"/>
                    <a:pt x="0" y="167283"/>
                    <a:pt x="0" y="124884"/>
                  </a:cubicBezTo>
                  <a:lnTo>
                    <a:pt x="0" y="76771"/>
                  </a:lnTo>
                  <a:cubicBezTo>
                    <a:pt x="0" y="34371"/>
                    <a:pt x="34371" y="0"/>
                    <a:pt x="76771" y="0"/>
                  </a:cubicBezTo>
                  <a:close/>
                </a:path>
              </a:pathLst>
            </a:custGeom>
            <a:solidFill>
              <a:srgbClr val="FFFFFF"/>
            </a:solidFill>
          </p:spPr>
          <p:txBody>
            <a:bodyPr/>
            <a:lstStyle/>
            <a:p>
              <a:endParaRPr lang="en-IN"/>
            </a:p>
          </p:txBody>
        </p:sp>
        <p:sp>
          <p:nvSpPr>
            <p:cNvPr id="8" name="TextBox 8"/>
            <p:cNvSpPr txBox="1"/>
            <p:nvPr/>
          </p:nvSpPr>
          <p:spPr>
            <a:xfrm>
              <a:off x="0" y="-76200"/>
              <a:ext cx="531200" cy="277855"/>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HOME</a:t>
              </a:r>
            </a:p>
          </p:txBody>
        </p:sp>
      </p:grpSp>
      <p:grpSp>
        <p:nvGrpSpPr>
          <p:cNvPr id="9" name="Group 9"/>
          <p:cNvGrpSpPr/>
          <p:nvPr/>
        </p:nvGrpSpPr>
        <p:grpSpPr>
          <a:xfrm>
            <a:off x="4527523" y="6252904"/>
            <a:ext cx="2016899" cy="1156183"/>
            <a:chOff x="0" y="0"/>
            <a:chExt cx="531200" cy="304509"/>
          </a:xfrm>
        </p:grpSpPr>
        <p:sp>
          <p:nvSpPr>
            <p:cNvPr id="10" name="Freeform 10"/>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1" name="TextBox 11"/>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HOSPITAL OVERVIEW</a:t>
              </a:r>
            </a:p>
          </p:txBody>
        </p:sp>
      </p:grpSp>
      <p:grpSp>
        <p:nvGrpSpPr>
          <p:cNvPr id="12" name="Group 12"/>
          <p:cNvGrpSpPr/>
          <p:nvPr/>
        </p:nvGrpSpPr>
        <p:grpSpPr>
          <a:xfrm>
            <a:off x="7763709" y="6252904"/>
            <a:ext cx="2016899" cy="1156183"/>
            <a:chOff x="0" y="0"/>
            <a:chExt cx="531200" cy="304509"/>
          </a:xfrm>
        </p:grpSpPr>
        <p:sp>
          <p:nvSpPr>
            <p:cNvPr id="13" name="Freeform 13"/>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4" name="TextBox 14"/>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PATIENT FLOW</a:t>
              </a:r>
            </a:p>
          </p:txBody>
        </p:sp>
      </p:grpSp>
      <p:grpSp>
        <p:nvGrpSpPr>
          <p:cNvPr id="15" name="Group 15"/>
          <p:cNvGrpSpPr/>
          <p:nvPr/>
        </p:nvGrpSpPr>
        <p:grpSpPr>
          <a:xfrm>
            <a:off x="11198970" y="6252904"/>
            <a:ext cx="2016899" cy="1156183"/>
            <a:chOff x="0" y="0"/>
            <a:chExt cx="531200" cy="304509"/>
          </a:xfrm>
        </p:grpSpPr>
        <p:sp>
          <p:nvSpPr>
            <p:cNvPr id="16" name="Freeform 16"/>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7" name="TextBox 17"/>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DEPARTMEN ANALYSIS</a:t>
              </a:r>
            </a:p>
          </p:txBody>
        </p:sp>
      </p:grpSp>
      <p:grpSp>
        <p:nvGrpSpPr>
          <p:cNvPr id="18" name="Group 18"/>
          <p:cNvGrpSpPr/>
          <p:nvPr/>
        </p:nvGrpSpPr>
        <p:grpSpPr>
          <a:xfrm>
            <a:off x="14485946" y="6306027"/>
            <a:ext cx="2016899" cy="1156183"/>
            <a:chOff x="0" y="0"/>
            <a:chExt cx="531200" cy="304509"/>
          </a:xfrm>
        </p:grpSpPr>
        <p:sp>
          <p:nvSpPr>
            <p:cNvPr id="19" name="Freeform 19"/>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20" name="TextBox 20"/>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RESOURCE UTILIZATION</a:t>
              </a:r>
            </a:p>
          </p:txBody>
        </p:sp>
      </p:grpSp>
      <p:pic>
        <p:nvPicPr>
          <p:cNvPr id="21" name="Picture 21"/>
          <p:cNvPicPr>
            <a:picLocks noChangeAspect="1"/>
          </p:cNvPicPr>
          <p:nvPr/>
        </p:nvPicPr>
        <p:blipFill>
          <a:blip r:embed="rId6">
            <a:alphaModFix amt="18000"/>
          </a:blip>
          <a:stretch>
            <a:fillRect/>
          </a:stretch>
        </p:blipFill>
        <p:spPr>
          <a:xfrm rot="-318131">
            <a:off x="13485704" y="-959951"/>
            <a:ext cx="5496763" cy="5197029"/>
          </a:xfrm>
          <a:prstGeom prst="rect">
            <a:avLst/>
          </a:prstGeom>
        </p:spPr>
      </p:pic>
      <p:sp>
        <p:nvSpPr>
          <p:cNvPr id="22" name="Freeform 22"/>
          <p:cNvSpPr/>
          <p:nvPr/>
        </p:nvSpPr>
        <p:spPr>
          <a:xfrm>
            <a:off x="4449930" y="4023110"/>
            <a:ext cx="2094491" cy="1822207"/>
          </a:xfrm>
          <a:custGeom>
            <a:avLst/>
            <a:gdLst/>
            <a:ahLst/>
            <a:cxnLst/>
            <a:rect l="l" t="t" r="r" b="b"/>
            <a:pathLst>
              <a:path w="2094491" h="1822207">
                <a:moveTo>
                  <a:pt x="0" y="0"/>
                </a:moveTo>
                <a:lnTo>
                  <a:pt x="2094491" y="0"/>
                </a:lnTo>
                <a:lnTo>
                  <a:pt x="2094491" y="1822208"/>
                </a:lnTo>
                <a:lnTo>
                  <a:pt x="0" y="182220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3" name="Freeform 23"/>
          <p:cNvSpPr/>
          <p:nvPr/>
        </p:nvSpPr>
        <p:spPr>
          <a:xfrm>
            <a:off x="11150874" y="3933962"/>
            <a:ext cx="2113090" cy="2060263"/>
          </a:xfrm>
          <a:custGeom>
            <a:avLst/>
            <a:gdLst/>
            <a:ahLst/>
            <a:cxnLst/>
            <a:rect l="l" t="t" r="r" b="b"/>
            <a:pathLst>
              <a:path w="2113090" h="2060263">
                <a:moveTo>
                  <a:pt x="0" y="0"/>
                </a:moveTo>
                <a:lnTo>
                  <a:pt x="2113090" y="0"/>
                </a:lnTo>
                <a:lnTo>
                  <a:pt x="2113090" y="2060262"/>
                </a:lnTo>
                <a:lnTo>
                  <a:pt x="0" y="206026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4" name="TextBox 24"/>
          <p:cNvSpPr txBox="1"/>
          <p:nvPr/>
        </p:nvSpPr>
        <p:spPr>
          <a:xfrm>
            <a:off x="1725554" y="1800658"/>
            <a:ext cx="14836893" cy="944046"/>
          </a:xfrm>
          <a:prstGeom prst="rect">
            <a:avLst/>
          </a:prstGeom>
        </p:spPr>
        <p:txBody>
          <a:bodyPr lIns="0" tIns="0" rIns="0" bIns="0" rtlCol="0" anchor="t">
            <a:spAutoFit/>
          </a:bodyPr>
          <a:lstStyle/>
          <a:p>
            <a:pPr algn="ctr">
              <a:lnSpc>
                <a:spcPts val="3615"/>
              </a:lnSpc>
              <a:spcBef>
                <a:spcPct val="0"/>
              </a:spcBef>
            </a:pPr>
            <a:r>
              <a:rPr lang="en-US" sz="2582" b="1">
                <a:solidFill>
                  <a:srgbClr val="000000"/>
                </a:solidFill>
                <a:latin typeface="Solomon Sans Bold"/>
                <a:ea typeface="Solomon Sans Bold"/>
                <a:cs typeface="Solomon Sans Bold"/>
                <a:sym typeface="Solomon Sans Bold"/>
              </a:rPr>
              <a:t>The dashboard provides a comprehensive view of hospital operations through four key analytical views, each focusing on a specific aspect of hospital management.</a:t>
            </a:r>
          </a:p>
        </p:txBody>
      </p:sp>
      <p:sp>
        <p:nvSpPr>
          <p:cNvPr id="25" name="TextBox 25"/>
          <p:cNvSpPr txBox="1"/>
          <p:nvPr/>
        </p:nvSpPr>
        <p:spPr>
          <a:xfrm>
            <a:off x="4950342" y="622034"/>
            <a:ext cx="9750666" cy="866778"/>
          </a:xfrm>
          <a:prstGeom prst="rect">
            <a:avLst/>
          </a:prstGeom>
        </p:spPr>
        <p:txBody>
          <a:bodyPr lIns="0" tIns="0" rIns="0" bIns="0" rtlCol="0" anchor="t">
            <a:spAutoFit/>
          </a:bodyPr>
          <a:lstStyle/>
          <a:p>
            <a:pPr marL="0" lvl="0" indent="0" algn="l">
              <a:lnSpc>
                <a:spcPts val="6600"/>
              </a:lnSpc>
            </a:pPr>
            <a:r>
              <a:rPr lang="en-US" sz="6000" b="1">
                <a:solidFill>
                  <a:srgbClr val="000000"/>
                </a:solidFill>
                <a:latin typeface="Museo Moderno Bold"/>
                <a:ea typeface="Museo Moderno Bold"/>
                <a:cs typeface="Museo Moderno Bold"/>
                <a:sym typeface="Museo Moderno Bold"/>
              </a:rPr>
              <a:t>DashBoard </a:t>
            </a:r>
            <a:r>
              <a:rPr lang="en-US" sz="6000" b="1">
                <a:solidFill>
                  <a:srgbClr val="D51313"/>
                </a:solidFill>
                <a:latin typeface="Museo Moderno Bold"/>
                <a:ea typeface="Museo Moderno Bold"/>
                <a:cs typeface="Museo Moderno Bold"/>
                <a:sym typeface="Museo Moderno Bold"/>
              </a:rPr>
              <a:t>Architecture</a:t>
            </a:r>
          </a:p>
        </p:txBody>
      </p:sp>
      <p:sp>
        <p:nvSpPr>
          <p:cNvPr id="26" name="TextBox 26"/>
          <p:cNvSpPr txBox="1"/>
          <p:nvPr/>
        </p:nvSpPr>
        <p:spPr>
          <a:xfrm>
            <a:off x="3171823" y="8489107"/>
            <a:ext cx="11944354" cy="486846"/>
          </a:xfrm>
          <a:prstGeom prst="rect">
            <a:avLst/>
          </a:prstGeom>
        </p:spPr>
        <p:txBody>
          <a:bodyPr lIns="0" tIns="0" rIns="0" bIns="0" rtlCol="0" anchor="t">
            <a:spAutoFit/>
          </a:bodyPr>
          <a:lstStyle/>
          <a:p>
            <a:pPr algn="ctr">
              <a:lnSpc>
                <a:spcPts val="3615"/>
              </a:lnSpc>
              <a:spcBef>
                <a:spcPct val="0"/>
              </a:spcBef>
            </a:pPr>
            <a:r>
              <a:rPr lang="en-US" sz="2582" b="1">
                <a:solidFill>
                  <a:srgbClr val="000000"/>
                </a:solidFill>
                <a:latin typeface="Solomon Sans Bold"/>
                <a:ea typeface="Solomon Sans Bold"/>
                <a:cs typeface="Solomon Sans Bold"/>
                <a:sym typeface="Solomon Sans Bold"/>
              </a:rPr>
              <a:t>SELECTING ONE VIEW LEAD YOU TO THE RESPECTIVE DASHBOARD</a:t>
            </a:r>
          </a:p>
        </p:txBody>
      </p:sp>
      <p:sp>
        <p:nvSpPr>
          <p:cNvPr id="27" name="Freeform 27"/>
          <p:cNvSpPr/>
          <p:nvPr/>
        </p:nvSpPr>
        <p:spPr>
          <a:xfrm>
            <a:off x="304800" y="0"/>
            <a:ext cx="17983200" cy="10287000"/>
          </a:xfrm>
          <a:custGeom>
            <a:avLst/>
            <a:gdLst/>
            <a:ahLst/>
            <a:cxnLst/>
            <a:rect l="l" t="t" r="r" b="b"/>
            <a:pathLst>
              <a:path w="19329698" h="11769360">
                <a:moveTo>
                  <a:pt x="0" y="0"/>
                </a:moveTo>
                <a:lnTo>
                  <a:pt x="19329698" y="0"/>
                </a:lnTo>
                <a:lnTo>
                  <a:pt x="19329698" y="11769361"/>
                </a:lnTo>
                <a:lnTo>
                  <a:pt x="0" y="11769361"/>
                </a:lnTo>
                <a:lnTo>
                  <a:pt x="0" y="0"/>
                </a:lnTo>
                <a:close/>
              </a:path>
            </a:pathLst>
          </a:custGeom>
          <a:blipFill>
            <a:blip r:embed="rId9">
              <a:alphaModFix amt="6999"/>
            </a:blip>
            <a:stretch>
              <a:fillRect l="-93973" t="-3359" b="-26938"/>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799095" y="-1732719"/>
            <a:ext cx="6082893" cy="7354606"/>
          </a:xfrm>
          <a:prstGeom prst="rect">
            <a:avLst/>
          </a:prstGeom>
        </p:spPr>
      </p:pic>
      <p:pic>
        <p:nvPicPr>
          <p:cNvPr id="3" name="Picture 3"/>
          <p:cNvPicPr>
            <a:picLocks noChangeAspect="1"/>
          </p:cNvPicPr>
          <p:nvPr/>
        </p:nvPicPr>
        <p:blipFill>
          <a:blip r:embed="rId3">
            <a:alphaModFix amt="69000"/>
          </a:blip>
          <a:stretch>
            <a:fillRect/>
          </a:stretch>
        </p:blipFill>
        <p:spPr>
          <a:xfrm>
            <a:off x="9266527" y="4607700"/>
            <a:ext cx="6248960" cy="6200046"/>
          </a:xfrm>
          <a:prstGeom prst="rect">
            <a:avLst/>
          </a:prstGeom>
        </p:spPr>
      </p:pic>
      <p:pic>
        <p:nvPicPr>
          <p:cNvPr id="4" name="Picture 4"/>
          <p:cNvPicPr>
            <a:picLocks noChangeAspect="1"/>
          </p:cNvPicPr>
          <p:nvPr/>
        </p:nvPicPr>
        <p:blipFill>
          <a:blip r:embed="rId4">
            <a:alphaModFix amt="54000"/>
          </a:blip>
          <a:stretch>
            <a:fillRect/>
          </a:stretch>
        </p:blipFill>
        <p:spPr>
          <a:xfrm>
            <a:off x="11750638" y="-799760"/>
            <a:ext cx="2906373" cy="3656922"/>
          </a:xfrm>
          <a:prstGeom prst="rect">
            <a:avLst/>
          </a:prstGeom>
        </p:spPr>
      </p:pic>
      <p:pic>
        <p:nvPicPr>
          <p:cNvPr id="5" name="Picture 5"/>
          <p:cNvPicPr>
            <a:picLocks noChangeAspect="1"/>
          </p:cNvPicPr>
          <p:nvPr/>
        </p:nvPicPr>
        <p:blipFill>
          <a:blip r:embed="rId5">
            <a:alphaModFix amt="53000"/>
          </a:blip>
          <a:stretch>
            <a:fillRect/>
          </a:stretch>
        </p:blipFill>
        <p:spPr>
          <a:xfrm rot="2180903">
            <a:off x="3417965" y="1919580"/>
            <a:ext cx="3786446" cy="7401500"/>
          </a:xfrm>
          <a:prstGeom prst="rect">
            <a:avLst/>
          </a:prstGeom>
        </p:spPr>
      </p:pic>
      <p:grpSp>
        <p:nvGrpSpPr>
          <p:cNvPr id="6" name="Group 6"/>
          <p:cNvGrpSpPr/>
          <p:nvPr/>
        </p:nvGrpSpPr>
        <p:grpSpPr>
          <a:xfrm>
            <a:off x="11167986" y="7577233"/>
            <a:ext cx="2718537" cy="1338730"/>
            <a:chOff x="0" y="0"/>
            <a:chExt cx="715993" cy="352587"/>
          </a:xfrm>
        </p:grpSpPr>
        <p:sp>
          <p:nvSpPr>
            <p:cNvPr id="7" name="Freeform 7"/>
            <p:cNvSpPr/>
            <p:nvPr/>
          </p:nvSpPr>
          <p:spPr>
            <a:xfrm>
              <a:off x="0" y="0"/>
              <a:ext cx="715993" cy="352587"/>
            </a:xfrm>
            <a:custGeom>
              <a:avLst/>
              <a:gdLst/>
              <a:ahLst/>
              <a:cxnLst/>
              <a:rect l="l" t="t" r="r" b="b"/>
              <a:pathLst>
                <a:path w="715993" h="352587">
                  <a:moveTo>
                    <a:pt x="145239" y="0"/>
                  </a:moveTo>
                  <a:lnTo>
                    <a:pt x="570754" y="0"/>
                  </a:lnTo>
                  <a:cubicBezTo>
                    <a:pt x="650967" y="0"/>
                    <a:pt x="715993" y="65026"/>
                    <a:pt x="715993" y="145239"/>
                  </a:cubicBezTo>
                  <a:lnTo>
                    <a:pt x="715993" y="207348"/>
                  </a:lnTo>
                  <a:cubicBezTo>
                    <a:pt x="715993" y="287561"/>
                    <a:pt x="650967" y="352587"/>
                    <a:pt x="570754" y="352587"/>
                  </a:cubicBezTo>
                  <a:lnTo>
                    <a:pt x="145239" y="352587"/>
                  </a:lnTo>
                  <a:cubicBezTo>
                    <a:pt x="65026" y="352587"/>
                    <a:pt x="0" y="287561"/>
                    <a:pt x="0" y="207348"/>
                  </a:cubicBezTo>
                  <a:lnTo>
                    <a:pt x="0" y="145239"/>
                  </a:lnTo>
                  <a:cubicBezTo>
                    <a:pt x="0" y="65026"/>
                    <a:pt x="65026" y="0"/>
                    <a:pt x="145239" y="0"/>
                  </a:cubicBezTo>
                  <a:close/>
                </a:path>
              </a:pathLst>
            </a:custGeom>
            <a:solidFill>
              <a:srgbClr val="CA657E"/>
            </a:solidFill>
          </p:spPr>
          <p:txBody>
            <a:bodyPr/>
            <a:lstStyle/>
            <a:p>
              <a:endParaRPr lang="en-IN"/>
            </a:p>
          </p:txBody>
        </p:sp>
        <p:sp>
          <p:nvSpPr>
            <p:cNvPr id="8" name="TextBox 8"/>
            <p:cNvSpPr txBox="1"/>
            <p:nvPr/>
          </p:nvSpPr>
          <p:spPr>
            <a:xfrm>
              <a:off x="0" y="-66675"/>
              <a:ext cx="715993" cy="419262"/>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a:off x="10792507" y="4255275"/>
            <a:ext cx="2718537" cy="1365056"/>
            <a:chOff x="0" y="0"/>
            <a:chExt cx="715993" cy="359521"/>
          </a:xfrm>
        </p:grpSpPr>
        <p:sp>
          <p:nvSpPr>
            <p:cNvPr id="10" name="Freeform 10"/>
            <p:cNvSpPr/>
            <p:nvPr/>
          </p:nvSpPr>
          <p:spPr>
            <a:xfrm>
              <a:off x="0" y="0"/>
              <a:ext cx="715993" cy="359521"/>
            </a:xfrm>
            <a:custGeom>
              <a:avLst/>
              <a:gdLst/>
              <a:ahLst/>
              <a:cxnLst/>
              <a:rect l="l" t="t" r="r" b="b"/>
              <a:pathLst>
                <a:path w="715993" h="359521">
                  <a:moveTo>
                    <a:pt x="145239" y="0"/>
                  </a:moveTo>
                  <a:lnTo>
                    <a:pt x="570754" y="0"/>
                  </a:lnTo>
                  <a:cubicBezTo>
                    <a:pt x="650967" y="0"/>
                    <a:pt x="715993" y="65026"/>
                    <a:pt x="715993" y="145239"/>
                  </a:cubicBezTo>
                  <a:lnTo>
                    <a:pt x="715993" y="214282"/>
                  </a:lnTo>
                  <a:cubicBezTo>
                    <a:pt x="715993" y="294495"/>
                    <a:pt x="650967" y="359521"/>
                    <a:pt x="570754" y="359521"/>
                  </a:cubicBezTo>
                  <a:lnTo>
                    <a:pt x="145239" y="359521"/>
                  </a:lnTo>
                  <a:cubicBezTo>
                    <a:pt x="65026" y="359521"/>
                    <a:pt x="0" y="294495"/>
                    <a:pt x="0" y="214282"/>
                  </a:cubicBezTo>
                  <a:lnTo>
                    <a:pt x="0" y="145239"/>
                  </a:lnTo>
                  <a:cubicBezTo>
                    <a:pt x="0" y="65026"/>
                    <a:pt x="65026" y="0"/>
                    <a:pt x="145239" y="0"/>
                  </a:cubicBezTo>
                  <a:close/>
                </a:path>
              </a:pathLst>
            </a:custGeom>
            <a:solidFill>
              <a:srgbClr val="CA657E"/>
            </a:solidFill>
          </p:spPr>
          <p:txBody>
            <a:bodyPr/>
            <a:lstStyle/>
            <a:p>
              <a:endParaRPr lang="en-IN"/>
            </a:p>
          </p:txBody>
        </p:sp>
        <p:sp>
          <p:nvSpPr>
            <p:cNvPr id="11" name="TextBox 11"/>
            <p:cNvSpPr txBox="1"/>
            <p:nvPr/>
          </p:nvSpPr>
          <p:spPr>
            <a:xfrm>
              <a:off x="0" y="-66675"/>
              <a:ext cx="715993" cy="426196"/>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25320" y="5009003"/>
            <a:ext cx="2833174" cy="2833174"/>
            <a:chOff x="0" y="0"/>
            <a:chExt cx="812800" cy="812800"/>
          </a:xfrm>
        </p:grpSpPr>
        <p:sp>
          <p:nvSpPr>
            <p:cNvPr id="13" name="Freeform 1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A657E"/>
            </a:solidFill>
          </p:spPr>
          <p:txBody>
            <a:bodyPr/>
            <a:lstStyle/>
            <a:p>
              <a:endParaRPr lang="en-IN"/>
            </a:p>
          </p:txBody>
        </p:sp>
        <p:sp>
          <p:nvSpPr>
            <p:cNvPr id="14" name="TextBox 14"/>
            <p:cNvSpPr txBox="1"/>
            <p:nvPr/>
          </p:nvSpPr>
          <p:spPr>
            <a:xfrm>
              <a:off x="190500" y="123825"/>
              <a:ext cx="431800" cy="49847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7424513" y="2732692"/>
            <a:ext cx="4630868" cy="3522942"/>
            <a:chOff x="0" y="0"/>
            <a:chExt cx="1219653" cy="927853"/>
          </a:xfrm>
        </p:grpSpPr>
        <p:sp>
          <p:nvSpPr>
            <p:cNvPr id="16" name="Freeform 16"/>
            <p:cNvSpPr/>
            <p:nvPr/>
          </p:nvSpPr>
          <p:spPr>
            <a:xfrm>
              <a:off x="0" y="0"/>
              <a:ext cx="1219653" cy="927853"/>
            </a:xfrm>
            <a:custGeom>
              <a:avLst/>
              <a:gdLst/>
              <a:ahLst/>
              <a:cxnLst/>
              <a:rect l="l" t="t" r="r" b="b"/>
              <a:pathLst>
                <a:path w="1219653" h="927853">
                  <a:moveTo>
                    <a:pt x="33436" y="0"/>
                  </a:moveTo>
                  <a:lnTo>
                    <a:pt x="1186216" y="0"/>
                  </a:lnTo>
                  <a:cubicBezTo>
                    <a:pt x="1204683" y="0"/>
                    <a:pt x="1219653" y="14970"/>
                    <a:pt x="1219653" y="33436"/>
                  </a:cubicBezTo>
                  <a:lnTo>
                    <a:pt x="1219653" y="894417"/>
                  </a:lnTo>
                  <a:cubicBezTo>
                    <a:pt x="1219653" y="912883"/>
                    <a:pt x="1204683" y="927853"/>
                    <a:pt x="1186216" y="927853"/>
                  </a:cubicBezTo>
                  <a:lnTo>
                    <a:pt x="33436" y="927853"/>
                  </a:lnTo>
                  <a:cubicBezTo>
                    <a:pt x="14970" y="927853"/>
                    <a:pt x="0" y="912883"/>
                    <a:pt x="0" y="894417"/>
                  </a:cubicBezTo>
                  <a:lnTo>
                    <a:pt x="0" y="33436"/>
                  </a:lnTo>
                  <a:cubicBezTo>
                    <a:pt x="0" y="14970"/>
                    <a:pt x="14970" y="0"/>
                    <a:pt x="33436" y="0"/>
                  </a:cubicBezTo>
                  <a:close/>
                </a:path>
              </a:pathLst>
            </a:custGeom>
            <a:solidFill>
              <a:srgbClr val="FFFFFF"/>
            </a:solidFill>
          </p:spPr>
          <p:txBody>
            <a:bodyPr/>
            <a:lstStyle/>
            <a:p>
              <a:endParaRPr lang="en-IN"/>
            </a:p>
          </p:txBody>
        </p:sp>
        <p:sp>
          <p:nvSpPr>
            <p:cNvPr id="17" name="TextBox 17"/>
            <p:cNvSpPr txBox="1"/>
            <p:nvPr/>
          </p:nvSpPr>
          <p:spPr>
            <a:xfrm>
              <a:off x="0" y="-38100"/>
              <a:ext cx="1219653" cy="965953"/>
            </a:xfrm>
            <a:prstGeom prst="rect">
              <a:avLst/>
            </a:prstGeom>
          </p:spPr>
          <p:txBody>
            <a:bodyPr lIns="254000" tIns="254000" rIns="254000" bIns="254000" rtlCol="0" anchor="ctr"/>
            <a:lstStyle/>
            <a:p>
              <a:pPr algn="ctr">
                <a:lnSpc>
                  <a:spcPts val="3079"/>
                </a:lnSpc>
              </a:pPr>
              <a:r>
                <a:rPr lang="en-US" sz="2199" b="1">
                  <a:solidFill>
                    <a:srgbClr val="000000"/>
                  </a:solidFill>
                  <a:latin typeface="Cinzel Bold"/>
                  <a:ea typeface="Cinzel Bold"/>
                  <a:cs typeface="Cinzel Bold"/>
                  <a:sym typeface="Cinzel Bold"/>
                </a:rPr>
                <a:t> Hospital Performance Monitoring</a:t>
              </a:r>
            </a:p>
            <a:p>
              <a:pPr algn="ctr">
                <a:lnSpc>
                  <a:spcPts val="3079"/>
                </a:lnSpc>
              </a:pPr>
              <a:endParaRPr lang="en-US" sz="2199" b="1">
                <a:solidFill>
                  <a:srgbClr val="000000"/>
                </a:solidFill>
                <a:latin typeface="Cinzel Bold"/>
                <a:ea typeface="Cinzel Bold"/>
                <a:cs typeface="Cinzel Bold"/>
                <a:sym typeface="Cinzel Bold"/>
              </a:endParaRPr>
            </a:p>
            <a:p>
              <a:pPr algn="ctr">
                <a:lnSpc>
                  <a:spcPts val="3079"/>
                </a:lnSpc>
              </a:pPr>
              <a:r>
                <a:rPr lang="en-US" sz="2199">
                  <a:solidFill>
                    <a:srgbClr val="000000"/>
                  </a:solidFill>
                  <a:latin typeface="Canva Sans"/>
                  <a:ea typeface="Canva Sans"/>
                  <a:cs typeface="Canva Sans"/>
                  <a:sym typeface="Canva Sans"/>
                </a:rPr>
                <a:t>Provides a centralized view of hospital KPIs and helps administrators monitor overall operational performance.</a:t>
              </a:r>
            </a:p>
            <a:p>
              <a:pPr algn="ctr">
                <a:lnSpc>
                  <a:spcPts val="3079"/>
                </a:lnSpc>
              </a:pPr>
              <a:endParaRPr lang="en-US" sz="2199">
                <a:solidFill>
                  <a:srgbClr val="000000"/>
                </a:solidFill>
                <a:latin typeface="Canva Sans"/>
                <a:ea typeface="Canva Sans"/>
                <a:cs typeface="Canva Sans"/>
                <a:sym typeface="Canva Sans"/>
              </a:endParaRPr>
            </a:p>
          </p:txBody>
        </p:sp>
      </p:grpSp>
      <p:grpSp>
        <p:nvGrpSpPr>
          <p:cNvPr id="18" name="Group 18"/>
          <p:cNvGrpSpPr/>
          <p:nvPr/>
        </p:nvGrpSpPr>
        <p:grpSpPr>
          <a:xfrm>
            <a:off x="12679494" y="2732692"/>
            <a:ext cx="4579806" cy="3449230"/>
            <a:chOff x="0" y="0"/>
            <a:chExt cx="1206204" cy="908439"/>
          </a:xfrm>
        </p:grpSpPr>
        <p:sp>
          <p:nvSpPr>
            <p:cNvPr id="19" name="Freeform 19"/>
            <p:cNvSpPr/>
            <p:nvPr/>
          </p:nvSpPr>
          <p:spPr>
            <a:xfrm>
              <a:off x="0" y="0"/>
              <a:ext cx="1206204" cy="908439"/>
            </a:xfrm>
            <a:custGeom>
              <a:avLst/>
              <a:gdLst/>
              <a:ahLst/>
              <a:cxnLst/>
              <a:rect l="l" t="t" r="r" b="b"/>
              <a:pathLst>
                <a:path w="1206204" h="908439">
                  <a:moveTo>
                    <a:pt x="33809" y="0"/>
                  </a:moveTo>
                  <a:lnTo>
                    <a:pt x="1172395" y="0"/>
                  </a:lnTo>
                  <a:cubicBezTo>
                    <a:pt x="1191067" y="0"/>
                    <a:pt x="1206204" y="15137"/>
                    <a:pt x="1206204" y="33809"/>
                  </a:cubicBezTo>
                  <a:lnTo>
                    <a:pt x="1206204" y="874630"/>
                  </a:lnTo>
                  <a:cubicBezTo>
                    <a:pt x="1206204" y="893302"/>
                    <a:pt x="1191067" y="908439"/>
                    <a:pt x="1172395" y="908439"/>
                  </a:cubicBezTo>
                  <a:lnTo>
                    <a:pt x="33809" y="908439"/>
                  </a:lnTo>
                  <a:cubicBezTo>
                    <a:pt x="15137" y="908439"/>
                    <a:pt x="0" y="893302"/>
                    <a:pt x="0" y="874630"/>
                  </a:cubicBezTo>
                  <a:lnTo>
                    <a:pt x="0" y="33809"/>
                  </a:lnTo>
                  <a:cubicBezTo>
                    <a:pt x="0" y="15137"/>
                    <a:pt x="15137" y="0"/>
                    <a:pt x="33809" y="0"/>
                  </a:cubicBezTo>
                  <a:close/>
                </a:path>
              </a:pathLst>
            </a:custGeom>
            <a:solidFill>
              <a:srgbClr val="FFFFFF"/>
            </a:solidFill>
          </p:spPr>
          <p:txBody>
            <a:bodyPr/>
            <a:lstStyle/>
            <a:p>
              <a:endParaRPr lang="en-IN"/>
            </a:p>
          </p:txBody>
        </p:sp>
        <p:sp>
          <p:nvSpPr>
            <p:cNvPr id="20" name="TextBox 20"/>
            <p:cNvSpPr txBox="1"/>
            <p:nvPr/>
          </p:nvSpPr>
          <p:spPr>
            <a:xfrm>
              <a:off x="0" y="-38100"/>
              <a:ext cx="1206204" cy="94653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Patient Flow Tracking</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Provides visibility into patient movements, transfers, and department activity to better understand patient flow</a:t>
              </a:r>
            </a:p>
          </p:txBody>
        </p:sp>
      </p:grpSp>
      <p:grpSp>
        <p:nvGrpSpPr>
          <p:cNvPr id="21" name="Group 21"/>
          <p:cNvGrpSpPr/>
          <p:nvPr/>
        </p:nvGrpSpPr>
        <p:grpSpPr>
          <a:xfrm>
            <a:off x="7424513" y="6546788"/>
            <a:ext cx="4630868" cy="3298720"/>
            <a:chOff x="0" y="0"/>
            <a:chExt cx="1219653" cy="868799"/>
          </a:xfrm>
        </p:grpSpPr>
        <p:sp>
          <p:nvSpPr>
            <p:cNvPr id="22" name="Freeform 22"/>
            <p:cNvSpPr/>
            <p:nvPr/>
          </p:nvSpPr>
          <p:spPr>
            <a:xfrm>
              <a:off x="0" y="0"/>
              <a:ext cx="1219653" cy="868799"/>
            </a:xfrm>
            <a:custGeom>
              <a:avLst/>
              <a:gdLst/>
              <a:ahLst/>
              <a:cxnLst/>
              <a:rect l="l" t="t" r="r" b="b"/>
              <a:pathLst>
                <a:path w="1219653" h="868799">
                  <a:moveTo>
                    <a:pt x="33436" y="0"/>
                  </a:moveTo>
                  <a:lnTo>
                    <a:pt x="1186216" y="0"/>
                  </a:lnTo>
                  <a:cubicBezTo>
                    <a:pt x="1204683" y="0"/>
                    <a:pt x="1219653" y="14970"/>
                    <a:pt x="1219653" y="33436"/>
                  </a:cubicBezTo>
                  <a:lnTo>
                    <a:pt x="1219653" y="835363"/>
                  </a:lnTo>
                  <a:cubicBezTo>
                    <a:pt x="1219653" y="853829"/>
                    <a:pt x="1204683" y="868799"/>
                    <a:pt x="1186216" y="868799"/>
                  </a:cubicBezTo>
                  <a:lnTo>
                    <a:pt x="33436" y="868799"/>
                  </a:lnTo>
                  <a:cubicBezTo>
                    <a:pt x="14970" y="868799"/>
                    <a:pt x="0" y="853829"/>
                    <a:pt x="0" y="835363"/>
                  </a:cubicBezTo>
                  <a:lnTo>
                    <a:pt x="0" y="33436"/>
                  </a:lnTo>
                  <a:cubicBezTo>
                    <a:pt x="0" y="14970"/>
                    <a:pt x="14970" y="0"/>
                    <a:pt x="33436" y="0"/>
                  </a:cubicBezTo>
                  <a:close/>
                </a:path>
              </a:pathLst>
            </a:custGeom>
            <a:solidFill>
              <a:srgbClr val="FFFFFF"/>
            </a:solidFill>
          </p:spPr>
          <p:txBody>
            <a:bodyPr/>
            <a:lstStyle/>
            <a:p>
              <a:endParaRPr lang="en-IN"/>
            </a:p>
          </p:txBody>
        </p:sp>
        <p:sp>
          <p:nvSpPr>
            <p:cNvPr id="23" name="TextBox 23"/>
            <p:cNvSpPr txBox="1"/>
            <p:nvPr/>
          </p:nvSpPr>
          <p:spPr>
            <a:xfrm>
              <a:off x="0" y="-38100"/>
              <a:ext cx="1219653" cy="90689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Department Performance Analysis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Helps identify department-level performance and efficiency by analyzing admissions, occupancy, LOS, and other key metrics.</a:t>
              </a:r>
            </a:p>
          </p:txBody>
        </p:sp>
      </p:grpSp>
      <p:grpSp>
        <p:nvGrpSpPr>
          <p:cNvPr id="24" name="Group 24"/>
          <p:cNvGrpSpPr/>
          <p:nvPr/>
        </p:nvGrpSpPr>
        <p:grpSpPr>
          <a:xfrm>
            <a:off x="12679494" y="6546788"/>
            <a:ext cx="4579806" cy="3298720"/>
            <a:chOff x="0" y="0"/>
            <a:chExt cx="1206204" cy="868799"/>
          </a:xfrm>
        </p:grpSpPr>
        <p:sp>
          <p:nvSpPr>
            <p:cNvPr id="25" name="Freeform 25"/>
            <p:cNvSpPr/>
            <p:nvPr/>
          </p:nvSpPr>
          <p:spPr>
            <a:xfrm>
              <a:off x="0" y="0"/>
              <a:ext cx="1206204" cy="868799"/>
            </a:xfrm>
            <a:custGeom>
              <a:avLst/>
              <a:gdLst/>
              <a:ahLst/>
              <a:cxnLst/>
              <a:rect l="l" t="t" r="r" b="b"/>
              <a:pathLst>
                <a:path w="1206204" h="868799">
                  <a:moveTo>
                    <a:pt x="33809" y="0"/>
                  </a:moveTo>
                  <a:lnTo>
                    <a:pt x="1172395" y="0"/>
                  </a:lnTo>
                  <a:cubicBezTo>
                    <a:pt x="1191067" y="0"/>
                    <a:pt x="1206204" y="15137"/>
                    <a:pt x="1206204" y="33809"/>
                  </a:cubicBezTo>
                  <a:lnTo>
                    <a:pt x="1206204" y="834990"/>
                  </a:lnTo>
                  <a:cubicBezTo>
                    <a:pt x="1206204" y="853662"/>
                    <a:pt x="1191067" y="868799"/>
                    <a:pt x="1172395" y="868799"/>
                  </a:cubicBezTo>
                  <a:lnTo>
                    <a:pt x="33809" y="868799"/>
                  </a:lnTo>
                  <a:cubicBezTo>
                    <a:pt x="15137" y="868799"/>
                    <a:pt x="0" y="853662"/>
                    <a:pt x="0" y="834990"/>
                  </a:cubicBezTo>
                  <a:lnTo>
                    <a:pt x="0" y="33809"/>
                  </a:lnTo>
                  <a:cubicBezTo>
                    <a:pt x="0" y="15137"/>
                    <a:pt x="15137" y="0"/>
                    <a:pt x="33809" y="0"/>
                  </a:cubicBezTo>
                  <a:close/>
                </a:path>
              </a:pathLst>
            </a:custGeom>
            <a:solidFill>
              <a:srgbClr val="FFFFFF"/>
            </a:solidFill>
          </p:spPr>
          <p:txBody>
            <a:bodyPr/>
            <a:lstStyle/>
            <a:p>
              <a:endParaRPr lang="en-IN"/>
            </a:p>
          </p:txBody>
        </p:sp>
        <p:sp>
          <p:nvSpPr>
            <p:cNvPr id="26" name="TextBox 26"/>
            <p:cNvSpPr txBox="1"/>
            <p:nvPr/>
          </p:nvSpPr>
          <p:spPr>
            <a:xfrm>
              <a:off x="0" y="-38100"/>
              <a:ext cx="1206204" cy="90689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Resource Utilization Monitoring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Provides insights into the utilization of beds, equipment, and staff to support better resource management.</a:t>
              </a:r>
            </a:p>
          </p:txBody>
        </p:sp>
      </p:grpSp>
      <p:grpSp>
        <p:nvGrpSpPr>
          <p:cNvPr id="27" name="Group 27"/>
          <p:cNvGrpSpPr/>
          <p:nvPr/>
        </p:nvGrpSpPr>
        <p:grpSpPr>
          <a:xfrm rot="-5400000">
            <a:off x="3928997" y="5420447"/>
            <a:ext cx="4660688" cy="2330344"/>
            <a:chOff x="0" y="0"/>
            <a:chExt cx="660400" cy="330200"/>
          </a:xfrm>
        </p:grpSpPr>
        <p:sp>
          <p:nvSpPr>
            <p:cNvPr id="28" name="Freeform 28"/>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29" name="TextBox 29"/>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rot="5400000">
            <a:off x="16094128" y="5381616"/>
            <a:ext cx="4660688" cy="2330344"/>
            <a:chOff x="0" y="0"/>
            <a:chExt cx="660400" cy="330200"/>
          </a:xfrm>
        </p:grpSpPr>
        <p:sp>
          <p:nvSpPr>
            <p:cNvPr id="31" name="Freeform 31"/>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32" name="TextBox 32"/>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pic>
        <p:nvPicPr>
          <p:cNvPr id="33" name="Picture 33"/>
          <p:cNvPicPr>
            <a:picLocks noChangeAspect="1"/>
          </p:cNvPicPr>
          <p:nvPr/>
        </p:nvPicPr>
        <p:blipFill>
          <a:blip r:embed="rId6">
            <a:alphaModFix amt="65999"/>
          </a:blip>
          <a:stretch>
            <a:fillRect/>
          </a:stretch>
        </p:blipFill>
        <p:spPr>
          <a:xfrm>
            <a:off x="7370449" y="1389"/>
            <a:ext cx="2636537" cy="2407178"/>
          </a:xfrm>
          <a:prstGeom prst="rect">
            <a:avLst/>
          </a:prstGeom>
        </p:spPr>
      </p:pic>
      <p:sp>
        <p:nvSpPr>
          <p:cNvPr id="34" name="TextBox 34"/>
          <p:cNvSpPr txBox="1"/>
          <p:nvPr/>
        </p:nvSpPr>
        <p:spPr>
          <a:xfrm>
            <a:off x="1463669" y="897185"/>
            <a:ext cx="5586661" cy="2543178"/>
          </a:xfrm>
          <a:prstGeom prst="rect">
            <a:avLst/>
          </a:prstGeom>
        </p:spPr>
        <p:txBody>
          <a:bodyPr lIns="0" tIns="0" rIns="0" bIns="0" rtlCol="0" anchor="t">
            <a:spAutoFit/>
          </a:bodyPr>
          <a:lstStyle/>
          <a:p>
            <a:pPr algn="l">
              <a:lnSpc>
                <a:spcPts val="6600"/>
              </a:lnSpc>
            </a:pPr>
            <a:r>
              <a:rPr lang="en-US" sz="6000" b="1">
                <a:solidFill>
                  <a:srgbClr val="000000"/>
                </a:solidFill>
                <a:latin typeface="Museo Moderno Bold"/>
                <a:ea typeface="Museo Moderno Bold"/>
                <a:cs typeface="Museo Moderno Bold"/>
                <a:sym typeface="Museo Moderno Bold"/>
              </a:rPr>
              <a:t>Solutions in </a:t>
            </a:r>
            <a:r>
              <a:rPr lang="en-US" sz="6000" b="1">
                <a:solidFill>
                  <a:srgbClr val="D51313"/>
                </a:solidFill>
                <a:latin typeface="Museo Moderno Bold"/>
                <a:ea typeface="Museo Moderno Bold"/>
                <a:cs typeface="Museo Moderno Bold"/>
                <a:sym typeface="Museo Moderno Bold"/>
              </a:rPr>
              <a:t>This  </a:t>
            </a:r>
          </a:p>
          <a:p>
            <a:pPr marL="0" lvl="0" indent="0" algn="l">
              <a:lnSpc>
                <a:spcPts val="6600"/>
              </a:lnSpc>
            </a:pPr>
            <a:r>
              <a:rPr lang="en-US" sz="6000" b="1">
                <a:solidFill>
                  <a:srgbClr val="000000"/>
                </a:solidFill>
                <a:latin typeface="Museo Moderno Bold"/>
                <a:ea typeface="Museo Moderno Bold"/>
                <a:cs typeface="Museo Moderno Bold"/>
                <a:sym typeface="Museo Moderno Bold"/>
              </a:rPr>
              <a:t>Dash 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61537" cy="56153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11297" y="2280122"/>
            <a:ext cx="8500871" cy="6253611"/>
          </a:xfrm>
          <a:custGeom>
            <a:avLst/>
            <a:gdLst/>
            <a:ahLst/>
            <a:cxnLst/>
            <a:rect l="l" t="t" r="r" b="b"/>
            <a:pathLst>
              <a:path w="8500871" h="6253611">
                <a:moveTo>
                  <a:pt x="0" y="0"/>
                </a:moveTo>
                <a:lnTo>
                  <a:pt x="8500871" y="0"/>
                </a:lnTo>
                <a:lnTo>
                  <a:pt x="8500871" y="6253611"/>
                </a:lnTo>
                <a:lnTo>
                  <a:pt x="0" y="6253611"/>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598611"/>
            <a:ext cx="4237608" cy="574843"/>
          </a:xfrm>
          <a:prstGeom prst="rect">
            <a:avLst/>
          </a:prstGeom>
        </p:spPr>
        <p:txBody>
          <a:bodyPr lIns="0" tIns="0" rIns="0" bIns="0" rtlCol="0" anchor="t">
            <a:spAutoFit/>
          </a:bodyPr>
          <a:lstStyle/>
          <a:p>
            <a:pPr marL="0" lvl="0" indent="0" algn="l">
              <a:lnSpc>
                <a:spcPts val="4414"/>
              </a:lnSpc>
            </a:pPr>
            <a:r>
              <a:rPr lang="en-US" sz="4013" b="1">
                <a:solidFill>
                  <a:srgbClr val="000000"/>
                </a:solidFill>
                <a:latin typeface="Museo Moderno Bold"/>
                <a:ea typeface="Museo Moderno Bold"/>
                <a:cs typeface="Museo Moderno Bold"/>
                <a:sym typeface="Museo Moderno Bold"/>
              </a:rPr>
              <a:t>Home Page :-</a:t>
            </a:r>
          </a:p>
        </p:txBody>
      </p:sp>
      <p:sp>
        <p:nvSpPr>
          <p:cNvPr id="8" name="TextBox 8"/>
          <p:cNvSpPr txBox="1"/>
          <p:nvPr/>
        </p:nvSpPr>
        <p:spPr>
          <a:xfrm>
            <a:off x="2646372" y="2496034"/>
            <a:ext cx="4455518" cy="6176495"/>
          </a:xfrm>
          <a:prstGeom prst="rect">
            <a:avLst/>
          </a:prstGeom>
        </p:spPr>
        <p:txBody>
          <a:bodyPr lIns="0" tIns="0" rIns="0" bIns="0" rtlCol="0" anchor="t">
            <a:spAutoFit/>
          </a:bodyPr>
          <a:lstStyle/>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Central Navigation Hub – Provides quick access to all major MedTrack_DV dashboard views.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Hospital Overview – Gives a summary of hospital performance through key KPIs and trends.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Patient &amp; Department Analysis – Provides quick access to patient movement and department performance insights.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Resource Utilization – Provides access to resource utilization analysis, including equipment, beds, and staff.</a:t>
            </a:r>
          </a:p>
          <a:p>
            <a:pPr algn="l">
              <a:lnSpc>
                <a:spcPts val="2913"/>
              </a:lnSpc>
            </a:pPr>
            <a:endParaRPr lang="en-US" sz="2080">
              <a:solidFill>
                <a:srgbClr val="000000"/>
              </a:solidFill>
              <a:latin typeface="Solomon Sans"/>
              <a:ea typeface="Solomon Sans"/>
              <a:cs typeface="Solomon Sans"/>
              <a:sym typeface="Solomo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72303" cy="57230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11297" y="2289433"/>
            <a:ext cx="8545722" cy="6244300"/>
          </a:xfrm>
          <a:custGeom>
            <a:avLst/>
            <a:gdLst/>
            <a:ahLst/>
            <a:cxnLst/>
            <a:rect l="l" t="t" r="r" b="b"/>
            <a:pathLst>
              <a:path w="8545722" h="6244300">
                <a:moveTo>
                  <a:pt x="0" y="0"/>
                </a:moveTo>
                <a:lnTo>
                  <a:pt x="8545722" y="0"/>
                </a:lnTo>
                <a:lnTo>
                  <a:pt x="8545722" y="6244300"/>
                </a:lnTo>
                <a:lnTo>
                  <a:pt x="0" y="6244300"/>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608136"/>
            <a:ext cx="5221831" cy="534203"/>
          </a:xfrm>
          <a:prstGeom prst="rect">
            <a:avLst/>
          </a:prstGeom>
        </p:spPr>
        <p:txBody>
          <a:bodyPr lIns="0" tIns="0" rIns="0" bIns="0" rtlCol="0" anchor="t">
            <a:spAutoFit/>
          </a:bodyPr>
          <a:lstStyle/>
          <a:p>
            <a:pPr marL="0" lvl="0" indent="0" algn="l">
              <a:lnSpc>
                <a:spcPts val="4194"/>
              </a:lnSpc>
            </a:pPr>
            <a:r>
              <a:rPr lang="en-US" sz="3813" b="1">
                <a:solidFill>
                  <a:srgbClr val="000000"/>
                </a:solidFill>
                <a:latin typeface="Museo Moderno Bold"/>
                <a:ea typeface="Museo Moderno Bold"/>
                <a:cs typeface="Museo Moderno Bold"/>
                <a:sym typeface="Museo Moderno Bold"/>
              </a:rPr>
              <a:t>Hospital Overview :-</a:t>
            </a:r>
          </a:p>
        </p:txBody>
      </p:sp>
      <p:sp>
        <p:nvSpPr>
          <p:cNvPr id="8" name="TextBox 8"/>
          <p:cNvSpPr txBox="1"/>
          <p:nvPr/>
        </p:nvSpPr>
        <p:spPr>
          <a:xfrm>
            <a:off x="2646372" y="2505559"/>
            <a:ext cx="4455518" cy="6353025"/>
          </a:xfrm>
          <a:prstGeom prst="rect">
            <a:avLst/>
          </a:prstGeom>
        </p:spPr>
        <p:txBody>
          <a:bodyPr lIns="0" tIns="0" rIns="0" bIns="0" rtlCol="0" anchor="t">
            <a:spAutoFit/>
          </a:bodyPr>
          <a:lstStyle/>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Hospital KPI Monitoring – Provides a centralized view of admissions, occupancy, LOS, readmission, mortality, and discharge KPIs.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Monthly Performance Trends – Tracks monthly changes in admissions, bed occupancy, readmissions, and discharges.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Admission &amp; Discharge Analysis – Analyzes admissions by region, admission type, day type, and hospital-wise admissions and discharges.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Performance Comparison – Helps compare hospital activity and identify changes in operational performance across different periods and locations.</a:t>
            </a:r>
          </a:p>
          <a:p>
            <a:pPr algn="l">
              <a:lnSpc>
                <a:spcPts val="2633"/>
              </a:lnSpc>
            </a:pPr>
            <a:endParaRPr lang="en-US" sz="1880">
              <a:solidFill>
                <a:srgbClr val="000000"/>
              </a:solidFill>
              <a:latin typeface="Solomon Sans"/>
              <a:ea typeface="Solomon Sans"/>
              <a:cs typeface="Solomon Sans"/>
              <a:sym typeface="Solomo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72303" cy="57230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89433"/>
            <a:ext cx="8499883" cy="6257325"/>
          </a:xfrm>
          <a:custGeom>
            <a:avLst/>
            <a:gdLst/>
            <a:ahLst/>
            <a:cxnLst/>
            <a:rect l="l" t="t" r="r" b="b"/>
            <a:pathLst>
              <a:path w="8499883" h="6257325">
                <a:moveTo>
                  <a:pt x="0" y="0"/>
                </a:moveTo>
                <a:lnTo>
                  <a:pt x="8499883" y="0"/>
                </a:lnTo>
                <a:lnTo>
                  <a:pt x="8499883" y="6257324"/>
                </a:lnTo>
                <a:lnTo>
                  <a:pt x="0" y="6257324"/>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608136"/>
            <a:ext cx="5221831" cy="534203"/>
          </a:xfrm>
          <a:prstGeom prst="rect">
            <a:avLst/>
          </a:prstGeom>
        </p:spPr>
        <p:txBody>
          <a:bodyPr lIns="0" tIns="0" rIns="0" bIns="0" rtlCol="0" anchor="t">
            <a:spAutoFit/>
          </a:bodyPr>
          <a:lstStyle/>
          <a:p>
            <a:pPr marL="0" lvl="0" indent="0" algn="l">
              <a:lnSpc>
                <a:spcPts val="4194"/>
              </a:lnSpc>
            </a:pPr>
            <a:r>
              <a:rPr lang="en-US" sz="3813" b="1">
                <a:solidFill>
                  <a:srgbClr val="000000"/>
                </a:solidFill>
                <a:latin typeface="Museo Moderno Bold"/>
                <a:ea typeface="Museo Moderno Bold"/>
                <a:cs typeface="Museo Moderno Bold"/>
                <a:sym typeface="Museo Moderno Bold"/>
              </a:rPr>
              <a:t>Patient Flow  :-</a:t>
            </a:r>
          </a:p>
        </p:txBody>
      </p:sp>
      <p:sp>
        <p:nvSpPr>
          <p:cNvPr id="8" name="TextBox 8"/>
          <p:cNvSpPr txBox="1"/>
          <p:nvPr/>
        </p:nvSpPr>
        <p:spPr>
          <a:xfrm>
            <a:off x="2646372" y="2222758"/>
            <a:ext cx="4285354" cy="7249180"/>
          </a:xfrm>
          <a:prstGeom prst="rect">
            <a:avLst/>
          </a:prstGeom>
        </p:spPr>
        <p:txBody>
          <a:bodyPr lIns="0" tIns="0" rIns="0" bIns="0" rtlCol="0" anchor="t">
            <a:spAutoFit/>
          </a:bodyPr>
          <a:lstStyle/>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Patient Movement Monitoring – Tracks total patient movements, average time spent in departments, ICU transfers, and ward occupancy.</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Movement Pattern Analysis – Identifies the most common patient movement routes and transfer patterns between departments.</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Staff &amp; Movement Analysis – Highlights staff authorities involved in patient movements and analyzes movement types and shifts.</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Transport &amp; Peak-Time Analysis – Examines patient movements by peak hours and mode of transport to understand patient flow patterns.</a:t>
            </a:r>
          </a:p>
          <a:p>
            <a:pPr algn="l">
              <a:lnSpc>
                <a:spcPts val="2658"/>
              </a:lnSpc>
            </a:pPr>
            <a:endParaRPr lang="en-US" sz="1898">
              <a:solidFill>
                <a:srgbClr val="000000"/>
              </a:solidFill>
              <a:latin typeface="Solomon Sans"/>
              <a:ea typeface="Solomon Sans"/>
              <a:cs typeface="Solomon Sans"/>
              <a:sym typeface="Solomon Sans"/>
            </a:endParaRPr>
          </a:p>
          <a:p>
            <a:pPr algn="l">
              <a:lnSpc>
                <a:spcPts val="2658"/>
              </a:lnSpc>
            </a:pPr>
            <a:endParaRPr lang="en-US" sz="1898">
              <a:solidFill>
                <a:srgbClr val="000000"/>
              </a:solidFill>
              <a:latin typeface="Solomon Sans"/>
              <a:ea typeface="Solomon Sans"/>
              <a:cs typeface="Solomon Sans"/>
              <a:sym typeface="Solomo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472343" cy="4723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89433"/>
            <a:ext cx="8499883" cy="6257325"/>
          </a:xfrm>
          <a:custGeom>
            <a:avLst/>
            <a:gdLst/>
            <a:ahLst/>
            <a:cxnLst/>
            <a:rect l="l" t="t" r="r" b="b"/>
            <a:pathLst>
              <a:path w="8499883" h="6257325">
                <a:moveTo>
                  <a:pt x="0" y="0"/>
                </a:moveTo>
                <a:lnTo>
                  <a:pt x="8499883" y="0"/>
                </a:lnTo>
                <a:lnTo>
                  <a:pt x="8499883" y="6257324"/>
                </a:lnTo>
                <a:lnTo>
                  <a:pt x="0" y="6257324"/>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496979" y="1573713"/>
            <a:ext cx="5560157" cy="5030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Department Analysis :-</a:t>
            </a:r>
          </a:p>
        </p:txBody>
      </p:sp>
      <p:sp>
        <p:nvSpPr>
          <p:cNvPr id="8" name="TextBox 8"/>
          <p:cNvSpPr txBox="1"/>
          <p:nvPr/>
        </p:nvSpPr>
        <p:spPr>
          <a:xfrm>
            <a:off x="2646372" y="2345786"/>
            <a:ext cx="4327421" cy="6324000"/>
          </a:xfrm>
          <a:prstGeom prst="rect">
            <a:avLst/>
          </a:prstGeom>
        </p:spPr>
        <p:txBody>
          <a:bodyPr lIns="0" tIns="0" rIns="0" bIns="0" rtlCol="0" anchor="t">
            <a:spAutoFit/>
          </a:bodyPr>
          <a:lstStyle/>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KPI Monitoring – Tracks admissions, discharges, readmissions, LOS, occupancy, mortality, and other key department metrics.</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Efficiency Analysis – Compares departments using efficiency scores, staff requirements, bed occupancy, and service performance.</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Treatment &amp; Capacity Analysis – Analyzes treatment time, staff availability, bed occupancy against targets, and department capacity.</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Performance Trends – Monitors admissions, discharges, LOS, budgets, and key departmental KPIs over time.</a:t>
            </a:r>
          </a:p>
          <a:p>
            <a:pPr algn="l">
              <a:lnSpc>
                <a:spcPts val="2684"/>
              </a:lnSpc>
            </a:pPr>
            <a:endParaRPr lang="en-US" sz="1917">
              <a:solidFill>
                <a:srgbClr val="000000"/>
              </a:solidFill>
              <a:latin typeface="Solomon Sans"/>
              <a:ea typeface="Solomon Sans"/>
              <a:cs typeface="Solomon Sans"/>
              <a:sym typeface="Solomo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472343" cy="4723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70864"/>
            <a:ext cx="8499883" cy="6275893"/>
          </a:xfrm>
          <a:custGeom>
            <a:avLst/>
            <a:gdLst/>
            <a:ahLst/>
            <a:cxnLst/>
            <a:rect l="l" t="t" r="r" b="b"/>
            <a:pathLst>
              <a:path w="8499883" h="6275893">
                <a:moveTo>
                  <a:pt x="0" y="0"/>
                </a:moveTo>
                <a:lnTo>
                  <a:pt x="8499883" y="0"/>
                </a:lnTo>
                <a:lnTo>
                  <a:pt x="8499883" y="6275893"/>
                </a:lnTo>
                <a:lnTo>
                  <a:pt x="0" y="6275893"/>
                </a:lnTo>
                <a:lnTo>
                  <a:pt x="0" y="0"/>
                </a:lnTo>
                <a:close/>
              </a:path>
            </a:pathLst>
          </a:custGeom>
          <a:blipFill>
            <a:blip r:embed="rId3"/>
            <a:stretch>
              <a:fillRect l="-148" r="-148"/>
            </a:stretch>
          </a:blipFill>
        </p:spPr>
        <p:txBody>
          <a:bodyPr/>
          <a:lstStyle/>
          <a:p>
            <a:endParaRPr lang="en-IN"/>
          </a:p>
        </p:txBody>
      </p:sp>
      <p:sp>
        <p:nvSpPr>
          <p:cNvPr id="7" name="TextBox 7"/>
          <p:cNvSpPr txBox="1"/>
          <p:nvPr/>
        </p:nvSpPr>
        <p:spPr>
          <a:xfrm>
            <a:off x="2496979" y="1573713"/>
            <a:ext cx="5560157" cy="5030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Resource Utilization :-</a:t>
            </a:r>
          </a:p>
        </p:txBody>
      </p:sp>
      <p:sp>
        <p:nvSpPr>
          <p:cNvPr id="8" name="TextBox 8"/>
          <p:cNvSpPr txBox="1"/>
          <p:nvPr/>
        </p:nvSpPr>
        <p:spPr>
          <a:xfrm>
            <a:off x="2646372" y="2345786"/>
            <a:ext cx="4327421" cy="6324000"/>
          </a:xfrm>
          <a:prstGeom prst="rect">
            <a:avLst/>
          </a:prstGeom>
        </p:spPr>
        <p:txBody>
          <a:bodyPr lIns="0" tIns="0" rIns="0" bIns="0" rtlCol="0" anchor="t">
            <a:spAutoFit/>
          </a:bodyPr>
          <a:lstStyle/>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Resource Utilization Monitoring – Tracks the utilization of beds, equipment, and clinical staff across the hospital.</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Resource Availability &amp; Shortage Analysis – Identifies resource shortages, idle resources, and overall resource availability.</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Maintenance &amp; Working Hours Analysis – Monitors resource maintenance, downtime, and working hours to support operational planning.</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Capacity &amp; Cost Analysis – Compares resource capacity, usage, response time, and budget allocation for better resource management.</a:t>
            </a:r>
          </a:p>
          <a:p>
            <a:pPr algn="l">
              <a:lnSpc>
                <a:spcPts val="2684"/>
              </a:lnSpc>
            </a:pPr>
            <a:endParaRPr lang="en-US" sz="1917">
              <a:solidFill>
                <a:srgbClr val="000000"/>
              </a:solidFill>
              <a:latin typeface="Solomon Sans"/>
              <a:ea typeface="Solomon Sans"/>
              <a:cs typeface="Solomon Sans"/>
              <a:sym typeface="Solomo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0" y="-104748"/>
            <a:ext cx="18288000" cy="10391748"/>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sp>
        <p:nvSpPr>
          <p:cNvPr id="4" name="Freeform 4"/>
          <p:cNvSpPr/>
          <p:nvPr/>
        </p:nvSpPr>
        <p:spPr>
          <a:xfrm>
            <a:off x="0" y="6172200"/>
            <a:ext cx="5043848"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048969" y="102307"/>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2453482" y="1925196"/>
            <a:ext cx="4176837" cy="2506102"/>
          </a:xfrm>
          <a:custGeom>
            <a:avLst/>
            <a:gdLst/>
            <a:ahLst/>
            <a:cxnLst/>
            <a:rect l="l" t="t" r="r" b="b"/>
            <a:pathLst>
              <a:path w="4176837" h="2506102">
                <a:moveTo>
                  <a:pt x="0" y="0"/>
                </a:moveTo>
                <a:lnTo>
                  <a:pt x="4176837" y="0"/>
                </a:lnTo>
                <a:lnTo>
                  <a:pt x="4176837" y="2506102"/>
                </a:lnTo>
                <a:lnTo>
                  <a:pt x="0" y="2506102"/>
                </a:lnTo>
                <a:lnTo>
                  <a:pt x="0" y="0"/>
                </a:lnTo>
                <a:close/>
              </a:path>
            </a:pathLst>
          </a:custGeom>
          <a:blipFill>
            <a:blip r:embed="rId5"/>
            <a:stretch>
              <a:fillRect/>
            </a:stretch>
          </a:blipFill>
        </p:spPr>
        <p:txBody>
          <a:bodyPr/>
          <a:lstStyle/>
          <a:p>
            <a:endParaRPr lang="en-IN"/>
          </a:p>
        </p:txBody>
      </p:sp>
      <p:sp>
        <p:nvSpPr>
          <p:cNvPr id="7" name="Freeform 7"/>
          <p:cNvSpPr/>
          <p:nvPr/>
        </p:nvSpPr>
        <p:spPr>
          <a:xfrm>
            <a:off x="3755925" y="4665520"/>
            <a:ext cx="3831852" cy="2506102"/>
          </a:xfrm>
          <a:custGeom>
            <a:avLst/>
            <a:gdLst/>
            <a:ahLst/>
            <a:cxnLst/>
            <a:rect l="l" t="t" r="r" b="b"/>
            <a:pathLst>
              <a:path w="3831852" h="2506102">
                <a:moveTo>
                  <a:pt x="0" y="0"/>
                </a:moveTo>
                <a:lnTo>
                  <a:pt x="3831851" y="0"/>
                </a:lnTo>
                <a:lnTo>
                  <a:pt x="3831851" y="2506102"/>
                </a:lnTo>
                <a:lnTo>
                  <a:pt x="0" y="2506102"/>
                </a:lnTo>
                <a:lnTo>
                  <a:pt x="0" y="0"/>
                </a:lnTo>
                <a:close/>
              </a:path>
            </a:pathLst>
          </a:custGeom>
          <a:blipFill>
            <a:blip r:embed="rId6"/>
            <a:stretch>
              <a:fillRect b="-1679"/>
            </a:stretch>
          </a:blipFill>
        </p:spPr>
        <p:txBody>
          <a:bodyPr/>
          <a:lstStyle/>
          <a:p>
            <a:endParaRPr lang="en-IN"/>
          </a:p>
        </p:txBody>
      </p:sp>
      <p:sp>
        <p:nvSpPr>
          <p:cNvPr id="8" name="Freeform 8"/>
          <p:cNvSpPr/>
          <p:nvPr/>
        </p:nvSpPr>
        <p:spPr>
          <a:xfrm>
            <a:off x="5815374" y="7405844"/>
            <a:ext cx="4068122" cy="2506102"/>
          </a:xfrm>
          <a:custGeom>
            <a:avLst/>
            <a:gdLst/>
            <a:ahLst/>
            <a:cxnLst/>
            <a:rect l="l" t="t" r="r" b="b"/>
            <a:pathLst>
              <a:path w="4068122" h="2506102">
                <a:moveTo>
                  <a:pt x="0" y="0"/>
                </a:moveTo>
                <a:lnTo>
                  <a:pt x="4068122" y="0"/>
                </a:lnTo>
                <a:lnTo>
                  <a:pt x="4068122" y="2506102"/>
                </a:lnTo>
                <a:lnTo>
                  <a:pt x="0" y="2506102"/>
                </a:lnTo>
                <a:lnTo>
                  <a:pt x="0" y="0"/>
                </a:lnTo>
                <a:close/>
              </a:path>
            </a:pathLst>
          </a:custGeom>
          <a:blipFill>
            <a:blip r:embed="rId7"/>
            <a:stretch>
              <a:fillRect t="-7948"/>
            </a:stretch>
          </a:blipFill>
        </p:spPr>
        <p:txBody>
          <a:bodyPr/>
          <a:lstStyle/>
          <a:p>
            <a:endParaRPr lang="en-IN"/>
          </a:p>
        </p:txBody>
      </p:sp>
      <p:sp>
        <p:nvSpPr>
          <p:cNvPr id="9" name="TextBox 9"/>
          <p:cNvSpPr txBox="1"/>
          <p:nvPr/>
        </p:nvSpPr>
        <p:spPr>
          <a:xfrm>
            <a:off x="7587776" y="2159707"/>
            <a:ext cx="508985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Centralized Hospital Insights </a:t>
            </a:r>
          </a:p>
          <a:p>
            <a:pPr algn="ctr">
              <a:lnSpc>
                <a:spcPts val="3220"/>
              </a:lnSpc>
              <a:spcBef>
                <a:spcPct val="0"/>
              </a:spcBef>
            </a:pPr>
            <a:r>
              <a:rPr lang="en-US" sz="2300">
                <a:solidFill>
                  <a:srgbClr val="000000"/>
                </a:solidFill>
                <a:latin typeface="Solomon Sans"/>
                <a:ea typeface="Solomon Sans"/>
                <a:cs typeface="Solomon Sans"/>
                <a:sym typeface="Solomon Sans"/>
              </a:rPr>
              <a:t> Provides a single dashboard to monitor hospital performance, patient flow, department activity, and resource utilization.</a:t>
            </a:r>
          </a:p>
        </p:txBody>
      </p:sp>
      <p:sp>
        <p:nvSpPr>
          <p:cNvPr id="10" name="TextBox 10"/>
          <p:cNvSpPr txBox="1"/>
          <p:nvPr/>
        </p:nvSpPr>
        <p:spPr>
          <a:xfrm>
            <a:off x="778854" y="548556"/>
            <a:ext cx="5560157" cy="9983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OUTCOMES OF THIS </a:t>
            </a:r>
            <a:r>
              <a:rPr lang="en-US" sz="3613" b="1">
                <a:solidFill>
                  <a:srgbClr val="D82C00"/>
                </a:solidFill>
                <a:latin typeface="Museo Moderno Bold"/>
                <a:ea typeface="Museo Moderno Bold"/>
                <a:cs typeface="Museo Moderno Bold"/>
                <a:sym typeface="Museo Moderno Bold"/>
              </a:rPr>
              <a:t>PORJECT</a:t>
            </a:r>
          </a:p>
        </p:txBody>
      </p:sp>
      <p:sp>
        <p:nvSpPr>
          <p:cNvPr id="11" name="TextBox 11"/>
          <p:cNvSpPr txBox="1"/>
          <p:nvPr/>
        </p:nvSpPr>
        <p:spPr>
          <a:xfrm>
            <a:off x="8451623" y="4900031"/>
            <a:ext cx="559734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Better Performance Monitoring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Enables administrators to track important KPIs and identify changes in hospital and department performance over time.</a:t>
            </a:r>
          </a:p>
        </p:txBody>
      </p:sp>
      <p:sp>
        <p:nvSpPr>
          <p:cNvPr id="12" name="TextBox 12"/>
          <p:cNvSpPr txBox="1"/>
          <p:nvPr/>
        </p:nvSpPr>
        <p:spPr>
          <a:xfrm>
            <a:off x="10654667" y="7641961"/>
            <a:ext cx="5455621"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Improved Patient Flow Visibility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Helps staff understand patient movement patterns, transfers, department activity, and movement trends.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3" name="Freeform 3"/>
          <p:cNvSpPr/>
          <p:nvPr/>
        </p:nvSpPr>
        <p:spPr>
          <a:xfrm>
            <a:off x="381000" y="352180"/>
            <a:ext cx="17907000" cy="9934820"/>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sp>
        <p:nvSpPr>
          <p:cNvPr id="4" name="Freeform 4"/>
          <p:cNvSpPr/>
          <p:nvPr/>
        </p:nvSpPr>
        <p:spPr>
          <a:xfrm>
            <a:off x="0" y="6274534"/>
            <a:ext cx="5523221"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386087" y="34362"/>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2994218" y="2786158"/>
            <a:ext cx="4099262" cy="2726009"/>
          </a:xfrm>
          <a:custGeom>
            <a:avLst/>
            <a:gdLst/>
            <a:ahLst/>
            <a:cxnLst/>
            <a:rect l="l" t="t" r="r" b="b"/>
            <a:pathLst>
              <a:path w="4099262" h="2726009">
                <a:moveTo>
                  <a:pt x="0" y="0"/>
                </a:moveTo>
                <a:lnTo>
                  <a:pt x="4099261" y="0"/>
                </a:lnTo>
                <a:lnTo>
                  <a:pt x="4099261" y="2726009"/>
                </a:lnTo>
                <a:lnTo>
                  <a:pt x="0" y="2726009"/>
                </a:lnTo>
                <a:lnTo>
                  <a:pt x="0" y="0"/>
                </a:lnTo>
                <a:close/>
              </a:path>
            </a:pathLst>
          </a:custGeom>
          <a:blipFill>
            <a:blip r:embed="rId5"/>
            <a:stretch>
              <a:fillRect/>
            </a:stretch>
          </a:blipFill>
        </p:spPr>
        <p:txBody>
          <a:bodyPr/>
          <a:lstStyle/>
          <a:p>
            <a:endParaRPr lang="en-IN"/>
          </a:p>
        </p:txBody>
      </p:sp>
      <p:sp>
        <p:nvSpPr>
          <p:cNvPr id="7" name="Freeform 7"/>
          <p:cNvSpPr/>
          <p:nvPr/>
        </p:nvSpPr>
        <p:spPr>
          <a:xfrm>
            <a:off x="5343046" y="6172200"/>
            <a:ext cx="4099262" cy="2726009"/>
          </a:xfrm>
          <a:custGeom>
            <a:avLst/>
            <a:gdLst/>
            <a:ahLst/>
            <a:cxnLst/>
            <a:rect l="l" t="t" r="r" b="b"/>
            <a:pathLst>
              <a:path w="4099262" h="2726009">
                <a:moveTo>
                  <a:pt x="0" y="0"/>
                </a:moveTo>
                <a:lnTo>
                  <a:pt x="4099262" y="0"/>
                </a:lnTo>
                <a:lnTo>
                  <a:pt x="4099262" y="2726009"/>
                </a:lnTo>
                <a:lnTo>
                  <a:pt x="0" y="2726009"/>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778854" y="548556"/>
            <a:ext cx="5560157" cy="9983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OUTCOMES OF THIS </a:t>
            </a:r>
            <a:r>
              <a:rPr lang="en-US" sz="3613" b="1">
                <a:solidFill>
                  <a:srgbClr val="D82C00"/>
                </a:solidFill>
                <a:latin typeface="Museo Moderno Bold"/>
                <a:ea typeface="Museo Moderno Bold"/>
                <a:cs typeface="Museo Moderno Bold"/>
                <a:sym typeface="Museo Moderno Bold"/>
              </a:rPr>
              <a:t>PORJECT</a:t>
            </a:r>
          </a:p>
        </p:txBody>
      </p:sp>
      <p:sp>
        <p:nvSpPr>
          <p:cNvPr id="9" name="TextBox 9"/>
          <p:cNvSpPr txBox="1"/>
          <p:nvPr/>
        </p:nvSpPr>
        <p:spPr>
          <a:xfrm>
            <a:off x="7994907" y="3412758"/>
            <a:ext cx="559734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Effective Resource Monitoring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Provides visibility into the utilization, shortage, maintenance, and working hours of beds, equipment, and clinical staff.</a:t>
            </a:r>
          </a:p>
        </p:txBody>
      </p:sp>
      <p:sp>
        <p:nvSpPr>
          <p:cNvPr id="10" name="TextBox 10"/>
          <p:cNvSpPr txBox="1"/>
          <p:nvPr/>
        </p:nvSpPr>
        <p:spPr>
          <a:xfrm>
            <a:off x="10350189" y="6387304"/>
            <a:ext cx="5455621"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Data-Driven Decision Support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Converts cleaned hospital data into meaningful visual insights that can support operational planning and resource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8E3"/>
        </a:solidFill>
        <a:effectLst/>
      </p:bgPr>
    </p:bg>
    <p:spTree>
      <p:nvGrpSpPr>
        <p:cNvPr id="1" name=""/>
        <p:cNvGrpSpPr/>
        <p:nvPr/>
      </p:nvGrpSpPr>
      <p:grpSpPr>
        <a:xfrm>
          <a:off x="0" y="0"/>
          <a:ext cx="0" cy="0"/>
          <a:chOff x="0" y="0"/>
          <a:chExt cx="0" cy="0"/>
        </a:xfrm>
      </p:grpSpPr>
      <p:sp>
        <p:nvSpPr>
          <p:cNvPr id="2" name="Freeform 2"/>
          <p:cNvSpPr/>
          <p:nvPr/>
        </p:nvSpPr>
        <p:spPr>
          <a:xfrm>
            <a:off x="8419777" y="1372170"/>
            <a:ext cx="8839523" cy="7538426"/>
          </a:xfrm>
          <a:custGeom>
            <a:avLst/>
            <a:gdLst/>
            <a:ahLst/>
            <a:cxnLst/>
            <a:rect l="l" t="t" r="r" b="b"/>
            <a:pathLst>
              <a:path w="8839523" h="7538426">
                <a:moveTo>
                  <a:pt x="0" y="0"/>
                </a:moveTo>
                <a:lnTo>
                  <a:pt x="8839523" y="0"/>
                </a:lnTo>
                <a:lnTo>
                  <a:pt x="8839523" y="7538426"/>
                </a:lnTo>
                <a:lnTo>
                  <a:pt x="0" y="7538426"/>
                </a:lnTo>
                <a:lnTo>
                  <a:pt x="0" y="0"/>
                </a:lnTo>
                <a:close/>
              </a:path>
            </a:pathLst>
          </a:custGeom>
          <a:blipFill>
            <a:blip r:embed="rId2">
              <a:alphaModFix amt="15000"/>
            </a:blip>
            <a:stretch>
              <a:fillRect l="-289031" t="-21275" r="-1404" b="-65973"/>
            </a:stretch>
          </a:blipFill>
          <a:ln w="285750" cap="rnd">
            <a:solidFill>
              <a:srgbClr val="FAFBFC">
                <a:alpha val="14902"/>
              </a:srgbClr>
            </a:solidFill>
            <a:prstDash val="solid"/>
            <a:round/>
          </a:ln>
        </p:spPr>
        <p:txBody>
          <a:bodyPr/>
          <a:lstStyle/>
          <a:p>
            <a:endParaRPr lang="en-IN"/>
          </a:p>
        </p:txBody>
      </p:sp>
      <p:sp>
        <p:nvSpPr>
          <p:cNvPr id="3" name="Freeform 3"/>
          <p:cNvSpPr/>
          <p:nvPr/>
        </p:nvSpPr>
        <p:spPr>
          <a:xfrm rot="9566449">
            <a:off x="-3295892" y="-3534826"/>
            <a:ext cx="17299834" cy="15612869"/>
          </a:xfrm>
          <a:custGeom>
            <a:avLst/>
            <a:gdLst/>
            <a:ahLst/>
            <a:cxnLst/>
            <a:rect l="l" t="t" r="r" b="b"/>
            <a:pathLst>
              <a:path w="18114223" h="16401605">
                <a:moveTo>
                  <a:pt x="0" y="0"/>
                </a:moveTo>
                <a:lnTo>
                  <a:pt x="18114223" y="0"/>
                </a:lnTo>
                <a:lnTo>
                  <a:pt x="18114223" y="16401606"/>
                </a:lnTo>
                <a:lnTo>
                  <a:pt x="0" y="16401606"/>
                </a:lnTo>
                <a:lnTo>
                  <a:pt x="0" y="0"/>
                </a:lnTo>
                <a:close/>
              </a:path>
            </a:pathLst>
          </a:custGeom>
          <a:blipFill>
            <a:blip>
              <a:alphaModFix amt="83000"/>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1028700" y="1372170"/>
            <a:ext cx="6951990" cy="7538426"/>
            <a:chOff x="0" y="0"/>
            <a:chExt cx="9269321" cy="10051235"/>
          </a:xfrm>
        </p:grpSpPr>
        <p:pic>
          <p:nvPicPr>
            <p:cNvPr id="5" name="Picture 5"/>
            <p:cNvPicPr>
              <a:picLocks noChangeAspect="1"/>
            </p:cNvPicPr>
            <p:nvPr/>
          </p:nvPicPr>
          <p:blipFill>
            <a:blip r:embed="rId4"/>
            <a:srcRect l="22333" r="22333"/>
            <a:stretch>
              <a:fillRect/>
            </a:stretch>
          </p:blipFill>
          <p:spPr>
            <a:xfrm>
              <a:off x="0" y="0"/>
              <a:ext cx="9269321" cy="10051235"/>
            </a:xfrm>
            <a:prstGeom prst="rect">
              <a:avLst/>
            </a:prstGeom>
          </p:spPr>
        </p:pic>
      </p:grpSp>
      <p:grpSp>
        <p:nvGrpSpPr>
          <p:cNvPr id="6" name="Group 6"/>
          <p:cNvGrpSpPr/>
          <p:nvPr/>
        </p:nvGrpSpPr>
        <p:grpSpPr>
          <a:xfrm>
            <a:off x="9144000" y="1705117"/>
            <a:ext cx="7981211" cy="6876766"/>
            <a:chOff x="0" y="0"/>
            <a:chExt cx="10641614" cy="9169021"/>
          </a:xfrm>
        </p:grpSpPr>
        <p:sp>
          <p:nvSpPr>
            <p:cNvPr id="7" name="TextBox 7"/>
            <p:cNvSpPr txBox="1"/>
            <p:nvPr/>
          </p:nvSpPr>
          <p:spPr>
            <a:xfrm>
              <a:off x="0" y="-38100"/>
              <a:ext cx="10641614" cy="1959860"/>
            </a:xfrm>
            <a:prstGeom prst="rect">
              <a:avLst/>
            </a:prstGeom>
          </p:spPr>
          <p:txBody>
            <a:bodyPr lIns="0" tIns="0" rIns="0" bIns="0" rtlCol="0" anchor="t">
              <a:spAutoFit/>
            </a:bodyPr>
            <a:lstStyle/>
            <a:p>
              <a:pPr algn="l">
                <a:lnSpc>
                  <a:spcPts val="5966"/>
                </a:lnSpc>
              </a:pPr>
              <a:r>
                <a:rPr lang="en-US" sz="4554" b="1" spc="-113">
                  <a:solidFill>
                    <a:srgbClr val="D51313"/>
                  </a:solidFill>
                  <a:latin typeface="Museo Moderno Bold"/>
                  <a:ea typeface="Museo Moderno Bold"/>
                  <a:cs typeface="Museo Moderno Bold"/>
                  <a:sym typeface="Museo Moderno Bold"/>
                </a:rPr>
                <a:t>MedTrack_DV </a:t>
              </a:r>
            </a:p>
            <a:p>
              <a:pPr marL="0" lvl="0" indent="0" algn="l">
                <a:lnSpc>
                  <a:spcPts val="5966"/>
                </a:lnSpc>
              </a:pPr>
              <a:r>
                <a:rPr lang="en-US" sz="4554" b="1" spc="-113">
                  <a:solidFill>
                    <a:srgbClr val="000000"/>
                  </a:solidFill>
                  <a:latin typeface="Museo Moderno Bold"/>
                  <a:ea typeface="Museo Moderno Bold"/>
                  <a:cs typeface="Museo Moderno Bold"/>
                  <a:sym typeface="Museo Moderno Bold"/>
                </a:rPr>
                <a:t>DASHBOARD PROCESS</a:t>
              </a:r>
            </a:p>
          </p:txBody>
        </p:sp>
        <p:sp>
          <p:nvSpPr>
            <p:cNvPr id="8" name="TextBox 8"/>
            <p:cNvSpPr txBox="1"/>
            <p:nvPr/>
          </p:nvSpPr>
          <p:spPr>
            <a:xfrm>
              <a:off x="126397" y="2864049"/>
              <a:ext cx="10515217" cy="6304972"/>
            </a:xfrm>
            <a:prstGeom prst="rect">
              <a:avLst/>
            </a:prstGeom>
          </p:spPr>
          <p:txBody>
            <a:bodyPr lIns="0" tIns="0" rIns="0" bIns="0" rtlCol="0" anchor="t">
              <a:spAutoFit/>
            </a:bodyPr>
            <a:lstStyle/>
            <a:p>
              <a:pPr marL="0" lvl="0" indent="0" algn="l">
                <a:lnSpc>
                  <a:spcPts val="3390"/>
                </a:lnSpc>
              </a:pPr>
              <a:r>
                <a:rPr lang="en-US" sz="2587" spc="-64">
                  <a:solidFill>
                    <a:srgbClr val="000000"/>
                  </a:solidFill>
                  <a:latin typeface="Solomon Sans"/>
                  <a:ea typeface="Solomon Sans"/>
                  <a:cs typeface="Solomon Sans"/>
                  <a:sym typeface="Solomon Sans"/>
                </a:rPr>
                <a:t>The MedTrack_DV Dashboard provides hospital staff and administrators with easy access to important operational information. Users can navigate through different dashboard views to monitor hospital performance, patient flow, department activity, and resource utilization. They can apply filters and analyze data based on hospitals, departments, and time periods. The dashboard presents KPIs, trends, and comparisons in a clear and interactive format. This helps users gain meaningful insights and support data-driven operational decisions.</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28700" y="0"/>
            <a:ext cx="16354712" cy="10287000"/>
          </a:xfrm>
          <a:custGeom>
            <a:avLst/>
            <a:gdLst/>
            <a:ahLst/>
            <a:cxnLst/>
            <a:rect l="l" t="t" r="r" b="b"/>
            <a:pathLst>
              <a:path w="16354712" h="12262300">
                <a:moveTo>
                  <a:pt x="0" y="0"/>
                </a:moveTo>
                <a:lnTo>
                  <a:pt x="16354712" y="0"/>
                </a:lnTo>
                <a:lnTo>
                  <a:pt x="16354712" y="12262301"/>
                </a:lnTo>
                <a:lnTo>
                  <a:pt x="0" y="12262301"/>
                </a:lnTo>
                <a:lnTo>
                  <a:pt x="0" y="0"/>
                </a:lnTo>
                <a:close/>
              </a:path>
            </a:pathLst>
          </a:custGeom>
          <a:blipFill>
            <a:blip r:embed="rId2">
              <a:alphaModFix amt="8999"/>
            </a:blip>
            <a:stretch>
              <a:fillRect l="-120418" r="-2916" b="-21829"/>
            </a:stretch>
          </a:blipFill>
          <a:ln w="285750" cap="rnd">
            <a:solidFill>
              <a:srgbClr val="FAFBFC">
                <a:alpha val="8627"/>
              </a:srgbClr>
            </a:solidFill>
            <a:prstDash val="solid"/>
            <a:round/>
          </a:ln>
        </p:spPr>
        <p:txBody>
          <a:bodyPr/>
          <a:lstStyle/>
          <a:p>
            <a:endParaRPr lang="en-IN"/>
          </a:p>
        </p:txBody>
      </p:sp>
      <p:sp>
        <p:nvSpPr>
          <p:cNvPr id="3" name="Freeform 3"/>
          <p:cNvSpPr/>
          <p:nvPr/>
        </p:nvSpPr>
        <p:spPr>
          <a:xfrm>
            <a:off x="139352" y="6179629"/>
            <a:ext cx="5523221"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4116396" y="0"/>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311615" y="2392941"/>
            <a:ext cx="4771864" cy="2959364"/>
          </a:xfrm>
          <a:custGeom>
            <a:avLst/>
            <a:gdLst/>
            <a:ahLst/>
            <a:cxnLst/>
            <a:rect l="l" t="t" r="r" b="b"/>
            <a:pathLst>
              <a:path w="4771864" h="2959364">
                <a:moveTo>
                  <a:pt x="0" y="0"/>
                </a:moveTo>
                <a:lnTo>
                  <a:pt x="4771865" y="0"/>
                </a:lnTo>
                <a:lnTo>
                  <a:pt x="4771865" y="2959363"/>
                </a:lnTo>
                <a:lnTo>
                  <a:pt x="0" y="2959363"/>
                </a:lnTo>
                <a:lnTo>
                  <a:pt x="0" y="0"/>
                </a:lnTo>
                <a:close/>
              </a:path>
            </a:pathLst>
          </a:custGeom>
          <a:blipFill>
            <a:blip r:embed="rId5"/>
            <a:stretch>
              <a:fillRect b="-13678"/>
            </a:stretch>
          </a:blipFill>
        </p:spPr>
        <p:txBody>
          <a:bodyPr/>
          <a:lstStyle/>
          <a:p>
            <a:endParaRPr lang="en-IN"/>
          </a:p>
        </p:txBody>
      </p:sp>
      <p:sp>
        <p:nvSpPr>
          <p:cNvPr id="6" name="Freeform 6"/>
          <p:cNvSpPr/>
          <p:nvPr/>
        </p:nvSpPr>
        <p:spPr>
          <a:xfrm>
            <a:off x="7082875" y="2392941"/>
            <a:ext cx="4734982" cy="2959364"/>
          </a:xfrm>
          <a:custGeom>
            <a:avLst/>
            <a:gdLst/>
            <a:ahLst/>
            <a:cxnLst/>
            <a:rect l="l" t="t" r="r" b="b"/>
            <a:pathLst>
              <a:path w="4734982" h="2959364">
                <a:moveTo>
                  <a:pt x="0" y="0"/>
                </a:moveTo>
                <a:lnTo>
                  <a:pt x="4734982" y="0"/>
                </a:lnTo>
                <a:lnTo>
                  <a:pt x="4734982" y="2959363"/>
                </a:lnTo>
                <a:lnTo>
                  <a:pt x="0" y="2959363"/>
                </a:lnTo>
                <a:lnTo>
                  <a:pt x="0" y="0"/>
                </a:lnTo>
                <a:close/>
              </a:path>
            </a:pathLst>
          </a:custGeom>
          <a:blipFill>
            <a:blip r:embed="rId6"/>
            <a:stretch>
              <a:fillRect/>
            </a:stretch>
          </a:blipFill>
        </p:spPr>
        <p:txBody>
          <a:bodyPr/>
          <a:lstStyle/>
          <a:p>
            <a:endParaRPr lang="en-IN"/>
          </a:p>
        </p:txBody>
      </p:sp>
      <p:sp>
        <p:nvSpPr>
          <p:cNvPr id="7" name="Freeform 7"/>
          <p:cNvSpPr/>
          <p:nvPr/>
        </p:nvSpPr>
        <p:spPr>
          <a:xfrm>
            <a:off x="12817253" y="2392941"/>
            <a:ext cx="4442047" cy="2959364"/>
          </a:xfrm>
          <a:custGeom>
            <a:avLst/>
            <a:gdLst/>
            <a:ahLst/>
            <a:cxnLst/>
            <a:rect l="l" t="t" r="r" b="b"/>
            <a:pathLst>
              <a:path w="4442047" h="2959364">
                <a:moveTo>
                  <a:pt x="0" y="0"/>
                </a:moveTo>
                <a:lnTo>
                  <a:pt x="4442047" y="0"/>
                </a:lnTo>
                <a:lnTo>
                  <a:pt x="4442047" y="2959363"/>
                </a:lnTo>
                <a:lnTo>
                  <a:pt x="0" y="2959363"/>
                </a:lnTo>
                <a:lnTo>
                  <a:pt x="0" y="0"/>
                </a:lnTo>
                <a:close/>
              </a:path>
            </a:pathLst>
          </a:custGeom>
          <a:blipFill>
            <a:blip r:embed="rId7"/>
            <a:stretch>
              <a:fillRect/>
            </a:stretch>
          </a:blipFill>
        </p:spPr>
        <p:txBody>
          <a:bodyPr/>
          <a:lstStyle/>
          <a:p>
            <a:endParaRPr lang="en-IN"/>
          </a:p>
        </p:txBody>
      </p:sp>
      <p:sp>
        <p:nvSpPr>
          <p:cNvPr id="8" name="TextBox 8"/>
          <p:cNvSpPr txBox="1"/>
          <p:nvPr/>
        </p:nvSpPr>
        <p:spPr>
          <a:xfrm>
            <a:off x="778854" y="548556"/>
            <a:ext cx="6164836" cy="1157138"/>
          </a:xfrm>
          <a:prstGeom prst="rect">
            <a:avLst/>
          </a:prstGeom>
        </p:spPr>
        <p:txBody>
          <a:bodyPr lIns="0" tIns="0" rIns="0" bIns="0" rtlCol="0" anchor="t">
            <a:spAutoFit/>
          </a:bodyPr>
          <a:lstStyle/>
          <a:p>
            <a:pPr marL="0" lvl="0" indent="0" algn="l">
              <a:lnSpc>
                <a:spcPts val="4524"/>
              </a:lnSpc>
            </a:pPr>
            <a:r>
              <a:rPr lang="en-US" sz="4113" b="1">
                <a:solidFill>
                  <a:srgbClr val="000000"/>
                </a:solidFill>
                <a:latin typeface="Museo Moderno Bold"/>
                <a:ea typeface="Museo Moderno Bold"/>
                <a:cs typeface="Museo Moderno Bold"/>
                <a:sym typeface="Museo Moderno Bold"/>
              </a:rPr>
              <a:t>Future Enhancement For </a:t>
            </a:r>
            <a:r>
              <a:rPr lang="en-US" sz="4113" b="1">
                <a:solidFill>
                  <a:srgbClr val="D51313"/>
                </a:solidFill>
                <a:latin typeface="Museo Moderno Bold"/>
                <a:ea typeface="Museo Moderno Bold"/>
                <a:cs typeface="Museo Moderno Bold"/>
                <a:sym typeface="Museo Moderno Bold"/>
              </a:rPr>
              <a:t>THIS DASHBOARD</a:t>
            </a:r>
          </a:p>
        </p:txBody>
      </p:sp>
      <p:sp>
        <p:nvSpPr>
          <p:cNvPr id="9" name="TextBox 9"/>
          <p:cNvSpPr txBox="1"/>
          <p:nvPr/>
        </p:nvSpPr>
        <p:spPr>
          <a:xfrm>
            <a:off x="1208430" y="5844878"/>
            <a:ext cx="4978235" cy="3187336"/>
          </a:xfrm>
          <a:prstGeom prst="rect">
            <a:avLst/>
          </a:prstGeom>
        </p:spPr>
        <p:txBody>
          <a:bodyPr lIns="0" tIns="0" rIns="0" bIns="0" rtlCol="0" anchor="t">
            <a:spAutoFit/>
          </a:bodyPr>
          <a:lstStyle/>
          <a:p>
            <a:pPr algn="ctr">
              <a:lnSpc>
                <a:spcPts val="3687"/>
              </a:lnSpc>
              <a:spcBef>
                <a:spcPct val="0"/>
              </a:spcBef>
            </a:pPr>
            <a:r>
              <a:rPr lang="en-US" sz="2633" b="1">
                <a:solidFill>
                  <a:srgbClr val="D51313"/>
                </a:solidFill>
                <a:latin typeface="Cinzel Bold"/>
                <a:ea typeface="Cinzel Bold"/>
                <a:cs typeface="Cinzel Bold"/>
                <a:sym typeface="Cinzel Bold"/>
              </a:rPr>
              <a:t>AI-Based Predictive Analytics </a:t>
            </a:r>
          </a:p>
          <a:p>
            <a:pPr algn="ctr">
              <a:lnSpc>
                <a:spcPts val="3687"/>
              </a:lnSpc>
              <a:spcBef>
                <a:spcPct val="0"/>
              </a:spcBef>
            </a:pPr>
            <a:r>
              <a:rPr lang="en-US" sz="2633">
                <a:solidFill>
                  <a:srgbClr val="000000"/>
                </a:solidFill>
                <a:latin typeface="Solomon Sans"/>
                <a:ea typeface="Solomon Sans"/>
                <a:cs typeface="Solomon Sans"/>
                <a:sym typeface="Solomon Sans"/>
              </a:rPr>
              <a:t>Integrate AI/ML models to predict future admissions, patient flow, resource demand, and possible hospital capacity requirements.</a:t>
            </a:r>
          </a:p>
        </p:txBody>
      </p:sp>
      <p:sp>
        <p:nvSpPr>
          <p:cNvPr id="10" name="TextBox 10"/>
          <p:cNvSpPr txBox="1"/>
          <p:nvPr/>
        </p:nvSpPr>
        <p:spPr>
          <a:xfrm>
            <a:off x="6943691" y="5835353"/>
            <a:ext cx="5013351" cy="3656691"/>
          </a:xfrm>
          <a:prstGeom prst="rect">
            <a:avLst/>
          </a:prstGeom>
        </p:spPr>
        <p:txBody>
          <a:bodyPr lIns="0" tIns="0" rIns="0" bIns="0" rtlCol="0" anchor="t">
            <a:spAutoFit/>
          </a:bodyPr>
          <a:lstStyle/>
          <a:p>
            <a:pPr algn="ctr">
              <a:lnSpc>
                <a:spcPts val="3988"/>
              </a:lnSpc>
              <a:spcBef>
                <a:spcPct val="0"/>
              </a:spcBef>
            </a:pPr>
            <a:r>
              <a:rPr lang="en-US" sz="2848" b="1">
                <a:solidFill>
                  <a:srgbClr val="D51313"/>
                </a:solidFill>
                <a:latin typeface="Cinzel Bold"/>
                <a:ea typeface="Cinzel Bold"/>
                <a:cs typeface="Cinzel Bold"/>
                <a:sym typeface="Cinzel Bold"/>
              </a:rPr>
              <a:t>Real-Time Data Integration </a:t>
            </a:r>
          </a:p>
          <a:p>
            <a:pPr algn="ctr">
              <a:lnSpc>
                <a:spcPts val="3533"/>
              </a:lnSpc>
              <a:spcBef>
                <a:spcPct val="0"/>
              </a:spcBef>
            </a:pPr>
            <a:r>
              <a:rPr lang="en-US" sz="2524" b="1">
                <a:solidFill>
                  <a:srgbClr val="D51313"/>
                </a:solidFill>
                <a:latin typeface="Solomon Sans Bold"/>
                <a:ea typeface="Solomon Sans Bold"/>
                <a:cs typeface="Solomon Sans Bold"/>
                <a:sym typeface="Solomon Sans Bold"/>
              </a:rPr>
              <a:t> </a:t>
            </a:r>
            <a:r>
              <a:rPr lang="en-US" sz="2524">
                <a:solidFill>
                  <a:srgbClr val="000000"/>
                </a:solidFill>
                <a:latin typeface="Solomon Sans"/>
                <a:ea typeface="Solomon Sans"/>
                <a:cs typeface="Solomon Sans"/>
                <a:sym typeface="Solomon Sans"/>
              </a:rPr>
              <a:t>Connect the dashboard with hospital systems to provide real-time updates on admissions, patient movements, bed availability, and resource utilization.</a:t>
            </a:r>
          </a:p>
        </p:txBody>
      </p:sp>
      <p:sp>
        <p:nvSpPr>
          <p:cNvPr id="11" name="TextBox 11"/>
          <p:cNvSpPr txBox="1"/>
          <p:nvPr/>
        </p:nvSpPr>
        <p:spPr>
          <a:xfrm>
            <a:off x="12549159" y="5844878"/>
            <a:ext cx="4978235" cy="3338610"/>
          </a:xfrm>
          <a:prstGeom prst="rect">
            <a:avLst/>
          </a:prstGeom>
        </p:spPr>
        <p:txBody>
          <a:bodyPr lIns="0" tIns="0" rIns="0" bIns="0" rtlCol="0" anchor="t">
            <a:spAutoFit/>
          </a:bodyPr>
          <a:lstStyle/>
          <a:p>
            <a:pPr algn="ctr">
              <a:lnSpc>
                <a:spcPts val="3547"/>
              </a:lnSpc>
              <a:spcBef>
                <a:spcPct val="0"/>
              </a:spcBef>
            </a:pPr>
            <a:r>
              <a:rPr lang="en-US" sz="2533" b="1">
                <a:solidFill>
                  <a:srgbClr val="D51313"/>
                </a:solidFill>
                <a:latin typeface="Cinzel Bold"/>
                <a:ea typeface="Cinzel Bold"/>
                <a:cs typeface="Cinzel Bold"/>
                <a:sym typeface="Cinzel Bold"/>
              </a:rPr>
              <a:t>Automated Alerts &amp; Recommendations </a:t>
            </a:r>
          </a:p>
          <a:p>
            <a:pPr algn="ctr">
              <a:lnSpc>
                <a:spcPts val="3267"/>
              </a:lnSpc>
              <a:spcBef>
                <a:spcPct val="0"/>
              </a:spcBef>
            </a:pPr>
            <a:r>
              <a:rPr lang="en-US" sz="2333">
                <a:solidFill>
                  <a:srgbClr val="000000"/>
                </a:solidFill>
                <a:latin typeface="Solomon Sans"/>
                <a:ea typeface="Solomon Sans"/>
                <a:cs typeface="Solomon Sans"/>
                <a:sym typeface="Solomon Sans"/>
              </a:rPr>
              <a:t> Introduce alerts for high occupancy, resource shortages, unusual patient-flow patterns, or maintenance requirements, along with data-based recommendations for hospital staff.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50000">
              <a:srgbClr val="92B5D4">
                <a:alpha val="67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rot="566482">
            <a:off x="10061490" y="4176925"/>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5686"/>
                  </a:srgbClr>
                </a:solidFill>
                <a:latin typeface="Museo Moderno"/>
                <a:ea typeface="Museo Moderno"/>
                <a:cs typeface="Museo Moderno"/>
                <a:sym typeface="Museo Moderno"/>
              </a:rPr>
              <a:t>Questions</a:t>
            </a:r>
          </a:p>
        </p:txBody>
      </p:sp>
      <p:sp>
        <p:nvSpPr>
          <p:cNvPr id="3" name="TextBox 3"/>
          <p:cNvSpPr txBox="1"/>
          <p:nvPr/>
        </p:nvSpPr>
        <p:spPr>
          <a:xfrm rot="899408">
            <a:off x="13996342" y="1148535"/>
            <a:ext cx="2364639" cy="485775"/>
          </a:xfrm>
          <a:prstGeom prst="rect">
            <a:avLst/>
          </a:prstGeom>
        </p:spPr>
        <p:txBody>
          <a:bodyPr lIns="0" tIns="0" rIns="0" bIns="0" rtlCol="0" anchor="t">
            <a:spAutoFit/>
          </a:bodyPr>
          <a:lstStyle/>
          <a:p>
            <a:pPr marL="0" lvl="0" indent="0" algn="l">
              <a:lnSpc>
                <a:spcPts val="3840"/>
              </a:lnSpc>
              <a:spcBef>
                <a:spcPct val="0"/>
              </a:spcBef>
            </a:pPr>
            <a:r>
              <a:rPr lang="en-US" sz="3200">
                <a:solidFill>
                  <a:srgbClr val="000000">
                    <a:alpha val="15686"/>
                  </a:srgbClr>
                </a:solidFill>
                <a:latin typeface="Museo Moderno"/>
                <a:ea typeface="Museo Moderno"/>
                <a:cs typeface="Museo Moderno"/>
                <a:sym typeface="Museo Moderno"/>
              </a:rPr>
              <a:t>Questions</a:t>
            </a:r>
          </a:p>
        </p:txBody>
      </p:sp>
      <p:sp>
        <p:nvSpPr>
          <p:cNvPr id="4" name="TextBox 4"/>
          <p:cNvSpPr txBox="1"/>
          <p:nvPr/>
        </p:nvSpPr>
        <p:spPr>
          <a:xfrm rot="-1308103">
            <a:off x="10061490" y="7294032"/>
            <a:ext cx="2277133"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 </a:t>
            </a:r>
          </a:p>
        </p:txBody>
      </p:sp>
      <p:sp>
        <p:nvSpPr>
          <p:cNvPr id="5" name="TextBox 5"/>
          <p:cNvSpPr txBox="1"/>
          <p:nvPr/>
        </p:nvSpPr>
        <p:spPr>
          <a:xfrm rot="566482">
            <a:off x="15004586" y="6093341"/>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8627"/>
                  </a:srgbClr>
                </a:solidFill>
                <a:latin typeface="Museo Moderno"/>
                <a:ea typeface="Museo Moderno"/>
                <a:cs typeface="Museo Moderno"/>
                <a:sym typeface="Museo Moderno"/>
              </a:rPr>
              <a:t>Questions</a:t>
            </a:r>
          </a:p>
        </p:txBody>
      </p:sp>
      <p:sp>
        <p:nvSpPr>
          <p:cNvPr id="6" name="TextBox 6"/>
          <p:cNvSpPr txBox="1"/>
          <p:nvPr/>
        </p:nvSpPr>
        <p:spPr>
          <a:xfrm rot="566482">
            <a:off x="14165836" y="3230615"/>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8627"/>
                  </a:srgbClr>
                </a:solidFill>
                <a:latin typeface="Museo Moderno"/>
                <a:ea typeface="Museo Moderno"/>
                <a:cs typeface="Museo Moderno"/>
                <a:sym typeface="Museo Moderno"/>
              </a:rPr>
              <a:t>Questions</a:t>
            </a:r>
          </a:p>
        </p:txBody>
      </p:sp>
      <p:sp>
        <p:nvSpPr>
          <p:cNvPr id="7" name="TextBox 7"/>
          <p:cNvSpPr txBox="1"/>
          <p:nvPr/>
        </p:nvSpPr>
        <p:spPr>
          <a:xfrm rot="566482">
            <a:off x="13556236" y="8576863"/>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5882"/>
                  </a:srgbClr>
                </a:solidFill>
                <a:latin typeface="Museo Moderno"/>
                <a:ea typeface="Museo Moderno"/>
                <a:cs typeface="Museo Moderno"/>
                <a:sym typeface="Museo Moderno"/>
              </a:rPr>
              <a:t>Questions</a:t>
            </a:r>
          </a:p>
        </p:txBody>
      </p:sp>
      <p:sp>
        <p:nvSpPr>
          <p:cNvPr id="8" name="Freeform 8"/>
          <p:cNvSpPr/>
          <p:nvPr/>
        </p:nvSpPr>
        <p:spPr>
          <a:xfrm>
            <a:off x="10052719" y="1616561"/>
            <a:ext cx="6660931" cy="7526476"/>
          </a:xfrm>
          <a:custGeom>
            <a:avLst/>
            <a:gdLst/>
            <a:ahLst/>
            <a:cxnLst/>
            <a:rect l="l" t="t" r="r" b="b"/>
            <a:pathLst>
              <a:path w="6660931" h="7526476">
                <a:moveTo>
                  <a:pt x="0" y="0"/>
                </a:moveTo>
                <a:lnTo>
                  <a:pt x="6660931" y="0"/>
                </a:lnTo>
                <a:lnTo>
                  <a:pt x="6660931" y="7526476"/>
                </a:lnTo>
                <a:lnTo>
                  <a:pt x="0" y="7526476"/>
                </a:lnTo>
                <a:lnTo>
                  <a:pt x="0" y="0"/>
                </a:lnTo>
                <a:close/>
              </a:path>
            </a:pathLst>
          </a:custGeom>
          <a:blipFill>
            <a:blip>
              <a:alphaModFix amt="75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9" name="TextBox 9"/>
          <p:cNvSpPr txBox="1"/>
          <p:nvPr/>
        </p:nvSpPr>
        <p:spPr>
          <a:xfrm>
            <a:off x="2442872" y="2989882"/>
            <a:ext cx="5812466" cy="4292051"/>
          </a:xfrm>
          <a:prstGeom prst="rect">
            <a:avLst/>
          </a:prstGeom>
        </p:spPr>
        <p:txBody>
          <a:bodyPr lIns="0" tIns="0" rIns="0" bIns="0" rtlCol="0" anchor="t">
            <a:spAutoFit/>
          </a:bodyPr>
          <a:lstStyle/>
          <a:p>
            <a:pPr algn="l">
              <a:lnSpc>
                <a:spcPts val="12290"/>
              </a:lnSpc>
            </a:pPr>
            <a:r>
              <a:rPr lang="en-US" sz="11172" b="1">
                <a:solidFill>
                  <a:srgbClr val="000000"/>
                </a:solidFill>
                <a:latin typeface="Cinzel Bold"/>
                <a:ea typeface="Cinzel Bold"/>
                <a:cs typeface="Cinzel Bold"/>
                <a:sym typeface="Cinzel Bold"/>
              </a:rPr>
              <a:t>Q  </a:t>
            </a:r>
          </a:p>
          <a:p>
            <a:pPr algn="l">
              <a:lnSpc>
                <a:spcPts val="12290"/>
              </a:lnSpc>
            </a:pPr>
            <a:r>
              <a:rPr lang="en-US" sz="11172" b="1">
                <a:solidFill>
                  <a:srgbClr val="000000"/>
                </a:solidFill>
                <a:latin typeface="Cinzel Bold"/>
                <a:ea typeface="Cinzel Bold"/>
                <a:cs typeface="Cinzel Bold"/>
                <a:sym typeface="Cinzel Bold"/>
              </a:rPr>
              <a:t>     &amp;  </a:t>
            </a:r>
          </a:p>
          <a:p>
            <a:pPr marL="0" lvl="0" indent="0" algn="l">
              <a:lnSpc>
                <a:spcPts val="6033"/>
              </a:lnSpc>
            </a:pPr>
            <a:r>
              <a:rPr lang="en-US" sz="11172" b="1">
                <a:solidFill>
                  <a:srgbClr val="000000"/>
                </a:solidFill>
                <a:latin typeface="Cinzel Bold"/>
                <a:ea typeface="Cinzel Bold"/>
                <a:cs typeface="Cinzel Bold"/>
                <a:sym typeface="Cinzel Bold"/>
              </a:rPr>
              <a:t>        A</a:t>
            </a:r>
          </a:p>
        </p:txBody>
      </p:sp>
      <p:sp>
        <p:nvSpPr>
          <p:cNvPr id="10" name="TextBox 10"/>
          <p:cNvSpPr txBox="1"/>
          <p:nvPr/>
        </p:nvSpPr>
        <p:spPr>
          <a:xfrm rot="-1308103">
            <a:off x="2155121" y="8801939"/>
            <a:ext cx="2277133"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6667"/>
                  </a:srgbClr>
                </a:solidFill>
                <a:latin typeface="Museo Moderno"/>
                <a:ea typeface="Museo Moderno"/>
                <a:cs typeface="Museo Moderno"/>
                <a:sym typeface="Museo Moderno"/>
              </a:rPr>
              <a:t>Questions </a:t>
            </a:r>
          </a:p>
        </p:txBody>
      </p:sp>
      <p:sp>
        <p:nvSpPr>
          <p:cNvPr id="11" name="TextBox 11"/>
          <p:cNvSpPr txBox="1"/>
          <p:nvPr/>
        </p:nvSpPr>
        <p:spPr>
          <a:xfrm rot="566482">
            <a:off x="7042497" y="62071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a:t>
            </a:r>
          </a:p>
        </p:txBody>
      </p:sp>
      <p:sp>
        <p:nvSpPr>
          <p:cNvPr id="12" name="TextBox 12"/>
          <p:cNvSpPr txBox="1"/>
          <p:nvPr/>
        </p:nvSpPr>
        <p:spPr>
          <a:xfrm rot="566482">
            <a:off x="8937848" y="935124"/>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1765"/>
                  </a:srgbClr>
                </a:solidFill>
                <a:latin typeface="Museo Moderno"/>
                <a:ea typeface="Museo Moderno"/>
                <a:cs typeface="Museo Moderno"/>
                <a:sym typeface="Museo Moderno"/>
              </a:rPr>
              <a:t>Questions</a:t>
            </a:r>
          </a:p>
        </p:txBody>
      </p:sp>
      <p:sp>
        <p:nvSpPr>
          <p:cNvPr id="13" name="TextBox 13"/>
          <p:cNvSpPr txBox="1"/>
          <p:nvPr/>
        </p:nvSpPr>
        <p:spPr>
          <a:xfrm rot="566482">
            <a:off x="1122983" y="1050387"/>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a:t>
            </a:r>
          </a:p>
        </p:txBody>
      </p:sp>
      <p:sp>
        <p:nvSpPr>
          <p:cNvPr id="14" name="TextBox 14"/>
          <p:cNvSpPr txBox="1"/>
          <p:nvPr/>
        </p:nvSpPr>
        <p:spPr>
          <a:xfrm rot="566482">
            <a:off x="7273038" y="30225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4902"/>
                  </a:srgbClr>
                </a:solidFill>
                <a:latin typeface="Museo Moderno"/>
                <a:ea typeface="Museo Moderno"/>
                <a:cs typeface="Museo Moderno"/>
                <a:sym typeface="Museo Moderno"/>
              </a:rPr>
              <a:t>Questions</a:t>
            </a:r>
          </a:p>
        </p:txBody>
      </p:sp>
      <p:sp>
        <p:nvSpPr>
          <p:cNvPr id="15" name="TextBox 15"/>
          <p:cNvSpPr txBox="1"/>
          <p:nvPr/>
        </p:nvSpPr>
        <p:spPr>
          <a:xfrm rot="566482">
            <a:off x="6694904" y="9015413"/>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1765"/>
                  </a:srgbClr>
                </a:solidFill>
                <a:latin typeface="Museo Moderno"/>
                <a:ea typeface="Museo Moderno"/>
                <a:cs typeface="Museo Moderno"/>
                <a:sym typeface="Museo Moderno"/>
              </a:rPr>
              <a:t>Questions</a:t>
            </a:r>
          </a:p>
        </p:txBody>
      </p:sp>
      <p:sp>
        <p:nvSpPr>
          <p:cNvPr id="16" name="TextBox 16"/>
          <p:cNvSpPr txBox="1"/>
          <p:nvPr/>
        </p:nvSpPr>
        <p:spPr>
          <a:xfrm rot="566482">
            <a:off x="19733" y="54620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2941"/>
                  </a:srgbClr>
                </a:solidFill>
                <a:latin typeface="Museo Moderno"/>
                <a:ea typeface="Museo Moderno"/>
                <a:cs typeface="Museo Moderno"/>
                <a:sym typeface="Museo Moderno"/>
              </a:rPr>
              <a:t>Questions</a:t>
            </a:r>
          </a:p>
        </p:txBody>
      </p:sp>
      <p:sp>
        <p:nvSpPr>
          <p:cNvPr id="17" name="Freeform 17"/>
          <p:cNvSpPr/>
          <p:nvPr/>
        </p:nvSpPr>
        <p:spPr>
          <a:xfrm>
            <a:off x="841321" y="934125"/>
            <a:ext cx="7811118" cy="7848474"/>
          </a:xfrm>
          <a:custGeom>
            <a:avLst/>
            <a:gdLst/>
            <a:ahLst/>
            <a:cxnLst/>
            <a:rect l="l" t="t" r="r" b="b"/>
            <a:pathLst>
              <a:path w="7811118" h="7848474">
                <a:moveTo>
                  <a:pt x="0" y="0"/>
                </a:moveTo>
                <a:lnTo>
                  <a:pt x="7811117" y="0"/>
                </a:lnTo>
                <a:lnTo>
                  <a:pt x="7811117" y="7848474"/>
                </a:lnTo>
                <a:lnTo>
                  <a:pt x="0" y="7848474"/>
                </a:lnTo>
                <a:lnTo>
                  <a:pt x="0" y="0"/>
                </a:lnTo>
                <a:close/>
              </a:path>
            </a:pathLst>
          </a:custGeom>
          <a:blipFill>
            <a:blip r:embed="rId3">
              <a:alphaModFix amt="8999"/>
            </a:blip>
            <a:stretch>
              <a:fillRect l="-236727" t="-13936" r="-105112" b="-65915"/>
            </a:stretch>
          </a:blipFill>
          <a:ln w="285750" cap="rnd">
            <a:solidFill>
              <a:srgbClr val="FAFBFC">
                <a:alpha val="8627"/>
              </a:srgbClr>
            </a:solidFill>
            <a:prstDash val="solid"/>
            <a:round/>
          </a:ln>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43415" y="1418640"/>
            <a:ext cx="6954012" cy="8229600"/>
          </a:xfrm>
          <a:custGeom>
            <a:avLst/>
            <a:gdLst/>
            <a:ahLst/>
            <a:cxnLst/>
            <a:rect l="l" t="t" r="r" b="b"/>
            <a:pathLst>
              <a:path w="6954012" h="8229600">
                <a:moveTo>
                  <a:pt x="0" y="0"/>
                </a:moveTo>
                <a:lnTo>
                  <a:pt x="6954012" y="0"/>
                </a:lnTo>
                <a:lnTo>
                  <a:pt x="6954012" y="8229600"/>
                </a:lnTo>
                <a:lnTo>
                  <a:pt x="0" y="82296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9753804" y="1418640"/>
            <a:ext cx="8203485" cy="5867718"/>
          </a:xfrm>
          <a:prstGeom prst="rect">
            <a:avLst/>
          </a:prstGeom>
        </p:spPr>
        <p:txBody>
          <a:bodyPr lIns="0" tIns="0" rIns="0" bIns="0" rtlCol="0" anchor="t">
            <a:spAutoFit/>
          </a:bodyPr>
          <a:lstStyle/>
          <a:p>
            <a:pPr algn="l">
              <a:lnSpc>
                <a:spcPts val="9240"/>
              </a:lnSpc>
            </a:pPr>
            <a:r>
              <a:rPr lang="en-US" sz="7700" b="1">
                <a:solidFill>
                  <a:srgbClr val="000000"/>
                </a:solidFill>
                <a:latin typeface="Museo Moderno Bold"/>
                <a:ea typeface="Museo Moderno Bold"/>
                <a:cs typeface="Museo Moderno Bold"/>
                <a:sym typeface="Museo Moderno Bold"/>
              </a:rPr>
              <a:t>Thank You For Your Valuable Time, Patience, And Attention.</a:t>
            </a:r>
          </a:p>
          <a:p>
            <a:pPr algn="l">
              <a:lnSpc>
                <a:spcPts val="9240"/>
              </a:lnSpc>
            </a:pPr>
            <a:endParaRPr lang="en-US" sz="7700" b="1">
              <a:solidFill>
                <a:srgbClr val="000000"/>
              </a:solidFill>
              <a:latin typeface="Museo Moderno Bold"/>
              <a:ea typeface="Museo Moderno Bold"/>
              <a:cs typeface="Museo Moderno Bold"/>
              <a:sym typeface="Museo Moderno Bold"/>
            </a:endParaRPr>
          </a:p>
        </p:txBody>
      </p:sp>
      <p:sp>
        <p:nvSpPr>
          <p:cNvPr id="4" name="Freeform 4"/>
          <p:cNvSpPr/>
          <p:nvPr/>
        </p:nvSpPr>
        <p:spPr>
          <a:xfrm>
            <a:off x="8440597" y="862141"/>
            <a:ext cx="9151014" cy="6182880"/>
          </a:xfrm>
          <a:custGeom>
            <a:avLst/>
            <a:gdLst/>
            <a:ahLst/>
            <a:cxnLst/>
            <a:rect l="l" t="t" r="r" b="b"/>
            <a:pathLst>
              <a:path w="9151014" h="6182880">
                <a:moveTo>
                  <a:pt x="0" y="0"/>
                </a:moveTo>
                <a:lnTo>
                  <a:pt x="9151014" y="0"/>
                </a:lnTo>
                <a:lnTo>
                  <a:pt x="9151014" y="6182879"/>
                </a:lnTo>
                <a:lnTo>
                  <a:pt x="0" y="6182879"/>
                </a:lnTo>
                <a:lnTo>
                  <a:pt x="0" y="0"/>
                </a:lnTo>
                <a:close/>
              </a:path>
            </a:pathLst>
          </a:custGeom>
          <a:blipFill>
            <a:blip r:embed="rId3">
              <a:alphaModFix amt="8999"/>
            </a:blip>
            <a:stretch>
              <a:fillRect l="-285925" t="-19267" b="-114350"/>
            </a:stretch>
          </a:blipFill>
          <a:ln w="285750" cap="rnd">
            <a:solidFill>
              <a:srgbClr val="FAFBFC">
                <a:alpha val="8627"/>
              </a:srgbClr>
            </a:solidFill>
            <a:prstDash val="solid"/>
            <a:round/>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50000">
              <a:srgbClr val="92B5D4">
                <a:alpha val="67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1345</Words>
  <Application>Microsoft Office PowerPoint</Application>
  <PresentationFormat>Custom</PresentationFormat>
  <Paragraphs>140</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Museo Moderno</vt:lpstr>
      <vt:lpstr>Solomon Sans</vt:lpstr>
      <vt:lpstr>Calibri</vt:lpstr>
      <vt:lpstr>Cinzel Bold</vt:lpstr>
      <vt:lpstr>Solomon Sans Bold</vt:lpstr>
      <vt:lpstr>Museo Moderno Bold</vt:lpstr>
      <vt:lpstr>Arial</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Medical Trivia Slides</dc:title>
  <cp:lastModifiedBy>Nandhu Ch</cp:lastModifiedBy>
  <cp:revision>2</cp:revision>
  <dcterms:created xsi:type="dcterms:W3CDTF">2006-08-16T00:00:00Z</dcterms:created>
  <dcterms:modified xsi:type="dcterms:W3CDTF">2026-10-01T18:32:57Z</dcterms:modified>
  <dc:identifier>DAHWmOiwRd8</dc:identifier>
</cp:coreProperties>
</file>