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0"/>
            <a:ext cx="3139135" cy="6858000"/>
          </a:xfrm>
          <a:prstGeom prst="rect">
            <a:avLst/>
          </a:prstGeom>
          <a:solidFill>
            <a:srgbClr val="346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3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698480" y="0"/>
            <a:ext cx="1493215" cy="6858000"/>
          </a:xfrm>
          <a:prstGeom prst="rect">
            <a:avLst/>
          </a:prstGeom>
          <a:solidFill>
            <a:srgbClr val="6D5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768096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E7EEF4"/>
                </a:solidFill>
                <a:latin typeface="Aptos"/>
              </a:rPr>
              <a:t>FINAL INTERNSHIP PRESENTATION  |  DATA VISUALIZATION</a:t>
            </a:r>
            <a:endParaRPr sz="1100" b="1">
              <a:solidFill>
                <a:srgbClr val="E7EEF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7772400" cy="12344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ptos"/>
              </a:rPr>
              <a:t>HOSPITAL PERFORMANCE
INTELLIGENCE SYSTEM</a:t>
            </a:r>
            <a:endParaRPr sz="2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7132320" cy="640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900" b="0">
                <a:solidFill>
                  <a:srgbClr val="E7EEF4"/>
                </a:solidFill>
                <a:latin typeface="Aptos"/>
              </a:rPr>
              <a:t>Hospital Operations &amp; Patient Care Analytics</a:t>
            </a:r>
            <a:endParaRPr sz="1900" b="0">
              <a:solidFill>
                <a:srgbClr val="E7EEF4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6858000" cy="640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MedTrack_DV
Prepared by: Smitha S</a:t>
            </a:r>
            <a:endParaRPr sz="14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6172200"/>
            <a:ext cx="7040880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E7EEF4"/>
                </a:solidFill>
                <a:latin typeface="Aptos"/>
              </a:rPr>
              <a:t>Python  •  Excel  •  Tableau Public</a:t>
            </a:r>
            <a:endParaRPr sz="1000" b="0">
              <a:solidFill>
                <a:srgbClr val="E7EEF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183049"/>
                </a:solidFill>
                <a:latin typeface="Aptos"/>
              </a:rPr>
              <a:t>Project Overview</a:t>
            </a:r>
            <a:endParaRPr sz="2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822960" cy="45720"/>
          </a:xfrm>
          <a:prstGeom prst="rect">
            <a:avLst/>
          </a:prstGeom>
          <a:solidFill>
            <a:srgbClr val="3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338328"/>
            <a:ext cx="2286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E6C79"/>
                </a:solidFill>
                <a:latin typeface="Aptos"/>
              </a:rPr>
              <a:t>INTRODUCTION</a:t>
            </a:r>
            <a:endParaRPr sz="900" b="1">
              <a:solidFill>
                <a:srgbClr val="5E6C7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5E6C79"/>
                </a:solidFill>
                <a:latin typeface="Aptos"/>
              </a:rPr>
              <a:t>MEDTRACK_DV  |  HOSPITAL OPERATIONS &amp; PATIENT CARE ANALYTICS</a:t>
            </a:r>
            <a:endParaRPr sz="80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1148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E6C79"/>
                </a:solidFill>
                <a:latin typeface="Aptos"/>
              </a:rPr>
              <a:t>2</a:t>
            </a:r>
            <a:endParaRPr sz="90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170432"/>
            <a:ext cx="10698480" cy="43891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183049"/>
                </a:solidFill>
                <a:latin typeface="Aptos"/>
              </a:rPr>
              <a:t>A connected view of hospital operations</a:t>
            </a:r>
            <a:endParaRPr sz="22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10698480" cy="84124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2A3643"/>
                </a:solidFill>
                <a:latin typeface="Aptos"/>
              </a:rPr>
              <a:t>MedTrack_DV turns prepared hospital datasets into an interactive dashboard suite for exploring admissions, patient flow, department activity and resource utilization.</a:t>
            </a:r>
            <a:endParaRPr sz="1600" b="0">
              <a:solidFill>
                <a:srgbClr val="2A3643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2971800"/>
            <a:ext cx="347472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971800"/>
            <a:ext cx="64008" cy="1691640"/>
          </a:xfrm>
          <a:prstGeom prst="rect">
            <a:avLst/>
          </a:prstGeom>
          <a:solidFill>
            <a:srgbClr val="3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136392"/>
            <a:ext cx="3090672" cy="32918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83049"/>
                </a:solidFill>
                <a:latin typeface="Aptos"/>
              </a:rPr>
              <a:t>Purpose</a:t>
            </a:r>
            <a:endParaRPr sz="1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6968" y="3575304"/>
            <a:ext cx="3090672" cy="9418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2A3643"/>
                </a:solidFill>
                <a:latin typeface="Aptos"/>
              </a:rPr>
              <a:t>Bring key operational indicators and trends into one interface.</a:t>
            </a:r>
            <a:endParaRPr sz="1300" b="0">
              <a:solidFill>
                <a:srgbClr val="2A3643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61688" y="2971800"/>
            <a:ext cx="347472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971800"/>
            <a:ext cx="64008" cy="1691640"/>
          </a:xfrm>
          <a:prstGeom prst="rect">
            <a:avLst/>
          </a:prstGeom>
          <a:solidFill>
            <a:srgbClr val="346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3136392"/>
            <a:ext cx="3090672" cy="32918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83049"/>
                </a:solidFill>
                <a:latin typeface="Aptos"/>
              </a:rPr>
              <a:t>Approach</a:t>
            </a:r>
            <a:endParaRPr sz="1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62855" y="3575304"/>
            <a:ext cx="3090672" cy="9418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2A3643"/>
                </a:solidFill>
                <a:latin typeface="Aptos"/>
              </a:rPr>
              <a:t>Prepare data, generate KPI summaries and visualize results.</a:t>
            </a:r>
            <a:endParaRPr sz="1300" b="0">
              <a:solidFill>
                <a:srgbClr val="2A3643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37575" y="2971800"/>
            <a:ext cx="347472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7575" y="2971800"/>
            <a:ext cx="64008" cy="1691640"/>
          </a:xfrm>
          <a:prstGeom prst="rect">
            <a:avLst/>
          </a:prstGeom>
          <a:solidFill>
            <a:srgbClr val="6D5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3136392"/>
            <a:ext cx="3090672" cy="32918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83049"/>
                </a:solidFill>
                <a:latin typeface="Aptos"/>
              </a:rPr>
              <a:t>Deliverable</a:t>
            </a:r>
            <a:endParaRPr sz="1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38744" y="3575304"/>
            <a:ext cx="3090672" cy="9418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2A3643"/>
                </a:solidFill>
                <a:latin typeface="Aptos"/>
              </a:rPr>
              <a:t>A published Tableau Public workbook with a Home page and four dashboards.</a:t>
            </a:r>
            <a:endParaRPr sz="1300" b="0">
              <a:solidFill>
                <a:srgbClr val="2A3643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4400" y="5166360"/>
            <a:ext cx="10332720" cy="594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E6C79"/>
                </a:solidFill>
                <a:latin typeface="Aptos"/>
              </a:rPr>
              <a:t>The presentation follows the internship milestones and highlights the implemented dashboard suite.</a:t>
            </a:r>
            <a:endParaRPr sz="1300" b="0">
              <a:solidFill>
                <a:srgbClr val="5E6C7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183049"/>
                </a:solidFill>
                <a:latin typeface="Aptos"/>
              </a:rPr>
              <a:t>Problem Statement &amp; Objectives</a:t>
            </a:r>
            <a:endParaRPr sz="2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822960" cy="45720"/>
          </a:xfrm>
          <a:prstGeom prst="rect">
            <a:avLst/>
          </a:prstGeom>
          <a:solidFill>
            <a:srgbClr val="3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338328"/>
            <a:ext cx="2286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E6C79"/>
                </a:solidFill>
                <a:latin typeface="Aptos"/>
              </a:rPr>
              <a:t>INTRODUCTION</a:t>
            </a:r>
            <a:endParaRPr sz="900" b="1">
              <a:solidFill>
                <a:srgbClr val="5E6C7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5E6C79"/>
                </a:solidFill>
                <a:latin typeface="Aptos"/>
              </a:rPr>
              <a:t>MEDTRACK_DV  |  HOSPITAL OPERATIONS &amp; PATIENT CARE ANALYTICS</a:t>
            </a:r>
            <a:endParaRPr sz="80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1148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E6C79"/>
                </a:solidFill>
                <a:latin typeface="Aptos"/>
              </a:rPr>
              <a:t>3</a:t>
            </a:r>
            <a:endParaRPr sz="90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525780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298448"/>
            <a:ext cx="64008" cy="4434840"/>
          </a:xfrm>
          <a:prstGeom prst="rect">
            <a:avLst/>
          </a:prstGeom>
          <a:solidFill>
            <a:srgbClr val="3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463039"/>
            <a:ext cx="4873752" cy="32918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83049"/>
                </a:solidFill>
                <a:latin typeface="Aptos"/>
              </a:rPr>
              <a:t>Problem statement</a:t>
            </a:r>
            <a:endParaRPr sz="1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6968" y="1901952"/>
            <a:ext cx="4873752" cy="368503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2A3643"/>
                </a:solidFill>
                <a:latin typeface="Aptos"/>
              </a:rPr>
              <a:t>Hospital information is spread across multiple datasets. A unified view helps users review activity, compare departments and inspect resource use.</a:t>
            </a:r>
            <a:endParaRPr sz="1500" b="0">
              <a:solidFill>
                <a:srgbClr val="2A3643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1298448"/>
            <a:ext cx="525780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98448"/>
            <a:ext cx="64008" cy="4434840"/>
          </a:xfrm>
          <a:prstGeom prst="rect">
            <a:avLst/>
          </a:prstGeom>
          <a:solidFill>
            <a:srgbClr val="346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463039"/>
            <a:ext cx="4873752" cy="32918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83049"/>
                </a:solidFill>
                <a:latin typeface="Aptos"/>
              </a:rPr>
              <a:t>Objectives</a:t>
            </a:r>
            <a:endParaRPr sz="1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1901952"/>
            <a:ext cx="4873752" cy="368503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A3643"/>
                </a:solidFill>
                <a:latin typeface="Aptos"/>
              </a:rPr>
              <a:t>• Organize hospital data for analysis
• Summarize operational KPIs
• Explore admissions and discharges
• Compare department admissions and billing
• Present resource utilization
• Connect dashboard views through navigation</a:t>
            </a:r>
            <a:endParaRPr sz="1400" b="0">
              <a:solidFill>
                <a:srgbClr val="2A364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183049"/>
                </a:solidFill>
                <a:latin typeface="Aptos"/>
              </a:rPr>
              <a:t>Tools &amp; End-to-End Methodology</a:t>
            </a:r>
            <a:endParaRPr sz="2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822960" cy="45720"/>
          </a:xfrm>
          <a:prstGeom prst="rect">
            <a:avLst/>
          </a:prstGeom>
          <a:solidFill>
            <a:srgbClr val="3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338328"/>
            <a:ext cx="2286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E6C79"/>
                </a:solidFill>
                <a:latin typeface="Aptos"/>
              </a:rPr>
              <a:t>METHODOLOGY</a:t>
            </a:r>
            <a:endParaRPr sz="900" b="1">
              <a:solidFill>
                <a:srgbClr val="5E6C7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5E6C79"/>
                </a:solidFill>
                <a:latin typeface="Aptos"/>
              </a:rPr>
              <a:t>MEDTRACK_DV  |  HOSPITAL OPERATIONS &amp; PATIENT CARE ANALYTICS</a:t>
            </a:r>
            <a:endParaRPr sz="80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1148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E6C79"/>
                </a:solidFill>
                <a:latin typeface="Aptos"/>
              </a:rPr>
              <a:t>4</a:t>
            </a:r>
            <a:endParaRPr sz="90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14984" y="1600200"/>
            <a:ext cx="694944" cy="694944"/>
          </a:xfrm>
          <a:prstGeom prst="ellipse">
            <a:avLst/>
          </a:prstGeom>
          <a:solidFill>
            <a:srgbClr val="3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1810512"/>
            <a:ext cx="694944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487168"/>
            <a:ext cx="173736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83049"/>
                </a:solidFill>
                <a:latin typeface="Aptos"/>
              </a:rPr>
              <a:t>Collect</a:t>
            </a:r>
            <a:endParaRPr sz="1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9768" y="2926080"/>
            <a:ext cx="1965960" cy="7498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E6C79"/>
                </a:solidFill>
                <a:latin typeface="Aptos"/>
              </a:rPr>
              <a:t>Hospital CSV datasets</a:t>
            </a:r>
            <a:endParaRPr sz="115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801368" y="1920240"/>
            <a:ext cx="713232" cy="32004"/>
          </a:xfrm>
          <a:prstGeom prst="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46703" y="1600200"/>
            <a:ext cx="694944" cy="694944"/>
          </a:xfrm>
          <a:prstGeom prst="ellipse">
            <a:avLst/>
          </a:prstGeom>
          <a:solidFill>
            <a:srgbClr val="346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46703" y="1810512"/>
            <a:ext cx="694944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34639" y="2487168"/>
            <a:ext cx="173736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83049"/>
                </a:solidFill>
                <a:latin typeface="Aptos"/>
              </a:rPr>
              <a:t>Clean</a:t>
            </a:r>
            <a:endParaRPr sz="1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61487" y="2926080"/>
            <a:ext cx="1965960" cy="7498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E6C79"/>
                </a:solidFill>
                <a:latin typeface="Aptos"/>
              </a:rPr>
              <a:t>Inspect and prepare records</a:t>
            </a:r>
            <a:endParaRPr sz="115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133087" y="1920240"/>
            <a:ext cx="713232" cy="32004"/>
          </a:xfrm>
          <a:prstGeom prst="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78423" y="1600200"/>
            <a:ext cx="694944" cy="694944"/>
          </a:xfrm>
          <a:prstGeom prst="ellipse">
            <a:avLst/>
          </a:prstGeom>
          <a:solidFill>
            <a:srgbClr val="6D5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78423" y="1810512"/>
            <a:ext cx="694944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66359" y="2487168"/>
            <a:ext cx="173736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83049"/>
                </a:solidFill>
                <a:latin typeface="Aptos"/>
              </a:rPr>
              <a:t>Analyze</a:t>
            </a:r>
            <a:endParaRPr sz="1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93207" y="2926080"/>
            <a:ext cx="1965960" cy="7498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E6C79"/>
                </a:solidFill>
                <a:latin typeface="Aptos"/>
              </a:rPr>
              <a:t>Create datasets and KPI summaries</a:t>
            </a:r>
            <a:endParaRPr sz="115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464807" y="1920240"/>
            <a:ext cx="713232" cy="32004"/>
          </a:xfrm>
          <a:prstGeom prst="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10144" y="1600200"/>
            <a:ext cx="694944" cy="694944"/>
          </a:xfrm>
          <a:prstGeom prst="ellipse">
            <a:avLst/>
          </a:prstGeom>
          <a:solidFill>
            <a:srgbClr val="C59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4" y="1810512"/>
            <a:ext cx="694944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98079" y="2487168"/>
            <a:ext cx="173736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83049"/>
                </a:solidFill>
                <a:latin typeface="Aptos"/>
              </a:rPr>
              <a:t>Visualize</a:t>
            </a:r>
            <a:endParaRPr sz="1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24927" y="2926080"/>
            <a:ext cx="1965960" cy="7498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E6C79"/>
                </a:solidFill>
                <a:latin typeface="Aptos"/>
              </a:rPr>
              <a:t>Build Tableau dashboards</a:t>
            </a:r>
            <a:endParaRPr sz="115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796528" y="1920240"/>
            <a:ext cx="713232" cy="32004"/>
          </a:xfrm>
          <a:prstGeom prst="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41864" y="1600200"/>
            <a:ext cx="694944" cy="694944"/>
          </a:xfrm>
          <a:prstGeom prst="ellipse">
            <a:avLst/>
          </a:prstGeom>
          <a:solidFill>
            <a:srgbClr val="3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41864" y="1810512"/>
            <a:ext cx="694944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829800" y="2487168"/>
            <a:ext cx="173736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83049"/>
                </a:solidFill>
                <a:latin typeface="Aptos"/>
              </a:rPr>
              <a:t>Review</a:t>
            </a:r>
            <a:endParaRPr sz="1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756648" y="2926080"/>
            <a:ext cx="1965960" cy="7498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E6C79"/>
                </a:solidFill>
                <a:latin typeface="Aptos"/>
              </a:rPr>
              <a:t>Check navigation and document limitations</a:t>
            </a:r>
            <a:endParaRPr sz="115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31520" y="4572000"/>
            <a:ext cx="10789920" cy="411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A3643"/>
                </a:solidFill>
                <a:latin typeface="Aptos"/>
              </a:rPr>
              <a:t>Tools: Python • Pandas • Jupyter Notebook • Excel • Tableau Public • Git/GitHub</a:t>
            </a:r>
            <a:endParaRPr sz="1400" b="1">
              <a:solidFill>
                <a:srgbClr val="2A3643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2960" y="5166360"/>
            <a:ext cx="1051560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E6C79"/>
                </a:solidFill>
                <a:latin typeface="Aptos"/>
              </a:rPr>
              <a:t>Prepared outputs include datasets and KPI summaries for four connected dashboard views.</a:t>
            </a:r>
            <a:endParaRPr sz="1200" b="0">
              <a:solidFill>
                <a:srgbClr val="5E6C7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183049"/>
                </a:solidFill>
                <a:latin typeface="Aptos"/>
              </a:rPr>
              <a:t>Milestone 1 — Data Collection &amp; Cleaning</a:t>
            </a:r>
            <a:endParaRPr sz="2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822960" cy="45720"/>
          </a:xfrm>
          <a:prstGeom prst="rect">
            <a:avLst/>
          </a:prstGeom>
          <a:solidFill>
            <a:srgbClr val="3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338328"/>
            <a:ext cx="2286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E6C79"/>
                </a:solidFill>
                <a:latin typeface="Aptos"/>
              </a:rPr>
              <a:t>MILESTONE 1</a:t>
            </a:r>
            <a:endParaRPr sz="900" b="1">
              <a:solidFill>
                <a:srgbClr val="5E6C7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5E6C79"/>
                </a:solidFill>
                <a:latin typeface="Aptos"/>
              </a:rPr>
              <a:t>MEDTRACK_DV  |  HOSPITAL OPERATIONS &amp; PATIENT CARE ANALYTICS</a:t>
            </a:r>
            <a:endParaRPr sz="80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1148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E6C79"/>
                </a:solidFill>
                <a:latin typeface="Aptos"/>
              </a:rPr>
              <a:t>5</a:t>
            </a:r>
            <a:endParaRPr sz="90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261872"/>
            <a:ext cx="525780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261872"/>
            <a:ext cx="64008" cy="4434840"/>
          </a:xfrm>
          <a:prstGeom prst="rect">
            <a:avLst/>
          </a:prstGeom>
          <a:solidFill>
            <a:srgbClr val="3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426463"/>
            <a:ext cx="4873752" cy="32918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83049"/>
                </a:solidFill>
                <a:latin typeface="Aptos"/>
              </a:rPr>
              <a:t>Work completed</a:t>
            </a:r>
            <a:endParaRPr sz="1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6968" y="1865376"/>
            <a:ext cx="4873752" cy="368503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A3643"/>
                </a:solidFill>
                <a:latin typeface="Aptos"/>
              </a:rPr>
              <a:t>• Organized raw hospital datasets
• Created data collection and processing scripts
• Inspected tables, columns, record counts and missing values
• Used notebooks to support data inventory and cleaning
• Prepared data for KPI analysis</a:t>
            </a:r>
            <a:endParaRPr sz="1400" b="0">
              <a:solidFill>
                <a:srgbClr val="2A3643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1261872"/>
            <a:ext cx="525780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61872"/>
            <a:ext cx="64008" cy="4434840"/>
          </a:xfrm>
          <a:prstGeom prst="rect">
            <a:avLst/>
          </a:prstGeom>
          <a:solidFill>
            <a:srgbClr val="346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426463"/>
            <a:ext cx="4873752" cy="32918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83049"/>
                </a:solidFill>
                <a:latin typeface="Aptos"/>
              </a:rPr>
              <a:t>Dataset coverage</a:t>
            </a:r>
            <a:endParaRPr sz="1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1865376"/>
            <a:ext cx="4873752" cy="368503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2A3643"/>
                </a:solidFill>
                <a:latin typeface="Aptos"/>
              </a:rPr>
              <a:t>Patient, admission, bed, ward, department, doctor, billing, diagnostic test, prescription, insurance and staff-assignment records.</a:t>
            </a:r>
            <a:endParaRPr sz="1500" b="0">
              <a:solidFill>
                <a:srgbClr val="2A3643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5870448"/>
            <a:ext cx="105156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E6C79"/>
                </a:solidFill>
                <a:latin typeface="Aptos"/>
              </a:rPr>
              <a:t>Outputs are maintained in the project's data, scripts and notebooks folders.</a:t>
            </a:r>
            <a:endParaRPr sz="1150" b="0">
              <a:solidFill>
                <a:srgbClr val="5E6C7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183049"/>
                </a:solidFill>
                <a:latin typeface="Aptos"/>
              </a:rPr>
              <a:t>Milestone 2 — KPI Generation &amp; Prototyping</a:t>
            </a:r>
            <a:endParaRPr sz="2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822960" cy="45720"/>
          </a:xfrm>
          <a:prstGeom prst="rect">
            <a:avLst/>
          </a:prstGeom>
          <a:solidFill>
            <a:srgbClr val="3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338328"/>
            <a:ext cx="2286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E6C79"/>
                </a:solidFill>
                <a:latin typeface="Aptos"/>
              </a:rPr>
              <a:t>MILESTONE 2</a:t>
            </a:r>
            <a:endParaRPr sz="900" b="1">
              <a:solidFill>
                <a:srgbClr val="5E6C7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5E6C79"/>
                </a:solidFill>
                <a:latin typeface="Aptos"/>
              </a:rPr>
              <a:t>MEDTRACK_DV  |  HOSPITAL OPERATIONS &amp; PATIENT CARE ANALYTICS</a:t>
            </a:r>
            <a:endParaRPr sz="80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1148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E6C79"/>
                </a:solidFill>
                <a:latin typeface="Aptos"/>
              </a:rPr>
              <a:t>6</a:t>
            </a:r>
            <a:endParaRPr sz="90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525780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234440"/>
            <a:ext cx="64008" cy="4434840"/>
          </a:xfrm>
          <a:prstGeom prst="rect">
            <a:avLst/>
          </a:prstGeom>
          <a:solidFill>
            <a:srgbClr val="3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399032"/>
            <a:ext cx="4873752" cy="32918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83049"/>
                </a:solidFill>
                <a:latin typeface="Aptos"/>
              </a:rPr>
              <a:t>Work completed</a:t>
            </a:r>
            <a:endParaRPr sz="1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6968" y="1837944"/>
            <a:ext cx="4873752" cy="368503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A3643"/>
                </a:solidFill>
                <a:latin typeface="Aptos"/>
              </a:rPr>
              <a:t>• Prepared analytical datasets for dashboard views
• Generated KPI summaries using Python
• Created an Excel workbook with multiple analysis sheets
• Prepared storyboard and KPI documentation
• Built an initial Tableau prototype</a:t>
            </a:r>
            <a:endParaRPr sz="1400" b="0">
              <a:solidFill>
                <a:srgbClr val="2A3643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25780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64008" cy="4434840"/>
          </a:xfrm>
          <a:prstGeom prst="rect">
            <a:avLst/>
          </a:prstGeom>
          <a:solidFill>
            <a:srgbClr val="346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399032"/>
            <a:ext cx="4873752" cy="32918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83049"/>
                </a:solidFill>
                <a:latin typeface="Aptos"/>
              </a:rPr>
              <a:t>KPI summary</a:t>
            </a:r>
            <a:endParaRPr sz="1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1837944"/>
            <a:ext cx="4873752" cy="368503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2A3643"/>
                </a:solidFill>
                <a:latin typeface="Aptos"/>
              </a:rPr>
              <a:t>Total admissions: 45,000
Average length of stay: 5.155 days
Bed utilization: 34.94%
Occupancy rate: 25.36%
Department efficiency score: 90.13
Readmission rate: unavailable in current summary</a:t>
            </a:r>
            <a:endParaRPr sz="1300" b="0">
              <a:solidFill>
                <a:srgbClr val="2A3643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5833872"/>
            <a:ext cx="1051560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E6C79"/>
                </a:solidFill>
                <a:latin typeface="Aptos"/>
              </a:rPr>
              <a:t>Validation note: selected KPI values are fixed display values in the current Tableau workbook.</a:t>
            </a:r>
            <a:endParaRPr sz="1050" b="0">
              <a:solidFill>
                <a:srgbClr val="5E6C7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183049"/>
                </a:solidFill>
                <a:latin typeface="Aptos"/>
              </a:rPr>
              <a:t>Milestone 3 — Dashboard Integration</a:t>
            </a:r>
            <a:endParaRPr sz="2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822960" cy="45720"/>
          </a:xfrm>
          <a:prstGeom prst="rect">
            <a:avLst/>
          </a:prstGeom>
          <a:solidFill>
            <a:srgbClr val="3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338328"/>
            <a:ext cx="2286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E6C79"/>
                </a:solidFill>
                <a:latin typeface="Aptos"/>
              </a:rPr>
              <a:t>MILESTONE 3</a:t>
            </a:r>
            <a:endParaRPr sz="900" b="1">
              <a:solidFill>
                <a:srgbClr val="5E6C7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5E6C79"/>
                </a:solidFill>
                <a:latin typeface="Aptos"/>
              </a:rPr>
              <a:t>MEDTRACK_DV  |  HOSPITAL OPERATIONS &amp; PATIENT CARE ANALYTICS</a:t>
            </a:r>
            <a:endParaRPr sz="80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1148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E6C79"/>
                </a:solidFill>
                <a:latin typeface="Aptos"/>
              </a:rPr>
              <a:t>7</a:t>
            </a:r>
            <a:endParaRPr sz="90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83049"/>
                </a:solidFill>
                <a:latin typeface="Aptos"/>
              </a:rPr>
              <a:t>One published workbook • five dashboard pages</a:t>
            </a:r>
            <a:endParaRPr sz="22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516636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74519"/>
            <a:ext cx="64008" cy="3246120"/>
          </a:xfrm>
          <a:prstGeom prst="rect">
            <a:avLst/>
          </a:prstGeom>
          <a:solidFill>
            <a:srgbClr val="3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039112"/>
            <a:ext cx="4782312" cy="32918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83049"/>
                </a:solidFill>
                <a:latin typeface="Aptos"/>
              </a:rPr>
              <a:t>Navigation hub</a:t>
            </a:r>
            <a:endParaRPr sz="1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78408" y="2478024"/>
            <a:ext cx="4782312" cy="249631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2A3643"/>
                </a:solidFill>
                <a:latin typeface="Aptos"/>
              </a:rPr>
              <a:t>The Home page introduces the project and links to the four main dashboards.</a:t>
            </a:r>
            <a:endParaRPr sz="1600" b="0">
              <a:solidFill>
                <a:srgbClr val="2A3643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17920" y="1874519"/>
            <a:ext cx="516636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74519"/>
            <a:ext cx="64008" cy="3246120"/>
          </a:xfrm>
          <a:prstGeom prst="rect">
            <a:avLst/>
          </a:prstGeom>
          <a:solidFill>
            <a:srgbClr val="346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039112"/>
            <a:ext cx="4782312" cy="32918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83049"/>
                </a:solidFill>
                <a:latin typeface="Aptos"/>
              </a:rPr>
              <a:t>Dashboard suite</a:t>
            </a:r>
            <a:endParaRPr sz="1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19088" y="2478024"/>
            <a:ext cx="4782312" cy="249631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2A3643"/>
                </a:solidFill>
                <a:latin typeface="Aptos"/>
              </a:rPr>
              <a:t>Hospital Overview • Patient Flow • Department Analytics • Resource Utilization</a:t>
            </a:r>
            <a:endParaRPr sz="1600" b="0">
              <a:solidFill>
                <a:srgbClr val="2A3643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5577840"/>
            <a:ext cx="105156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E6C79"/>
                </a:solidFill>
                <a:latin typeface="Aptos"/>
              </a:rPr>
              <a:t>Navigation buttons were tested on the published Tableau Public workbook.</a:t>
            </a:r>
            <a:endParaRPr sz="1150" b="0">
              <a:solidFill>
                <a:srgbClr val="5E6C7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183049"/>
                </a:solidFill>
                <a:latin typeface="Aptos"/>
              </a:rPr>
              <a:t>Home Dashboard — Navigation Hub</a:t>
            </a:r>
            <a:endParaRPr sz="2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822960" cy="45720"/>
          </a:xfrm>
          <a:prstGeom prst="rect">
            <a:avLst/>
          </a:prstGeom>
          <a:solidFill>
            <a:srgbClr val="3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338328"/>
            <a:ext cx="2286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E6C79"/>
                </a:solidFill>
                <a:latin typeface="Aptos"/>
              </a:rPr>
              <a:t>MILESTONE 3</a:t>
            </a:r>
            <a:endParaRPr sz="900" b="1">
              <a:solidFill>
                <a:srgbClr val="5E6C7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5E6C79"/>
                </a:solidFill>
                <a:latin typeface="Aptos"/>
              </a:rPr>
              <a:t>MEDTRACK_DV  |  HOSPITAL OPERATIONS &amp; PATIENT CARE ANALYTICS</a:t>
            </a:r>
            <a:endParaRPr sz="80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1148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E6C79"/>
                </a:solidFill>
                <a:latin typeface="Aptos"/>
              </a:rPr>
              <a:t>8</a:t>
            </a:r>
            <a:endParaRPr sz="90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560423" y="1024127"/>
            <a:ext cx="9070848" cy="4590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xed_ho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5287" y="1078992"/>
            <a:ext cx="8961120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806440"/>
            <a:ext cx="10698480" cy="38404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E6C79"/>
                </a:solidFill>
                <a:latin typeface="Aptos"/>
              </a:rPr>
              <a:t>The Home page links to Hospital Overview, Patient Flow, Department Analytics and Resource Utilization.</a:t>
            </a:r>
            <a:endParaRPr sz="1150" b="0">
              <a:solidFill>
                <a:srgbClr val="5E6C7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183049"/>
                </a:solidFill>
                <a:latin typeface="Aptos"/>
              </a:rPr>
              <a:t>Hospital Overview Dashboard</a:t>
            </a:r>
            <a:endParaRPr sz="2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822960" cy="45720"/>
          </a:xfrm>
          <a:prstGeom prst="rect">
            <a:avLst/>
          </a:prstGeom>
          <a:solidFill>
            <a:srgbClr val="3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338328"/>
            <a:ext cx="2286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E6C79"/>
                </a:solidFill>
                <a:latin typeface="Aptos"/>
              </a:rPr>
              <a:t>MILESTONE 3</a:t>
            </a:r>
            <a:endParaRPr sz="900" b="1">
              <a:solidFill>
                <a:srgbClr val="5E6C7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5E6C79"/>
                </a:solidFill>
                <a:latin typeface="Aptos"/>
              </a:rPr>
              <a:t>MEDTRACK_DV  |  HOSPITAL OPERATIONS &amp; PATIENT CARE ANALYTICS</a:t>
            </a:r>
            <a:endParaRPr sz="80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1148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E6C79"/>
                </a:solidFill>
                <a:latin typeface="Aptos"/>
              </a:rPr>
              <a:t>9</a:t>
            </a:r>
            <a:endParaRPr sz="90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737366" y="1024127"/>
            <a:ext cx="8716961" cy="4590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xed_overvie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2230" y="1078992"/>
            <a:ext cx="8607233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806440"/>
            <a:ext cx="10698480" cy="38404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E6C79"/>
                </a:solidFill>
                <a:latin typeface="Aptos"/>
              </a:rPr>
              <a:t>KPI cards summarize hospital performance; line charts show monthly admissions and discharges.</a:t>
            </a:r>
            <a:endParaRPr sz="1150" b="0">
              <a:solidFill>
                <a:srgbClr val="5E6C7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183049"/>
                </a:solidFill>
                <a:latin typeface="Aptos"/>
              </a:rPr>
              <a:t>Patient Flow Dashboard</a:t>
            </a:r>
            <a:endParaRPr sz="2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822960" cy="45720"/>
          </a:xfrm>
          <a:prstGeom prst="rect">
            <a:avLst/>
          </a:prstGeom>
          <a:solidFill>
            <a:srgbClr val="3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338328"/>
            <a:ext cx="2286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E6C79"/>
                </a:solidFill>
                <a:latin typeface="Aptos"/>
              </a:rPr>
              <a:t>MILESTONE 3</a:t>
            </a:r>
            <a:endParaRPr sz="900" b="1">
              <a:solidFill>
                <a:srgbClr val="5E6C7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5E6C79"/>
                </a:solidFill>
                <a:latin typeface="Aptos"/>
              </a:rPr>
              <a:t>MEDTRACK_DV  |  HOSPITAL OPERATIONS &amp; PATIENT CARE ANALYTICS</a:t>
            </a:r>
            <a:endParaRPr sz="80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1148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E6C79"/>
                </a:solidFill>
                <a:latin typeface="Aptos"/>
              </a:rPr>
              <a:t>10</a:t>
            </a:r>
            <a:endParaRPr sz="90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737366" y="1024127"/>
            <a:ext cx="8716961" cy="4590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xed_pati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2230" y="1078992"/>
            <a:ext cx="8607233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806440"/>
            <a:ext cx="10698480" cy="38404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E6C79"/>
                </a:solidFill>
                <a:latin typeface="Aptos"/>
              </a:rPr>
              <a:t>Shows patient movement, monthly discharges and elective versus emergency admissions.</a:t>
            </a:r>
            <a:endParaRPr sz="1150" b="0">
              <a:solidFill>
                <a:srgbClr val="5E6C7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183049"/>
                </a:solidFill>
                <a:latin typeface="Aptos"/>
              </a:rPr>
              <a:t>Department Analytics Dashboard</a:t>
            </a:r>
            <a:endParaRPr sz="2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822960" cy="45720"/>
          </a:xfrm>
          <a:prstGeom prst="rect">
            <a:avLst/>
          </a:prstGeom>
          <a:solidFill>
            <a:srgbClr val="3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338328"/>
            <a:ext cx="2286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E6C79"/>
                </a:solidFill>
                <a:latin typeface="Aptos"/>
              </a:rPr>
              <a:t>MILESTONE 3</a:t>
            </a:r>
            <a:endParaRPr sz="900" b="1">
              <a:solidFill>
                <a:srgbClr val="5E6C7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5E6C79"/>
                </a:solidFill>
                <a:latin typeface="Aptos"/>
              </a:rPr>
              <a:t>MEDTRACK_DV  |  HOSPITAL OPERATIONS &amp; PATIENT CARE ANALYTICS</a:t>
            </a:r>
            <a:endParaRPr sz="80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1148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E6C79"/>
                </a:solidFill>
                <a:latin typeface="Aptos"/>
              </a:rPr>
              <a:t>11</a:t>
            </a:r>
            <a:endParaRPr sz="90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737366" y="1024127"/>
            <a:ext cx="8716961" cy="4590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xed_departm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2230" y="1078992"/>
            <a:ext cx="8607233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806440"/>
            <a:ext cx="10698480" cy="38404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E6C79"/>
                </a:solidFill>
                <a:latin typeface="Aptos"/>
              </a:rPr>
              <a:t>Compares admission counts and billing totals across six departments.</a:t>
            </a:r>
            <a:endParaRPr sz="1150" b="0">
              <a:solidFill>
                <a:srgbClr val="5E6C7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183049"/>
                </a:solidFill>
                <a:latin typeface="Aptos"/>
              </a:rPr>
              <a:t>Resource Utilization Dashboard</a:t>
            </a:r>
            <a:endParaRPr sz="2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822960" cy="45720"/>
          </a:xfrm>
          <a:prstGeom prst="rect">
            <a:avLst/>
          </a:prstGeom>
          <a:solidFill>
            <a:srgbClr val="3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338328"/>
            <a:ext cx="2286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E6C79"/>
                </a:solidFill>
                <a:latin typeface="Aptos"/>
              </a:rPr>
              <a:t>MILESTONE 3</a:t>
            </a:r>
            <a:endParaRPr sz="900" b="1">
              <a:solidFill>
                <a:srgbClr val="5E6C7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5E6C79"/>
                </a:solidFill>
                <a:latin typeface="Aptos"/>
              </a:rPr>
              <a:t>MEDTRACK_DV  |  HOSPITAL OPERATIONS &amp; PATIENT CARE ANALYTICS</a:t>
            </a:r>
            <a:endParaRPr sz="80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1148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E6C79"/>
                </a:solidFill>
                <a:latin typeface="Aptos"/>
              </a:rPr>
              <a:t>12</a:t>
            </a:r>
            <a:endParaRPr sz="90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737366" y="1024127"/>
            <a:ext cx="8716961" cy="4590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xed_resour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2230" y="1078992"/>
            <a:ext cx="8607233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806440"/>
            <a:ext cx="10698480" cy="38404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E6C79"/>
                </a:solidFill>
                <a:latin typeface="Aptos"/>
              </a:rPr>
              <a:t>Shows resource use and department-wise availability; the displayed availability total needs source validation.</a:t>
            </a:r>
            <a:endParaRPr sz="1150" b="0">
              <a:solidFill>
                <a:srgbClr val="5E6C7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183049"/>
                </a:solidFill>
                <a:latin typeface="Aptos"/>
              </a:rPr>
              <a:t>Milestone 4 — QA &amp; Documentation</a:t>
            </a:r>
            <a:endParaRPr sz="2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822960" cy="45720"/>
          </a:xfrm>
          <a:prstGeom prst="rect">
            <a:avLst/>
          </a:prstGeom>
          <a:solidFill>
            <a:srgbClr val="3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338328"/>
            <a:ext cx="2286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E6C79"/>
                </a:solidFill>
                <a:latin typeface="Aptos"/>
              </a:rPr>
              <a:t>MILESTONE 4</a:t>
            </a:r>
            <a:endParaRPr sz="900" b="1">
              <a:solidFill>
                <a:srgbClr val="5E6C7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5E6C79"/>
                </a:solidFill>
                <a:latin typeface="Aptos"/>
              </a:rPr>
              <a:t>MEDTRACK_DV  |  HOSPITAL OPERATIONS &amp; PATIENT CARE ANALYTICS</a:t>
            </a:r>
            <a:endParaRPr sz="80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1148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E6C79"/>
                </a:solidFill>
                <a:latin typeface="Aptos"/>
              </a:rPr>
              <a:t>13</a:t>
            </a:r>
            <a:endParaRPr sz="90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525780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234440"/>
            <a:ext cx="64008" cy="4434840"/>
          </a:xfrm>
          <a:prstGeom prst="rect">
            <a:avLst/>
          </a:prstGeom>
          <a:solidFill>
            <a:srgbClr val="3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399032"/>
            <a:ext cx="4873752" cy="32918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83049"/>
                </a:solidFill>
                <a:latin typeface="Aptos"/>
              </a:rPr>
              <a:t>Documentation prepared</a:t>
            </a:r>
            <a:endParaRPr sz="1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6968" y="1837944"/>
            <a:ext cx="4873752" cy="368503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2A3643"/>
                </a:solidFill>
                <a:latin typeface="Aptos"/>
              </a:rPr>
              <a:t>• QA_Checklist.md
• Dashboard_Testing_Report.md
• Project_Documentation.md
• Main project README.md</a:t>
            </a:r>
            <a:endParaRPr sz="1500" b="0">
              <a:solidFill>
                <a:srgbClr val="2A3643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25780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64008" cy="4434840"/>
          </a:xfrm>
          <a:prstGeom prst="rect">
            <a:avLst/>
          </a:prstGeom>
          <a:solidFill>
            <a:srgbClr val="6D5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399032"/>
            <a:ext cx="4873752" cy="32918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83049"/>
                </a:solidFill>
                <a:latin typeface="Aptos"/>
              </a:rPr>
              <a:t>Quality review</a:t>
            </a:r>
            <a:endParaRPr sz="1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1837944"/>
            <a:ext cx="4873752" cy="368503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2A3643"/>
                </a:solidFill>
                <a:latin typeface="Aptos"/>
              </a:rPr>
              <a:t>• Published workbook opens online
• Home page and navigation buttons tested
• Selected chart titles, labels and tooltips reviewed
• KPI formulas and resource availability need validation
• Readmission rate is unavailable in the current KPI summary</a:t>
            </a:r>
            <a:endParaRPr sz="1300" b="0">
              <a:solidFill>
                <a:srgbClr val="2A364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183049"/>
                </a:solidFill>
                <a:latin typeface="Aptos"/>
              </a:rPr>
              <a:t>Key Insights, Limitations &amp; Future Work</a:t>
            </a:r>
            <a:endParaRPr sz="2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822960" cy="45720"/>
          </a:xfrm>
          <a:prstGeom prst="rect">
            <a:avLst/>
          </a:prstGeom>
          <a:solidFill>
            <a:srgbClr val="3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338328"/>
            <a:ext cx="2286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E6C79"/>
                </a:solidFill>
                <a:latin typeface="Aptos"/>
              </a:rPr>
              <a:t>CONCLUSION</a:t>
            </a:r>
            <a:endParaRPr sz="900" b="1">
              <a:solidFill>
                <a:srgbClr val="5E6C7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5E6C79"/>
                </a:solidFill>
                <a:latin typeface="Aptos"/>
              </a:rPr>
              <a:t>MEDTRACK_DV  |  HOSPITAL OPERATIONS &amp; PATIENT CARE ANALYTICS</a:t>
            </a:r>
            <a:endParaRPr sz="80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1148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E6C79"/>
                </a:solidFill>
                <a:latin typeface="Aptos"/>
              </a:rPr>
              <a:t>14</a:t>
            </a:r>
            <a:endParaRPr sz="900" b="0">
              <a:solidFill>
                <a:srgbClr val="5E6C79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525780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234440"/>
            <a:ext cx="64008" cy="4434840"/>
          </a:xfrm>
          <a:prstGeom prst="rect">
            <a:avLst/>
          </a:prstGeom>
          <a:solidFill>
            <a:srgbClr val="3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399032"/>
            <a:ext cx="4873752" cy="32918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83049"/>
                </a:solidFill>
                <a:latin typeface="Aptos"/>
              </a:rPr>
              <a:t>Key observations</a:t>
            </a:r>
            <a:endParaRPr sz="1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6968" y="1837944"/>
            <a:ext cx="4873752" cy="368503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A3643"/>
                </a:solidFill>
                <a:latin typeface="Aptos"/>
              </a:rPr>
              <a:t>• 45,000 admission records
• Elective admissions: 26,923
• Emergency admissions: 18,077
• Monthly admission and discharge trends
• Department admissions and billing comparison</a:t>
            </a:r>
            <a:endParaRPr sz="1400" b="0">
              <a:solidFill>
                <a:srgbClr val="2A3643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25780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64008" cy="4434840"/>
          </a:xfrm>
          <a:prstGeom prst="rect">
            <a:avLst/>
          </a:prstGeom>
          <a:solidFill>
            <a:srgbClr val="346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399032"/>
            <a:ext cx="4873752" cy="32918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83049"/>
                </a:solidFill>
                <a:latin typeface="Aptos"/>
              </a:rPr>
              <a:t>Limitations &amp; next steps</a:t>
            </a:r>
            <a:endParaRPr sz="1500" b="1">
              <a:solidFill>
                <a:srgbClr val="183049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1837944"/>
            <a:ext cx="4873752" cy="368503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2A3643"/>
                </a:solidFill>
                <a:latin typeface="Aptos"/>
              </a:rPr>
              <a:t>• Validate KPI formulas
• Investigate resource availability aggregation
• Define readmission rate if data supports it
• Complete final filter testing
• Keep milestone files and PPT organized in GitHub</a:t>
            </a:r>
            <a:endParaRPr sz="1300" b="0">
              <a:solidFill>
                <a:srgbClr val="2A3643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5897880"/>
            <a:ext cx="10789920" cy="21945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E6C79"/>
                </a:solidFill>
                <a:latin typeface="Aptos"/>
              </a:rPr>
              <a:t>Tableau Public: public.tableau.com/app/profile/smitha.s1071/viz/Hospital_Performance_Intelligence_System/Home</a:t>
            </a:r>
            <a:endParaRPr sz="850" b="0">
              <a:solidFill>
                <a:srgbClr val="5E6C7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11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E7EEF4"/>
                </a:solidFill>
                <a:latin typeface="Aptos"/>
              </a:rPr>
              <a:t>MEDTRACK_DV</a:t>
            </a:r>
            <a:endParaRPr sz="1200" b="1">
              <a:solidFill>
                <a:srgbClr val="E7EEF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Thank You</a:t>
            </a:r>
            <a:endParaRPr sz="3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9966960" cy="6858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100" b="0">
                <a:solidFill>
                  <a:srgbClr val="E7EEF4"/>
                </a:solidFill>
                <a:latin typeface="Aptos"/>
              </a:rPr>
              <a:t>Hospital Performance Intelligence System</a:t>
            </a:r>
            <a:endParaRPr sz="2100" b="0">
              <a:solidFill>
                <a:srgbClr val="E7EEF4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3886200"/>
            <a:ext cx="996696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E7EEF4"/>
                </a:solidFill>
                <a:latin typeface="Aptos"/>
              </a:rPr>
              <a:t>Hospital Operations &amp; Patient Care Analytics</a:t>
            </a:r>
            <a:endParaRPr sz="1500" b="0">
              <a:solidFill>
                <a:srgbClr val="E7EEF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1060704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E7EEF4"/>
                </a:solidFill>
                <a:latin typeface="Aptos"/>
              </a:rPr>
              <a:t>Tableau Public dashboard link is included in the project documentation.</a:t>
            </a:r>
            <a:endParaRPr sz="1000" b="0">
              <a:solidFill>
                <a:srgbClr val="E7EEF4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5696</Words>
  <Application>WPS Presentation</Application>
  <PresentationFormat>On-screen Show (4:3)</PresentationFormat>
  <Paragraphs>244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Smitha Smitha</cp:lastModifiedBy>
  <cp:revision>2</cp:revision>
  <dcterms:created xsi:type="dcterms:W3CDTF">2013-01-27T09:14:00Z</dcterms:created>
  <dcterms:modified xsi:type="dcterms:W3CDTF">2026-10-13T05:27:55Z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3ACCF75F3D404879BD014B7B5D5E7B72_13</vt:lpwstr>
  </property>
  <property fmtid="{D5CDD505-2E9C-101B-9397-08002B2CF9AE}" pid="3" name="KSOProductBuildVer">
    <vt:lpwstr>1033-12.1.0.28485</vt:lpwstr>
  </property>
</Properties>
</file>